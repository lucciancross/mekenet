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Horizon" charset="1" panose="02000500000000000000"/>
      <p:regular r:id="rId21"/>
    </p:embeddedFont>
    <p:embeddedFont>
      <p:font typeface="Garet" charset="1" panose="00000000000000000000"/>
      <p:regular r:id="rId22"/>
    </p:embeddedFont>
    <p:embeddedFont>
      <p:font typeface="Cy Grotesk V3 Grand Bold" charset="1" panose="00000807000000000000"/>
      <p:regular r:id="rId23"/>
    </p:embeddedFont>
    <p:embeddedFont>
      <p:font typeface="Garet Bold" charset="1" panose="00000000000000000000"/>
      <p:regular r:id="rId24"/>
    </p:embeddedFont>
    <p:embeddedFont>
      <p:font typeface="Cy Grotesk V3 Grand" charset="1" panose="00000507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15" r="0" b="-127851"/>
            </a:stretch>
          </a:blipFill>
        </p:spPr>
      </p:sp>
      <p:sp>
        <p:nvSpPr>
          <p:cNvPr name="TextBox 3" id="3"/>
          <p:cNvSpPr txBox="true"/>
          <p:nvPr/>
        </p:nvSpPr>
        <p:spPr>
          <a:xfrm rot="0">
            <a:off x="1763555" y="3091584"/>
            <a:ext cx="14760891" cy="6166716"/>
          </a:xfrm>
          <a:prstGeom prst="rect">
            <a:avLst/>
          </a:prstGeom>
        </p:spPr>
        <p:txBody>
          <a:bodyPr anchor="t" rtlCol="false" tIns="0" lIns="0" bIns="0" rIns="0">
            <a:spAutoFit/>
          </a:bodyPr>
          <a:lstStyle/>
          <a:p>
            <a:pPr algn="ctr">
              <a:lnSpc>
                <a:spcPts val="16052"/>
              </a:lnSpc>
            </a:pPr>
            <a:r>
              <a:rPr lang="en-US" sz="11465">
                <a:solidFill>
                  <a:srgbClr val="FFFFFF"/>
                </a:solidFill>
                <a:latin typeface="Horizon"/>
                <a:ea typeface="Horizon"/>
                <a:cs typeface="Horizon"/>
                <a:sym typeface="Horizon"/>
              </a:rPr>
              <a:t>መቀነት (Mekenet)</a:t>
            </a:r>
          </a:p>
          <a:p>
            <a:pPr algn="ctr">
              <a:lnSpc>
                <a:spcPts val="16052"/>
              </a:lnSpc>
            </a:pPr>
          </a:p>
        </p:txBody>
      </p:sp>
      <p:grpSp>
        <p:nvGrpSpPr>
          <p:cNvPr name="Group 4" id="4"/>
          <p:cNvGrpSpPr/>
          <p:nvPr/>
        </p:nvGrpSpPr>
        <p:grpSpPr>
          <a:xfrm rot="0">
            <a:off x="1028700" y="833055"/>
            <a:ext cx="3626388" cy="362638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1684" t="-17145" r="-19652" b="-24192"/>
              </a:stretch>
            </a:blipFill>
          </p:spPr>
        </p:sp>
      </p:grpSp>
      <p:sp>
        <p:nvSpPr>
          <p:cNvPr name="TextBox 6" id="6"/>
          <p:cNvSpPr txBox="true"/>
          <p:nvPr/>
        </p:nvSpPr>
        <p:spPr>
          <a:xfrm rot="0">
            <a:off x="13438345" y="9023350"/>
            <a:ext cx="3086100" cy="422275"/>
          </a:xfrm>
          <a:prstGeom prst="rect">
            <a:avLst/>
          </a:prstGeom>
        </p:spPr>
        <p:txBody>
          <a:bodyPr anchor="t" rtlCol="false" tIns="0" lIns="0" bIns="0" rIns="0">
            <a:spAutoFit/>
          </a:bodyPr>
          <a:lstStyle/>
          <a:p>
            <a:pPr algn="ctr">
              <a:lnSpc>
                <a:spcPts val="3499"/>
              </a:lnSpc>
            </a:pPr>
            <a:r>
              <a:rPr lang="en-US" sz="2499" spc="67">
                <a:solidFill>
                  <a:srgbClr val="FFFFFF"/>
                </a:solidFill>
                <a:latin typeface="Garet"/>
                <a:ea typeface="Garet"/>
                <a:cs typeface="Garet"/>
                <a:sym typeface="Garet"/>
              </a:rPr>
              <a:t>GROUP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AutoShape 3" id="3"/>
          <p:cNvSpPr/>
          <p:nvPr/>
        </p:nvSpPr>
        <p:spPr>
          <a:xfrm>
            <a:off x="8695375" y="9219406"/>
            <a:ext cx="7596266"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8430249" y="1158818"/>
            <a:ext cx="8195112" cy="1029334"/>
          </a:xfrm>
          <a:prstGeom prst="rect">
            <a:avLst/>
          </a:prstGeom>
        </p:spPr>
        <p:txBody>
          <a:bodyPr anchor="t" rtlCol="false" tIns="0" lIns="0" bIns="0" rIns="0">
            <a:spAutoFit/>
          </a:bodyPr>
          <a:lstStyle/>
          <a:p>
            <a:pPr algn="l">
              <a:lnSpc>
                <a:spcPts val="7840"/>
              </a:lnSpc>
            </a:pPr>
            <a:r>
              <a:rPr lang="en-US" sz="5600">
                <a:solidFill>
                  <a:srgbClr val="444E55"/>
                </a:solidFill>
                <a:latin typeface="Horizon"/>
                <a:ea typeface="Horizon"/>
                <a:cs typeface="Horizon"/>
                <a:sym typeface="Horizon"/>
              </a:rPr>
              <a:t>INTRODUCTION</a:t>
            </a:r>
          </a:p>
        </p:txBody>
      </p:sp>
      <p:sp>
        <p:nvSpPr>
          <p:cNvPr name="TextBox 5" id="5"/>
          <p:cNvSpPr txBox="true"/>
          <p:nvPr/>
        </p:nvSpPr>
        <p:spPr>
          <a:xfrm rot="0">
            <a:off x="16774491" y="8839994"/>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01</a:t>
            </a:r>
          </a:p>
        </p:txBody>
      </p:sp>
      <p:sp>
        <p:nvSpPr>
          <p:cNvPr name="TextBox 6" id="6"/>
          <p:cNvSpPr txBox="true"/>
          <p:nvPr/>
        </p:nvSpPr>
        <p:spPr>
          <a:xfrm rot="0">
            <a:off x="8430249" y="3893446"/>
            <a:ext cx="9313860" cy="3327784"/>
          </a:xfrm>
          <a:prstGeom prst="rect">
            <a:avLst/>
          </a:prstGeom>
        </p:spPr>
        <p:txBody>
          <a:bodyPr anchor="t" rtlCol="false" tIns="0" lIns="0" bIns="0" rIns="0">
            <a:spAutoFit/>
          </a:bodyPr>
          <a:lstStyle/>
          <a:p>
            <a:pPr algn="l">
              <a:lnSpc>
                <a:spcPts val="3363"/>
              </a:lnSpc>
            </a:pPr>
            <a:r>
              <a:rPr lang="en-US" sz="2076">
                <a:solidFill>
                  <a:srgbClr val="545454"/>
                </a:solidFill>
                <a:latin typeface="Garet"/>
                <a:ea typeface="Garet"/>
                <a:cs typeface="Garet"/>
                <a:sym typeface="Garet"/>
              </a:rPr>
              <a:t>መቀነት (Mekenet)</a:t>
            </a:r>
          </a:p>
          <a:p>
            <a:pPr algn="l">
              <a:lnSpc>
                <a:spcPts val="3363"/>
              </a:lnSpc>
            </a:pPr>
            <a:r>
              <a:rPr lang="en-US" sz="2076">
                <a:solidFill>
                  <a:srgbClr val="545454"/>
                </a:solidFill>
                <a:latin typeface="Garet"/>
                <a:ea typeface="Garet"/>
                <a:cs typeface="Garet"/>
                <a:sym typeface="Garet"/>
              </a:rPr>
              <a:t> is an offline-first financial record application designed for small businesses in Addis Ababa. It automatically converts Telebirr payment SMS messages into organized transaction records, helping business owners easily track their income, expenses, profit, and customer debts. The application is designed to work primarily on the device, keeping financial information private and secure while allowing users to export their records when they choose.</a:t>
            </a:r>
          </a:p>
        </p:txBody>
      </p:sp>
      <p:grpSp>
        <p:nvGrpSpPr>
          <p:cNvPr name="Group 7" id="7"/>
          <p:cNvGrpSpPr/>
          <p:nvPr/>
        </p:nvGrpSpPr>
        <p:grpSpPr>
          <a:xfrm rot="0">
            <a:off x="-823290" y="0"/>
            <a:ext cx="7579070" cy="10287000"/>
            <a:chOff x="0" y="0"/>
            <a:chExt cx="1174196" cy="1593725"/>
          </a:xfrm>
        </p:grpSpPr>
        <p:sp>
          <p:nvSpPr>
            <p:cNvPr name="Freeform 8" id="8"/>
            <p:cNvSpPr/>
            <p:nvPr/>
          </p:nvSpPr>
          <p:spPr>
            <a:xfrm flipH="false" flipV="false" rot="0">
              <a:off x="0" y="0"/>
              <a:ext cx="1174196" cy="1593725"/>
            </a:xfrm>
            <a:custGeom>
              <a:avLst/>
              <a:gdLst/>
              <a:ahLst/>
              <a:cxnLst/>
              <a:rect r="r" b="b" t="t" l="l"/>
              <a:pathLst>
                <a:path h="1593725" w="1174196">
                  <a:moveTo>
                    <a:pt x="0" y="0"/>
                  </a:moveTo>
                  <a:lnTo>
                    <a:pt x="1174196" y="0"/>
                  </a:lnTo>
                  <a:lnTo>
                    <a:pt x="1174196" y="1593725"/>
                  </a:lnTo>
                  <a:lnTo>
                    <a:pt x="0" y="1593725"/>
                  </a:lnTo>
                  <a:close/>
                </a:path>
              </a:pathLst>
            </a:custGeom>
            <a:blipFill>
              <a:blip r:embed="rId3"/>
              <a:stretch>
                <a:fillRect l="0" t="-6027" r="0" b="-6027"/>
              </a:stretch>
            </a:blipFill>
          </p:spPr>
        </p:sp>
      </p:grpSp>
      <p:grpSp>
        <p:nvGrpSpPr>
          <p:cNvPr name="Group 9" id="9"/>
          <p:cNvGrpSpPr/>
          <p:nvPr/>
        </p:nvGrpSpPr>
        <p:grpSpPr>
          <a:xfrm rot="0">
            <a:off x="5090560" y="-3298681"/>
            <a:ext cx="15247719" cy="16783541"/>
            <a:chOff x="0" y="0"/>
            <a:chExt cx="812800" cy="894669"/>
          </a:xfrm>
        </p:grpSpPr>
        <p:sp>
          <p:nvSpPr>
            <p:cNvPr name="Freeform 10" id="10"/>
            <p:cNvSpPr/>
            <p:nvPr/>
          </p:nvSpPr>
          <p:spPr>
            <a:xfrm flipH="false" flipV="false" rot="0">
              <a:off x="0" y="0"/>
              <a:ext cx="812800" cy="894669"/>
            </a:xfrm>
            <a:custGeom>
              <a:avLst/>
              <a:gdLst/>
              <a:ahLst/>
              <a:cxnLst/>
              <a:rect r="r" b="b" t="t" l="l"/>
              <a:pathLst>
                <a:path h="894669" w="812800">
                  <a:moveTo>
                    <a:pt x="406400" y="0"/>
                  </a:moveTo>
                  <a:cubicBezTo>
                    <a:pt x="181951" y="0"/>
                    <a:pt x="0" y="200278"/>
                    <a:pt x="0" y="447335"/>
                  </a:cubicBezTo>
                  <a:cubicBezTo>
                    <a:pt x="0" y="694391"/>
                    <a:pt x="181951" y="894669"/>
                    <a:pt x="406400" y="894669"/>
                  </a:cubicBezTo>
                  <a:cubicBezTo>
                    <a:pt x="630849" y="894669"/>
                    <a:pt x="812800" y="694391"/>
                    <a:pt x="812800" y="447335"/>
                  </a:cubicBezTo>
                  <a:cubicBezTo>
                    <a:pt x="812800" y="200278"/>
                    <a:pt x="630849" y="0"/>
                    <a:pt x="406400" y="0"/>
                  </a:cubicBezTo>
                  <a:close/>
                </a:path>
              </a:pathLst>
            </a:custGeom>
            <a:solidFill>
              <a:srgbClr val="FFFFFF"/>
            </a:solidFill>
          </p:spPr>
        </p:sp>
        <p:sp>
          <p:nvSpPr>
            <p:cNvPr name="TextBox 11" id="11"/>
            <p:cNvSpPr txBox="true"/>
            <p:nvPr/>
          </p:nvSpPr>
          <p:spPr>
            <a:xfrm>
              <a:off x="76200" y="45775"/>
              <a:ext cx="660400" cy="765019"/>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877620" y="1216774"/>
            <a:ext cx="8195112" cy="1029334"/>
          </a:xfrm>
          <a:prstGeom prst="rect">
            <a:avLst/>
          </a:prstGeom>
        </p:spPr>
        <p:txBody>
          <a:bodyPr anchor="t" rtlCol="false" tIns="0" lIns="0" bIns="0" rIns="0">
            <a:spAutoFit/>
          </a:bodyPr>
          <a:lstStyle/>
          <a:p>
            <a:pPr algn="l">
              <a:lnSpc>
                <a:spcPts val="7840"/>
              </a:lnSpc>
            </a:pPr>
            <a:r>
              <a:rPr lang="en-US" sz="5600">
                <a:solidFill>
                  <a:srgbClr val="444E55"/>
                </a:solidFill>
                <a:latin typeface="Horizon"/>
                <a:ea typeface="Horizon"/>
                <a:cs typeface="Horizon"/>
                <a:sym typeface="Horizon"/>
              </a:rPr>
              <a:t>INTRODUCTION</a:t>
            </a:r>
          </a:p>
        </p:txBody>
      </p:sp>
      <p:sp>
        <p:nvSpPr>
          <p:cNvPr name="TextBox 13" id="13"/>
          <p:cNvSpPr txBox="true"/>
          <p:nvPr/>
        </p:nvSpPr>
        <p:spPr>
          <a:xfrm rot="0">
            <a:off x="6977780" y="2928884"/>
            <a:ext cx="9313860" cy="4292346"/>
          </a:xfrm>
          <a:prstGeom prst="rect">
            <a:avLst/>
          </a:prstGeom>
        </p:spPr>
        <p:txBody>
          <a:bodyPr anchor="t" rtlCol="false" tIns="0" lIns="0" bIns="0" rIns="0">
            <a:spAutoFit/>
          </a:bodyPr>
          <a:lstStyle/>
          <a:p>
            <a:pPr algn="l">
              <a:lnSpc>
                <a:spcPts val="4318"/>
              </a:lnSpc>
            </a:pPr>
            <a:r>
              <a:rPr lang="en-US" sz="2076">
                <a:solidFill>
                  <a:srgbClr val="545454"/>
                </a:solidFill>
                <a:latin typeface="Garet"/>
                <a:ea typeface="Garet"/>
                <a:cs typeface="Garet"/>
                <a:sym typeface="Garet"/>
              </a:rPr>
              <a:t>መቀነት (Mekenet)</a:t>
            </a:r>
          </a:p>
          <a:p>
            <a:pPr algn="l">
              <a:lnSpc>
                <a:spcPts val="4318"/>
              </a:lnSpc>
            </a:pPr>
            <a:r>
              <a:rPr lang="en-US" sz="2076">
                <a:solidFill>
                  <a:srgbClr val="545454"/>
                </a:solidFill>
                <a:latin typeface="Garet"/>
                <a:ea typeface="Garet"/>
                <a:cs typeface="Garet"/>
                <a:sym typeface="Garet"/>
              </a:rPr>
              <a:t> is an offline-first financial record application designed for small businesses in Addis Ababa. It automatically converts Telebirr payment SMS messages into organized transaction records, helping business owners easily track their income, expenses, profit, and customer debts. The application is designed to work primarily on the device, keeping financial information private and secure while allowing users to export their records when they choose.</a:t>
            </a:r>
          </a:p>
        </p:txBody>
      </p:sp>
      <p:sp>
        <p:nvSpPr>
          <p:cNvPr name="AutoShape 14" id="14"/>
          <p:cNvSpPr/>
          <p:nvPr/>
        </p:nvSpPr>
        <p:spPr>
          <a:xfrm>
            <a:off x="6331269" y="9272588"/>
            <a:ext cx="7596266" cy="0"/>
          </a:xfrm>
          <a:prstGeom prst="line">
            <a:avLst/>
          </a:prstGeom>
          <a:ln cap="flat" w="28575">
            <a:solidFill>
              <a:srgbClr val="000000"/>
            </a:solidFill>
            <a:prstDash val="solid"/>
            <a:headEnd type="none" len="sm" w="sm"/>
            <a:tailEnd type="none" len="sm" w="sm"/>
          </a:ln>
        </p:spPr>
      </p:sp>
      <p:sp>
        <p:nvSpPr>
          <p:cNvPr name="TextBox 15" id="15"/>
          <p:cNvSpPr txBox="true"/>
          <p:nvPr/>
        </p:nvSpPr>
        <p:spPr>
          <a:xfrm rot="0">
            <a:off x="15127348" y="8848706"/>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474439" y="9248775"/>
            <a:ext cx="7596266" cy="0"/>
          </a:xfrm>
          <a:prstGeom prst="line">
            <a:avLst/>
          </a:prstGeom>
          <a:ln cap="flat" w="19050">
            <a:solidFill>
              <a:srgbClr val="000000"/>
            </a:solidFill>
            <a:prstDash val="solid"/>
            <a:headEnd type="none" len="sm" w="sm"/>
            <a:tailEnd type="none" len="sm" w="sm"/>
          </a:ln>
        </p:spPr>
      </p:sp>
      <p:sp>
        <p:nvSpPr>
          <p:cNvPr name="TextBox 3" id="3"/>
          <p:cNvSpPr txBox="true"/>
          <p:nvPr/>
        </p:nvSpPr>
        <p:spPr>
          <a:xfrm rot="0">
            <a:off x="823656" y="1505746"/>
            <a:ext cx="8195112" cy="1467483"/>
          </a:xfrm>
          <a:prstGeom prst="rect">
            <a:avLst/>
          </a:prstGeom>
        </p:spPr>
        <p:txBody>
          <a:bodyPr anchor="t" rtlCol="false" tIns="0" lIns="0" bIns="0" rIns="0">
            <a:spAutoFit/>
          </a:bodyPr>
          <a:lstStyle/>
          <a:p>
            <a:pPr algn="l">
              <a:lnSpc>
                <a:spcPts val="5740"/>
              </a:lnSpc>
            </a:pPr>
            <a:r>
              <a:rPr lang="en-US" sz="4100">
                <a:solidFill>
                  <a:srgbClr val="444E55"/>
                </a:solidFill>
                <a:latin typeface="Horizon"/>
                <a:ea typeface="Horizon"/>
                <a:cs typeface="Horizon"/>
                <a:sym typeface="Horizon"/>
              </a:rPr>
              <a:t>Statement of the Problem</a:t>
            </a:r>
          </a:p>
        </p:txBody>
      </p:sp>
      <p:sp>
        <p:nvSpPr>
          <p:cNvPr name="TextBox 4" id="4"/>
          <p:cNvSpPr txBox="true"/>
          <p:nvPr/>
        </p:nvSpPr>
        <p:spPr>
          <a:xfrm rot="0">
            <a:off x="1598696" y="8878888"/>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02</a:t>
            </a:r>
          </a:p>
        </p:txBody>
      </p:sp>
      <p:sp>
        <p:nvSpPr>
          <p:cNvPr name="TextBox 5" id="5"/>
          <p:cNvSpPr txBox="true"/>
          <p:nvPr/>
        </p:nvSpPr>
        <p:spPr>
          <a:xfrm rot="0">
            <a:off x="536078" y="3515987"/>
            <a:ext cx="9971025" cy="4481934"/>
          </a:xfrm>
          <a:prstGeom prst="rect">
            <a:avLst/>
          </a:prstGeom>
        </p:spPr>
        <p:txBody>
          <a:bodyPr anchor="t" rtlCol="false" tIns="0" lIns="0" bIns="0" rIns="0">
            <a:spAutoFit/>
          </a:bodyPr>
          <a:lstStyle/>
          <a:p>
            <a:pPr algn="l">
              <a:lnSpc>
                <a:spcPts val="4021"/>
              </a:lnSpc>
            </a:pPr>
            <a:r>
              <a:rPr lang="en-US" sz="2482">
                <a:solidFill>
                  <a:srgbClr val="545454"/>
                </a:solidFill>
                <a:latin typeface="Garet"/>
                <a:ea typeface="Garet"/>
                <a:cs typeface="Garet"/>
                <a:sym typeface="Garet"/>
              </a:rPr>
              <a:t>Small business owners often receive payments through Telebirr, cash, and other methods, but keeping accurate financial records can be difficult. Manual bookkeeping takes time and may lead to missing transactions, making it harder to know their actual income, expenses, profit, and outstanding debts. Poor financial records can also make it difficult for businesses to make good decisions or prepare records when applying for loans.</a:t>
            </a:r>
          </a:p>
          <a:p>
            <a:pPr algn="l">
              <a:lnSpc>
                <a:spcPts val="4021"/>
              </a:lnSpc>
            </a:pPr>
          </a:p>
        </p:txBody>
      </p:sp>
      <p:grpSp>
        <p:nvGrpSpPr>
          <p:cNvPr name="Group 6" id="6"/>
          <p:cNvGrpSpPr/>
          <p:nvPr/>
        </p:nvGrpSpPr>
        <p:grpSpPr>
          <a:xfrm rot="0">
            <a:off x="10708930" y="0"/>
            <a:ext cx="7579070" cy="10287000"/>
            <a:chOff x="0" y="0"/>
            <a:chExt cx="1174196" cy="1593725"/>
          </a:xfrm>
        </p:grpSpPr>
        <p:sp>
          <p:nvSpPr>
            <p:cNvPr name="Freeform 7" id="7"/>
            <p:cNvSpPr/>
            <p:nvPr/>
          </p:nvSpPr>
          <p:spPr>
            <a:xfrm flipH="false" flipV="false" rot="0">
              <a:off x="0" y="0"/>
              <a:ext cx="1174196" cy="1593725"/>
            </a:xfrm>
            <a:custGeom>
              <a:avLst/>
              <a:gdLst/>
              <a:ahLst/>
              <a:cxnLst/>
              <a:rect r="r" b="b" t="t" l="l"/>
              <a:pathLst>
                <a:path h="1593725" w="1174196">
                  <a:moveTo>
                    <a:pt x="0" y="0"/>
                  </a:moveTo>
                  <a:lnTo>
                    <a:pt x="1174196" y="0"/>
                  </a:lnTo>
                  <a:lnTo>
                    <a:pt x="1174196" y="1593725"/>
                  </a:lnTo>
                  <a:lnTo>
                    <a:pt x="0" y="1593725"/>
                  </a:lnTo>
                  <a:close/>
                </a:path>
              </a:pathLst>
            </a:custGeom>
            <a:blipFill>
              <a:blip r:embed="rId2"/>
              <a:stretch>
                <a:fillRect l="-51669" t="0" r="-51669" b="0"/>
              </a:stretch>
            </a:blipFill>
          </p:spPr>
        </p:sp>
      </p:grpSp>
      <p:grpSp>
        <p:nvGrpSpPr>
          <p:cNvPr name="Group 8" id="8"/>
          <p:cNvGrpSpPr/>
          <p:nvPr/>
        </p:nvGrpSpPr>
        <p:grpSpPr>
          <a:xfrm rot="0">
            <a:off x="-2327752" y="-2857071"/>
            <a:ext cx="15247719" cy="1524771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11" id="11"/>
          <p:cNvSpPr/>
          <p:nvPr/>
        </p:nvSpPr>
        <p:spPr>
          <a:xfrm>
            <a:off x="3626839" y="9401175"/>
            <a:ext cx="7596266" cy="0"/>
          </a:xfrm>
          <a:prstGeom prst="line">
            <a:avLst/>
          </a:prstGeom>
          <a:ln cap="flat" w="19050">
            <a:solidFill>
              <a:srgbClr val="000000"/>
            </a:solidFill>
            <a:prstDash val="solid"/>
            <a:headEnd type="none" len="sm" w="sm"/>
            <a:tailEnd type="none" len="sm" w="sm"/>
          </a:ln>
        </p:spPr>
      </p:sp>
      <p:sp>
        <p:nvSpPr>
          <p:cNvPr name="TextBox 12" id="12"/>
          <p:cNvSpPr txBox="true"/>
          <p:nvPr/>
        </p:nvSpPr>
        <p:spPr>
          <a:xfrm rot="0">
            <a:off x="976056" y="1658146"/>
            <a:ext cx="8195112" cy="1467483"/>
          </a:xfrm>
          <a:prstGeom prst="rect">
            <a:avLst/>
          </a:prstGeom>
        </p:spPr>
        <p:txBody>
          <a:bodyPr anchor="t" rtlCol="false" tIns="0" lIns="0" bIns="0" rIns="0">
            <a:spAutoFit/>
          </a:bodyPr>
          <a:lstStyle/>
          <a:p>
            <a:pPr algn="l">
              <a:lnSpc>
                <a:spcPts val="5740"/>
              </a:lnSpc>
            </a:pPr>
            <a:r>
              <a:rPr lang="en-US" sz="4100">
                <a:solidFill>
                  <a:srgbClr val="444E55"/>
                </a:solidFill>
                <a:latin typeface="Horizon"/>
                <a:ea typeface="Horizon"/>
                <a:cs typeface="Horizon"/>
                <a:sym typeface="Horizon"/>
              </a:rPr>
              <a:t>Statement of the Problem</a:t>
            </a:r>
          </a:p>
        </p:txBody>
      </p:sp>
      <p:sp>
        <p:nvSpPr>
          <p:cNvPr name="TextBox 13" id="13"/>
          <p:cNvSpPr txBox="true"/>
          <p:nvPr/>
        </p:nvSpPr>
        <p:spPr>
          <a:xfrm rot="0">
            <a:off x="1751096" y="9031288"/>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02</a:t>
            </a:r>
          </a:p>
        </p:txBody>
      </p:sp>
      <p:sp>
        <p:nvSpPr>
          <p:cNvPr name="TextBox 14" id="14"/>
          <p:cNvSpPr txBox="true"/>
          <p:nvPr/>
        </p:nvSpPr>
        <p:spPr>
          <a:xfrm rot="0">
            <a:off x="688478" y="3668387"/>
            <a:ext cx="9971025" cy="4481934"/>
          </a:xfrm>
          <a:prstGeom prst="rect">
            <a:avLst/>
          </a:prstGeom>
        </p:spPr>
        <p:txBody>
          <a:bodyPr anchor="t" rtlCol="false" tIns="0" lIns="0" bIns="0" rIns="0">
            <a:spAutoFit/>
          </a:bodyPr>
          <a:lstStyle/>
          <a:p>
            <a:pPr algn="l">
              <a:lnSpc>
                <a:spcPts val="4021"/>
              </a:lnSpc>
            </a:pPr>
            <a:r>
              <a:rPr lang="en-US" sz="2482">
                <a:solidFill>
                  <a:srgbClr val="545454"/>
                </a:solidFill>
                <a:latin typeface="Garet"/>
                <a:ea typeface="Garet"/>
                <a:cs typeface="Garet"/>
                <a:sym typeface="Garet"/>
              </a:rPr>
              <a:t>Small business owners often receive payments through Telebirr, cash, and other methods, but keeping accurate financial records can be difficult. Manual bookkeeping takes time and may lead to missing transactions, making it harder to know their actual income, expenses, profit, and outstanding debts. Poor financial records can also make it difficult for businesses to make good decisions or prepare records when applying for loans.</a:t>
            </a:r>
          </a:p>
          <a:p>
            <a:pPr algn="l">
              <a:lnSpc>
                <a:spcPts val="402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3754" y="-102870"/>
            <a:ext cx="7738098" cy="10600180"/>
            <a:chOff x="0" y="0"/>
            <a:chExt cx="1198834" cy="1642245"/>
          </a:xfrm>
        </p:grpSpPr>
        <p:sp>
          <p:nvSpPr>
            <p:cNvPr name="Freeform 3" id="3"/>
            <p:cNvSpPr/>
            <p:nvPr/>
          </p:nvSpPr>
          <p:spPr>
            <a:xfrm flipH="false" flipV="false" rot="0">
              <a:off x="0" y="0"/>
              <a:ext cx="1198834" cy="1642245"/>
            </a:xfrm>
            <a:custGeom>
              <a:avLst/>
              <a:gdLst/>
              <a:ahLst/>
              <a:cxnLst/>
              <a:rect r="r" b="b" t="t" l="l"/>
              <a:pathLst>
                <a:path h="1642245" w="1198834">
                  <a:moveTo>
                    <a:pt x="0" y="0"/>
                  </a:moveTo>
                  <a:lnTo>
                    <a:pt x="1198834" y="0"/>
                  </a:lnTo>
                  <a:lnTo>
                    <a:pt x="1198834" y="1642245"/>
                  </a:lnTo>
                  <a:lnTo>
                    <a:pt x="0" y="1642245"/>
                  </a:lnTo>
                  <a:close/>
                </a:path>
              </a:pathLst>
            </a:custGeom>
            <a:blipFill>
              <a:blip r:embed="rId2"/>
              <a:stretch>
                <a:fillRect l="-1370" t="0" r="-1370" b="0"/>
              </a:stretch>
            </a:blipFill>
          </p:spPr>
        </p:sp>
      </p:grpSp>
      <p:sp>
        <p:nvSpPr>
          <p:cNvPr name="TextBox 4" id="4"/>
          <p:cNvSpPr txBox="true"/>
          <p:nvPr/>
        </p:nvSpPr>
        <p:spPr>
          <a:xfrm rot="0">
            <a:off x="8167370" y="2188323"/>
            <a:ext cx="9331584" cy="7296196"/>
          </a:xfrm>
          <a:prstGeom prst="rect">
            <a:avLst/>
          </a:prstGeom>
        </p:spPr>
        <p:txBody>
          <a:bodyPr anchor="t" rtlCol="false" tIns="0" lIns="0" bIns="0" rIns="0">
            <a:spAutoFit/>
          </a:bodyPr>
          <a:lstStyle/>
          <a:p>
            <a:pPr algn="l" marL="566350" indent="-283175" lvl="1">
              <a:lnSpc>
                <a:spcPts val="3672"/>
              </a:lnSpc>
              <a:buFont typeface="Arial"/>
              <a:buChar char="•"/>
            </a:pPr>
            <a:r>
              <a:rPr lang="en-US" sz="2623">
                <a:solidFill>
                  <a:srgbClr val="737373"/>
                </a:solidFill>
                <a:latin typeface="Garet"/>
                <a:ea typeface="Garet"/>
                <a:cs typeface="Garet"/>
                <a:sym typeface="Garet"/>
              </a:rPr>
              <a:t>Objectives / Solutions</a:t>
            </a:r>
          </a:p>
          <a:p>
            <a:pPr algn="l" marL="566350" indent="-283175" lvl="1">
              <a:lnSpc>
                <a:spcPts val="3672"/>
              </a:lnSpc>
              <a:buFont typeface="Arial"/>
              <a:buChar char="•"/>
            </a:pPr>
            <a:r>
              <a:rPr lang="en-US" sz="2623">
                <a:solidFill>
                  <a:srgbClr val="737373"/>
                </a:solidFill>
                <a:latin typeface="Garet"/>
                <a:ea typeface="Garet"/>
                <a:cs typeface="Garet"/>
                <a:sym typeface="Garet"/>
              </a:rPr>
              <a:t>Automate transaction recording from Telebirr SMS.</a:t>
            </a:r>
          </a:p>
          <a:p>
            <a:pPr algn="l" marL="566350" indent="-283175" lvl="1">
              <a:lnSpc>
                <a:spcPts val="3672"/>
              </a:lnSpc>
              <a:buFont typeface="Arial"/>
              <a:buChar char="•"/>
            </a:pPr>
            <a:r>
              <a:rPr lang="en-US" sz="2623">
                <a:solidFill>
                  <a:srgbClr val="737373"/>
                </a:solidFill>
                <a:latin typeface="Garet"/>
                <a:ea typeface="Garet"/>
                <a:cs typeface="Garet"/>
                <a:sym typeface="Garet"/>
              </a:rPr>
              <a:t>Track income, expenses, profit, and customer debts.</a:t>
            </a:r>
          </a:p>
          <a:p>
            <a:pPr algn="l" marL="566350" indent="-283175" lvl="1">
              <a:lnSpc>
                <a:spcPts val="3672"/>
              </a:lnSpc>
              <a:buFont typeface="Arial"/>
              <a:buChar char="•"/>
            </a:pPr>
            <a:r>
              <a:rPr lang="en-US" sz="2623">
                <a:solidFill>
                  <a:srgbClr val="737373"/>
                </a:solidFill>
                <a:latin typeface="Garet"/>
                <a:ea typeface="Garet"/>
                <a:cs typeface="Garet"/>
                <a:sym typeface="Garet"/>
              </a:rPr>
              <a:t>Reduce manual bookkeeping and recording errors.</a:t>
            </a:r>
          </a:p>
          <a:p>
            <a:pPr algn="l" marL="566350" indent="-283175" lvl="1">
              <a:lnSpc>
                <a:spcPts val="3672"/>
              </a:lnSpc>
              <a:buFont typeface="Arial"/>
              <a:buChar char="•"/>
            </a:pPr>
            <a:r>
              <a:rPr lang="en-US" sz="2623">
                <a:solidFill>
                  <a:srgbClr val="737373"/>
                </a:solidFill>
                <a:latin typeface="Garet"/>
                <a:ea typeface="Garet"/>
                <a:cs typeface="Garet"/>
                <a:sym typeface="Garet"/>
              </a:rPr>
              <a:t>Provide simple daily, weekly, and monthly financial insights.</a:t>
            </a:r>
          </a:p>
          <a:p>
            <a:pPr algn="l" marL="566350" indent="-283175" lvl="1">
              <a:lnSpc>
                <a:spcPts val="3672"/>
              </a:lnSpc>
              <a:buFont typeface="Arial"/>
              <a:buChar char="•"/>
            </a:pPr>
            <a:r>
              <a:rPr lang="en-US" sz="2623">
                <a:solidFill>
                  <a:srgbClr val="737373"/>
                </a:solidFill>
                <a:latin typeface="Garet"/>
                <a:ea typeface="Garet"/>
                <a:cs typeface="Garet"/>
                <a:sym typeface="Garet"/>
              </a:rPr>
              <a:t>Work offline without depending on an internet connection.</a:t>
            </a:r>
          </a:p>
          <a:p>
            <a:pPr algn="l" marL="566350" indent="-283175" lvl="1">
              <a:lnSpc>
                <a:spcPts val="3672"/>
              </a:lnSpc>
              <a:buFont typeface="Arial"/>
              <a:buChar char="•"/>
            </a:pPr>
            <a:r>
              <a:rPr lang="en-US" sz="2623">
                <a:solidFill>
                  <a:srgbClr val="737373"/>
                </a:solidFill>
                <a:latin typeface="Garet"/>
                <a:ea typeface="Garet"/>
                <a:cs typeface="Garet"/>
                <a:sym typeface="Garet"/>
              </a:rPr>
              <a:t>Protect financial data through encrypted local storage.</a:t>
            </a:r>
          </a:p>
          <a:p>
            <a:pPr algn="l" marL="566350" indent="-283175" lvl="1">
              <a:lnSpc>
                <a:spcPts val="3672"/>
              </a:lnSpc>
              <a:buFont typeface="Arial"/>
              <a:buChar char="•"/>
            </a:pPr>
            <a:r>
              <a:rPr lang="en-US" sz="2623">
                <a:solidFill>
                  <a:srgbClr val="737373"/>
                </a:solidFill>
                <a:latin typeface="Garet"/>
                <a:ea typeface="Garet"/>
                <a:cs typeface="Garet"/>
                <a:sym typeface="Garet"/>
              </a:rPr>
              <a:t>Allow users to manually record cash expenses.</a:t>
            </a:r>
          </a:p>
          <a:p>
            <a:pPr algn="l" marL="566350" indent="-283175" lvl="1">
              <a:lnSpc>
                <a:spcPts val="3672"/>
              </a:lnSpc>
              <a:buFont typeface="Arial"/>
              <a:buChar char="•"/>
            </a:pPr>
            <a:r>
              <a:rPr lang="en-US" sz="2623">
                <a:solidFill>
                  <a:srgbClr val="737373"/>
                </a:solidFill>
                <a:latin typeface="Garet"/>
                <a:ea typeface="Garet"/>
                <a:cs typeface="Garet"/>
                <a:sym typeface="Garet"/>
              </a:rPr>
              <a:t>Enable user-controlled export of financial records.</a:t>
            </a:r>
          </a:p>
          <a:p>
            <a:pPr algn="l">
              <a:lnSpc>
                <a:spcPts val="3672"/>
              </a:lnSpc>
            </a:pPr>
          </a:p>
          <a:p>
            <a:pPr algn="l">
              <a:lnSpc>
                <a:spcPts val="3672"/>
              </a:lnSpc>
            </a:pPr>
          </a:p>
        </p:txBody>
      </p:sp>
      <p:grpSp>
        <p:nvGrpSpPr>
          <p:cNvPr name="Group 5" id="5"/>
          <p:cNvGrpSpPr/>
          <p:nvPr/>
        </p:nvGrpSpPr>
        <p:grpSpPr>
          <a:xfrm rot="0">
            <a:off x="-34727" y="0"/>
            <a:ext cx="7579070" cy="10287000"/>
            <a:chOff x="0" y="0"/>
            <a:chExt cx="1174196" cy="1593725"/>
          </a:xfrm>
        </p:grpSpPr>
        <p:sp>
          <p:nvSpPr>
            <p:cNvPr name="Freeform 6" id="6"/>
            <p:cNvSpPr/>
            <p:nvPr/>
          </p:nvSpPr>
          <p:spPr>
            <a:xfrm flipH="false" flipV="false" rot="0">
              <a:off x="0" y="0"/>
              <a:ext cx="1174196" cy="1593725"/>
            </a:xfrm>
            <a:custGeom>
              <a:avLst/>
              <a:gdLst/>
              <a:ahLst/>
              <a:cxnLst/>
              <a:rect r="r" b="b" t="t" l="l"/>
              <a:pathLst>
                <a:path h="1593725" w="1174196">
                  <a:moveTo>
                    <a:pt x="0" y="0"/>
                  </a:moveTo>
                  <a:lnTo>
                    <a:pt x="1174196" y="0"/>
                  </a:lnTo>
                  <a:lnTo>
                    <a:pt x="1174196" y="1593725"/>
                  </a:lnTo>
                  <a:lnTo>
                    <a:pt x="0" y="1593725"/>
                  </a:lnTo>
                  <a:close/>
                </a:path>
              </a:pathLst>
            </a:custGeom>
            <a:blipFill>
              <a:blip r:embed="rId3"/>
              <a:stretch>
                <a:fillRect l="-17864" t="0" r="-17864" b="0"/>
              </a:stretch>
            </a:blipFill>
          </p:spPr>
        </p:sp>
      </p:grpSp>
      <p:sp>
        <p:nvSpPr>
          <p:cNvPr name="AutoShape 7" id="7"/>
          <p:cNvSpPr/>
          <p:nvPr/>
        </p:nvSpPr>
        <p:spPr>
          <a:xfrm>
            <a:off x="5826349" y="9267825"/>
            <a:ext cx="7644324" cy="0"/>
          </a:xfrm>
          <a:prstGeom prst="line">
            <a:avLst/>
          </a:prstGeom>
          <a:ln cap="flat" w="19050">
            <a:solidFill>
              <a:srgbClr val="000000"/>
            </a:solidFill>
            <a:prstDash val="solid"/>
            <a:headEnd type="none" len="sm" w="sm"/>
            <a:tailEnd type="none" len="sm" w="sm"/>
          </a:ln>
        </p:spPr>
      </p:sp>
      <p:sp>
        <p:nvSpPr>
          <p:cNvPr name="TextBox 8" id="8"/>
          <p:cNvSpPr txBox="true"/>
          <p:nvPr/>
        </p:nvSpPr>
        <p:spPr>
          <a:xfrm rot="0">
            <a:off x="8167370" y="942975"/>
            <a:ext cx="5886818" cy="713447"/>
          </a:xfrm>
          <a:prstGeom prst="rect">
            <a:avLst/>
          </a:prstGeom>
        </p:spPr>
        <p:txBody>
          <a:bodyPr anchor="t" rtlCol="false" tIns="0" lIns="0" bIns="0" rIns="0">
            <a:spAutoFit/>
          </a:bodyPr>
          <a:lstStyle/>
          <a:p>
            <a:pPr algn="l">
              <a:lnSpc>
                <a:spcPts val="5826"/>
              </a:lnSpc>
            </a:pPr>
            <a:r>
              <a:rPr lang="en-US" b="true" sz="4161" spc="753">
                <a:solidFill>
                  <a:srgbClr val="444E55"/>
                </a:solidFill>
                <a:latin typeface="Cy Grotesk V3 Grand Bold"/>
                <a:ea typeface="Cy Grotesk V3 Grand Bold"/>
                <a:cs typeface="Cy Grotesk V3 Grand Bold"/>
                <a:sym typeface="Cy Grotesk V3 Grand Bold"/>
              </a:rPr>
              <a:t>OBJECTIVES</a:t>
            </a:r>
          </a:p>
        </p:txBody>
      </p:sp>
      <p:sp>
        <p:nvSpPr>
          <p:cNvPr name="TextBox 9" id="9"/>
          <p:cNvSpPr txBox="true"/>
          <p:nvPr/>
        </p:nvSpPr>
        <p:spPr>
          <a:xfrm rot="0">
            <a:off x="14054188" y="8878888"/>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483878" y="-2480359"/>
            <a:ext cx="15247719" cy="152477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852923" y="1028700"/>
            <a:ext cx="7435077" cy="74350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44E55"/>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852923" y="1179889"/>
            <a:ext cx="7132700" cy="7132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
        <p:nvSpPr>
          <p:cNvPr name="AutoShape 10" id="10"/>
          <p:cNvSpPr/>
          <p:nvPr/>
        </p:nvSpPr>
        <p:spPr>
          <a:xfrm>
            <a:off x="4102417" y="9620494"/>
            <a:ext cx="10083166" cy="0"/>
          </a:xfrm>
          <a:prstGeom prst="line">
            <a:avLst/>
          </a:prstGeom>
          <a:ln cap="flat" w="19050">
            <a:solidFill>
              <a:srgbClr val="000000"/>
            </a:solidFill>
            <a:prstDash val="solid"/>
            <a:headEnd type="none" len="sm" w="sm"/>
            <a:tailEnd type="none" len="sm" w="sm"/>
          </a:ln>
        </p:spPr>
      </p:sp>
      <p:sp>
        <p:nvSpPr>
          <p:cNvPr name="TextBox 11" id="11"/>
          <p:cNvSpPr txBox="true"/>
          <p:nvPr/>
        </p:nvSpPr>
        <p:spPr>
          <a:xfrm rot="0">
            <a:off x="1028700" y="630299"/>
            <a:ext cx="7918077" cy="937255"/>
          </a:xfrm>
          <a:prstGeom prst="rect">
            <a:avLst/>
          </a:prstGeom>
        </p:spPr>
        <p:txBody>
          <a:bodyPr anchor="t" rtlCol="false" tIns="0" lIns="0" bIns="0" rIns="0">
            <a:spAutoFit/>
          </a:bodyPr>
          <a:lstStyle/>
          <a:p>
            <a:pPr algn="l">
              <a:lnSpc>
                <a:spcPts val="7140"/>
              </a:lnSpc>
            </a:pPr>
            <a:r>
              <a:rPr lang="en-US" sz="5100">
                <a:solidFill>
                  <a:srgbClr val="444E55"/>
                </a:solidFill>
                <a:latin typeface="Horizon"/>
                <a:ea typeface="Horizon"/>
                <a:cs typeface="Horizon"/>
                <a:sym typeface="Horizon"/>
              </a:rPr>
              <a:t>Key Features</a:t>
            </a:r>
          </a:p>
        </p:txBody>
      </p:sp>
      <p:sp>
        <p:nvSpPr>
          <p:cNvPr name="TextBox 12" id="12"/>
          <p:cNvSpPr txBox="true"/>
          <p:nvPr/>
        </p:nvSpPr>
        <p:spPr>
          <a:xfrm rot="0">
            <a:off x="825563" y="1847384"/>
            <a:ext cx="9604756" cy="7763585"/>
          </a:xfrm>
          <a:prstGeom prst="rect">
            <a:avLst/>
          </a:prstGeom>
        </p:spPr>
        <p:txBody>
          <a:bodyPr anchor="t" rtlCol="false" tIns="0" lIns="0" bIns="0" rIns="0">
            <a:spAutoFit/>
          </a:bodyPr>
          <a:lstStyle/>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Automatic SMS Parsing</a:t>
            </a:r>
            <a:r>
              <a:rPr lang="en-US" sz="2201">
                <a:solidFill>
                  <a:srgbClr val="545454"/>
                </a:solidFill>
                <a:latin typeface="Garet"/>
                <a:ea typeface="Garet"/>
                <a:cs typeface="Garet"/>
                <a:sym typeface="Garet"/>
              </a:rPr>
              <a:t> – Converts Telebirr payment SMS into transactions.</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Income &amp; Expense Tracking </a:t>
            </a:r>
            <a:r>
              <a:rPr lang="en-US" sz="2201">
                <a:solidFill>
                  <a:srgbClr val="545454"/>
                </a:solidFill>
                <a:latin typeface="Garet"/>
                <a:ea typeface="Garet"/>
                <a:cs typeface="Garet"/>
                <a:sym typeface="Garet"/>
              </a:rPr>
              <a:t>– Automatically records received and sent payments.</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Self-Learning Matcher</a:t>
            </a:r>
            <a:r>
              <a:rPr lang="en-US" sz="2201">
                <a:solidFill>
                  <a:srgbClr val="545454"/>
                </a:solidFill>
                <a:latin typeface="Garet"/>
                <a:ea typeface="Garet"/>
                <a:cs typeface="Garet"/>
                <a:sym typeface="Garet"/>
              </a:rPr>
              <a:t> – Learns from confirmed item matches for faster future transactions.</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Profit Dashboard</a:t>
            </a:r>
            <a:r>
              <a:rPr lang="en-US" sz="2201">
                <a:solidFill>
                  <a:srgbClr val="545454"/>
                </a:solidFill>
                <a:latin typeface="Garet"/>
                <a:ea typeface="Garet"/>
                <a:cs typeface="Garet"/>
                <a:sym typeface="Garet"/>
              </a:rPr>
              <a:t> – Shows daily, weekly, and monthly financial summaries.</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Manual Expense Entry</a:t>
            </a:r>
            <a:r>
              <a:rPr lang="en-US" sz="2201">
                <a:solidFill>
                  <a:srgbClr val="545454"/>
                </a:solidFill>
                <a:latin typeface="Garet"/>
                <a:ea typeface="Garet"/>
                <a:cs typeface="Garet"/>
                <a:sym typeface="Garet"/>
              </a:rPr>
              <a:t> – Allows users to quickly record cash expenses.</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Debt Tracking</a:t>
            </a:r>
            <a:r>
              <a:rPr lang="en-US" sz="2201">
                <a:solidFill>
                  <a:srgbClr val="545454"/>
                </a:solidFill>
                <a:latin typeface="Garet"/>
                <a:ea typeface="Garet"/>
                <a:cs typeface="Garet"/>
                <a:sym typeface="Garet"/>
              </a:rPr>
              <a:t> – Keeps a simple list of customers who owe money.</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Offline-First</a:t>
            </a:r>
            <a:r>
              <a:rPr lang="en-US" sz="2201">
                <a:solidFill>
                  <a:srgbClr val="545454"/>
                </a:solidFill>
                <a:latin typeface="Garet"/>
                <a:ea typeface="Garet"/>
                <a:cs typeface="Garet"/>
                <a:sym typeface="Garet"/>
              </a:rPr>
              <a:t> – Core features work without an internet connection.</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Secure Storage</a:t>
            </a:r>
            <a:r>
              <a:rPr lang="en-US" sz="2201">
                <a:solidFill>
                  <a:srgbClr val="545454"/>
                </a:solidFill>
                <a:latin typeface="Garet"/>
                <a:ea typeface="Garet"/>
                <a:cs typeface="Garet"/>
                <a:sym typeface="Garet"/>
              </a:rPr>
              <a:t> – Protects financial data using encrypted local storage.</a:t>
            </a:r>
          </a:p>
          <a:p>
            <a:pPr algn="l" marL="475305" indent="-237652" lvl="1">
              <a:lnSpc>
                <a:spcPts val="3236"/>
              </a:lnSpc>
              <a:buFont typeface="Arial"/>
              <a:buChar char="•"/>
            </a:pPr>
            <a:r>
              <a:rPr lang="en-US" b="true" sz="2201">
                <a:solidFill>
                  <a:srgbClr val="545454"/>
                </a:solidFill>
                <a:latin typeface="Garet Bold"/>
                <a:ea typeface="Garet Bold"/>
                <a:cs typeface="Garet Bold"/>
                <a:sym typeface="Garet Bold"/>
              </a:rPr>
              <a:t>User-Controlled Export </a:t>
            </a:r>
            <a:r>
              <a:rPr lang="en-US" sz="2201">
                <a:solidFill>
                  <a:srgbClr val="545454"/>
                </a:solidFill>
                <a:latin typeface="Garet"/>
                <a:ea typeface="Garet"/>
                <a:cs typeface="Garet"/>
                <a:sym typeface="Garet"/>
              </a:rPr>
              <a:t>– Allows users to export or sync their records when needed.</a:t>
            </a:r>
          </a:p>
          <a:p>
            <a:pPr algn="l">
              <a:lnSpc>
                <a:spcPts val="3236"/>
              </a:lnSpc>
            </a:pPr>
          </a:p>
        </p:txBody>
      </p:sp>
      <p:sp>
        <p:nvSpPr>
          <p:cNvPr name="TextBox 13" id="13"/>
          <p:cNvSpPr txBox="true"/>
          <p:nvPr/>
        </p:nvSpPr>
        <p:spPr>
          <a:xfrm rot="0">
            <a:off x="2129563" y="9241082"/>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936405" y="288925"/>
            <a:ext cx="12394764" cy="1270000"/>
          </a:xfrm>
          <a:prstGeom prst="rect">
            <a:avLst/>
          </a:prstGeom>
        </p:spPr>
        <p:txBody>
          <a:bodyPr anchor="t" rtlCol="false" tIns="0" lIns="0" bIns="0" rIns="0">
            <a:spAutoFit/>
          </a:bodyPr>
          <a:lstStyle/>
          <a:p>
            <a:pPr algn="ctr">
              <a:lnSpc>
                <a:spcPts val="9799"/>
              </a:lnSpc>
            </a:pPr>
            <a:r>
              <a:rPr lang="en-US" sz="6999">
                <a:solidFill>
                  <a:srgbClr val="FFFFFF"/>
                </a:solidFill>
                <a:latin typeface="Horizon"/>
                <a:ea typeface="Horizon"/>
                <a:cs typeface="Horizon"/>
                <a:sym typeface="Horizon"/>
              </a:rPr>
              <a:t>Actors</a:t>
            </a:r>
          </a:p>
        </p:txBody>
      </p:sp>
      <p:grpSp>
        <p:nvGrpSpPr>
          <p:cNvPr name="Group 4" id="4"/>
          <p:cNvGrpSpPr/>
          <p:nvPr/>
        </p:nvGrpSpPr>
        <p:grpSpPr>
          <a:xfrm rot="0">
            <a:off x="680247" y="3534404"/>
            <a:ext cx="3086100" cy="4738651"/>
            <a:chOff x="0" y="0"/>
            <a:chExt cx="812800" cy="1248040"/>
          </a:xfrm>
        </p:grpSpPr>
        <p:sp>
          <p:nvSpPr>
            <p:cNvPr name="Freeform 5" id="5"/>
            <p:cNvSpPr/>
            <p:nvPr/>
          </p:nvSpPr>
          <p:spPr>
            <a:xfrm flipH="false" flipV="false" rot="0">
              <a:off x="0" y="0"/>
              <a:ext cx="812800" cy="1248040"/>
            </a:xfrm>
            <a:custGeom>
              <a:avLst/>
              <a:gdLst/>
              <a:ahLst/>
              <a:cxnLst/>
              <a:rect r="r" b="b" t="t" l="l"/>
              <a:pathLst>
                <a:path h="1248040" w="812800">
                  <a:moveTo>
                    <a:pt x="42647" y="0"/>
                  </a:moveTo>
                  <a:lnTo>
                    <a:pt x="770153" y="0"/>
                  </a:lnTo>
                  <a:cubicBezTo>
                    <a:pt x="781464" y="0"/>
                    <a:pt x="792311" y="4493"/>
                    <a:pt x="800309" y="12491"/>
                  </a:cubicBezTo>
                  <a:cubicBezTo>
                    <a:pt x="808307" y="20489"/>
                    <a:pt x="812800" y="31336"/>
                    <a:pt x="812800" y="42647"/>
                  </a:cubicBezTo>
                  <a:lnTo>
                    <a:pt x="812800" y="1205393"/>
                  </a:lnTo>
                  <a:cubicBezTo>
                    <a:pt x="812800" y="1216704"/>
                    <a:pt x="808307" y="1227551"/>
                    <a:pt x="800309" y="1235549"/>
                  </a:cubicBezTo>
                  <a:cubicBezTo>
                    <a:pt x="792311" y="1243547"/>
                    <a:pt x="781464" y="1248040"/>
                    <a:pt x="770153" y="1248040"/>
                  </a:cubicBezTo>
                  <a:lnTo>
                    <a:pt x="42647" y="1248040"/>
                  </a:lnTo>
                  <a:cubicBezTo>
                    <a:pt x="31336" y="1248040"/>
                    <a:pt x="20489" y="1243547"/>
                    <a:pt x="12491" y="1235549"/>
                  </a:cubicBezTo>
                  <a:cubicBezTo>
                    <a:pt x="4493" y="1227551"/>
                    <a:pt x="0" y="1216704"/>
                    <a:pt x="0" y="1205393"/>
                  </a:cubicBezTo>
                  <a:lnTo>
                    <a:pt x="0" y="42647"/>
                  </a:lnTo>
                  <a:cubicBezTo>
                    <a:pt x="0" y="31336"/>
                    <a:pt x="4493" y="20489"/>
                    <a:pt x="12491" y="12491"/>
                  </a:cubicBezTo>
                  <a:cubicBezTo>
                    <a:pt x="20489" y="4493"/>
                    <a:pt x="31336" y="0"/>
                    <a:pt x="42647" y="0"/>
                  </a:cubicBezTo>
                  <a:close/>
                </a:path>
              </a:pathLst>
            </a:custGeom>
            <a:solidFill>
              <a:srgbClr val="000000"/>
            </a:solidFill>
          </p:spPr>
        </p:sp>
        <p:sp>
          <p:nvSpPr>
            <p:cNvPr name="TextBox 6" id="6"/>
            <p:cNvSpPr txBox="true"/>
            <p:nvPr/>
          </p:nvSpPr>
          <p:spPr>
            <a:xfrm>
              <a:off x="0" y="-47625"/>
              <a:ext cx="812800" cy="1295665"/>
            </a:xfrm>
            <a:prstGeom prst="rect">
              <a:avLst/>
            </a:prstGeom>
          </p:spPr>
          <p:txBody>
            <a:bodyPr anchor="ctr" rtlCol="false" tIns="50800" lIns="50800" bIns="50800" rIns="50800"/>
            <a:lstStyle/>
            <a:p>
              <a:pPr algn="ctr">
                <a:lnSpc>
                  <a:spcPts val="3220"/>
                </a:lnSpc>
              </a:pPr>
              <a:r>
                <a:rPr lang="en-US" sz="2300" spc="62">
                  <a:solidFill>
                    <a:srgbClr val="FFFFFF"/>
                  </a:solidFill>
                  <a:latin typeface="Garet"/>
                  <a:ea typeface="Garet"/>
                  <a:cs typeface="Garet"/>
                  <a:sym typeface="Garet"/>
                </a:rPr>
                <a:t> The main user of Mekenet who manages daily transactions, checks financial summaries, records expenses, and tracks customers who owe money.</a:t>
              </a:r>
            </a:p>
          </p:txBody>
        </p:sp>
      </p:grpSp>
      <p:sp>
        <p:nvSpPr>
          <p:cNvPr name="AutoShape 7" id="7"/>
          <p:cNvSpPr/>
          <p:nvPr/>
        </p:nvSpPr>
        <p:spPr>
          <a:xfrm>
            <a:off x="4397840" y="9576665"/>
            <a:ext cx="10083166" cy="0"/>
          </a:xfrm>
          <a:prstGeom prst="line">
            <a:avLst/>
          </a:prstGeom>
          <a:ln cap="flat" w="19050">
            <a:solidFill>
              <a:srgbClr val="FCFCFC"/>
            </a:solidFill>
            <a:prstDash val="solid"/>
            <a:headEnd type="none" len="sm" w="sm"/>
            <a:tailEnd type="none" len="sm" w="sm"/>
          </a:ln>
        </p:spPr>
      </p:sp>
      <p:sp>
        <p:nvSpPr>
          <p:cNvPr name="TextBox 8" id="8"/>
          <p:cNvSpPr txBox="true"/>
          <p:nvPr/>
        </p:nvSpPr>
        <p:spPr>
          <a:xfrm rot="0">
            <a:off x="14966781" y="9144000"/>
            <a:ext cx="969619" cy="644525"/>
          </a:xfrm>
          <a:prstGeom prst="rect">
            <a:avLst/>
          </a:prstGeom>
        </p:spPr>
        <p:txBody>
          <a:bodyPr anchor="t" rtlCol="false" tIns="0" lIns="0" bIns="0" rIns="0">
            <a:spAutoFit/>
          </a:bodyPr>
          <a:lstStyle/>
          <a:p>
            <a:pPr algn="l">
              <a:lnSpc>
                <a:spcPts val="4900"/>
              </a:lnSpc>
            </a:pPr>
            <a:r>
              <a:rPr lang="en-US" sz="3500">
                <a:solidFill>
                  <a:srgbClr val="FFFFFF"/>
                </a:solidFill>
                <a:latin typeface="Horizon"/>
                <a:ea typeface="Horizon"/>
                <a:cs typeface="Horizon"/>
                <a:sym typeface="Horizon"/>
              </a:rPr>
              <a:t>05</a:t>
            </a:r>
          </a:p>
        </p:txBody>
      </p:sp>
      <p:grpSp>
        <p:nvGrpSpPr>
          <p:cNvPr name="Group 9" id="9"/>
          <p:cNvGrpSpPr/>
          <p:nvPr/>
        </p:nvGrpSpPr>
        <p:grpSpPr>
          <a:xfrm rot="0">
            <a:off x="4251156" y="3534404"/>
            <a:ext cx="3086100" cy="4738651"/>
            <a:chOff x="0" y="0"/>
            <a:chExt cx="812800" cy="1248040"/>
          </a:xfrm>
        </p:grpSpPr>
        <p:sp>
          <p:nvSpPr>
            <p:cNvPr name="Freeform 10" id="10"/>
            <p:cNvSpPr/>
            <p:nvPr/>
          </p:nvSpPr>
          <p:spPr>
            <a:xfrm flipH="false" flipV="false" rot="0">
              <a:off x="0" y="0"/>
              <a:ext cx="812800" cy="1248040"/>
            </a:xfrm>
            <a:custGeom>
              <a:avLst/>
              <a:gdLst/>
              <a:ahLst/>
              <a:cxnLst/>
              <a:rect r="r" b="b" t="t" l="l"/>
              <a:pathLst>
                <a:path h="1248040" w="812800">
                  <a:moveTo>
                    <a:pt x="42647" y="0"/>
                  </a:moveTo>
                  <a:lnTo>
                    <a:pt x="770153" y="0"/>
                  </a:lnTo>
                  <a:cubicBezTo>
                    <a:pt x="781464" y="0"/>
                    <a:pt x="792311" y="4493"/>
                    <a:pt x="800309" y="12491"/>
                  </a:cubicBezTo>
                  <a:cubicBezTo>
                    <a:pt x="808307" y="20489"/>
                    <a:pt x="812800" y="31336"/>
                    <a:pt x="812800" y="42647"/>
                  </a:cubicBezTo>
                  <a:lnTo>
                    <a:pt x="812800" y="1205393"/>
                  </a:lnTo>
                  <a:cubicBezTo>
                    <a:pt x="812800" y="1216704"/>
                    <a:pt x="808307" y="1227551"/>
                    <a:pt x="800309" y="1235549"/>
                  </a:cubicBezTo>
                  <a:cubicBezTo>
                    <a:pt x="792311" y="1243547"/>
                    <a:pt x="781464" y="1248040"/>
                    <a:pt x="770153" y="1248040"/>
                  </a:cubicBezTo>
                  <a:lnTo>
                    <a:pt x="42647" y="1248040"/>
                  </a:lnTo>
                  <a:cubicBezTo>
                    <a:pt x="31336" y="1248040"/>
                    <a:pt x="20489" y="1243547"/>
                    <a:pt x="12491" y="1235549"/>
                  </a:cubicBezTo>
                  <a:cubicBezTo>
                    <a:pt x="4493" y="1227551"/>
                    <a:pt x="0" y="1216704"/>
                    <a:pt x="0" y="1205393"/>
                  </a:cubicBezTo>
                  <a:lnTo>
                    <a:pt x="0" y="42647"/>
                  </a:lnTo>
                  <a:cubicBezTo>
                    <a:pt x="0" y="31336"/>
                    <a:pt x="4493" y="20489"/>
                    <a:pt x="12491" y="12491"/>
                  </a:cubicBezTo>
                  <a:cubicBezTo>
                    <a:pt x="20489" y="4493"/>
                    <a:pt x="31336" y="0"/>
                    <a:pt x="42647" y="0"/>
                  </a:cubicBezTo>
                  <a:close/>
                </a:path>
              </a:pathLst>
            </a:custGeom>
            <a:solidFill>
              <a:srgbClr val="3B3B3F"/>
            </a:solidFill>
          </p:spPr>
        </p:sp>
        <p:sp>
          <p:nvSpPr>
            <p:cNvPr name="TextBox 11" id="11"/>
            <p:cNvSpPr txBox="true"/>
            <p:nvPr/>
          </p:nvSpPr>
          <p:spPr>
            <a:xfrm>
              <a:off x="0" y="-47625"/>
              <a:ext cx="812800" cy="1295665"/>
            </a:xfrm>
            <a:prstGeom prst="rect">
              <a:avLst/>
            </a:prstGeom>
          </p:spPr>
          <p:txBody>
            <a:bodyPr anchor="ctr" rtlCol="false" tIns="50800" lIns="50800" bIns="50800" rIns="50800"/>
            <a:lstStyle/>
            <a:p>
              <a:pPr algn="ctr">
                <a:lnSpc>
                  <a:spcPts val="3220"/>
                </a:lnSpc>
              </a:pPr>
              <a:r>
                <a:rPr lang="en-US" sz="2300" spc="62">
                  <a:solidFill>
                    <a:srgbClr val="FFFFFF"/>
                  </a:solidFill>
                  <a:latin typeface="Garet"/>
                  <a:ea typeface="Garet"/>
                  <a:cs typeface="Garet"/>
                  <a:sym typeface="Garet"/>
                </a:rPr>
                <a:t>Provides Telebirr payment notifications to the application. Mekenet processes these messages automatically to identify transaction details.</a:t>
              </a:r>
            </a:p>
          </p:txBody>
        </p:sp>
      </p:grpSp>
      <p:grpSp>
        <p:nvGrpSpPr>
          <p:cNvPr name="Group 12" id="12"/>
          <p:cNvGrpSpPr/>
          <p:nvPr/>
        </p:nvGrpSpPr>
        <p:grpSpPr>
          <a:xfrm rot="0">
            <a:off x="7823031" y="3534404"/>
            <a:ext cx="3086100" cy="4723830"/>
            <a:chOff x="0" y="0"/>
            <a:chExt cx="812800" cy="1244136"/>
          </a:xfrm>
        </p:grpSpPr>
        <p:sp>
          <p:nvSpPr>
            <p:cNvPr name="Freeform 13" id="13"/>
            <p:cNvSpPr/>
            <p:nvPr/>
          </p:nvSpPr>
          <p:spPr>
            <a:xfrm flipH="false" flipV="false" rot="0">
              <a:off x="0" y="0"/>
              <a:ext cx="812800" cy="1244136"/>
            </a:xfrm>
            <a:custGeom>
              <a:avLst/>
              <a:gdLst/>
              <a:ahLst/>
              <a:cxnLst/>
              <a:rect r="r" b="b" t="t" l="l"/>
              <a:pathLst>
                <a:path h="1244136" w="812800">
                  <a:moveTo>
                    <a:pt x="42647" y="0"/>
                  </a:moveTo>
                  <a:lnTo>
                    <a:pt x="770153" y="0"/>
                  </a:lnTo>
                  <a:cubicBezTo>
                    <a:pt x="781464" y="0"/>
                    <a:pt x="792311" y="4493"/>
                    <a:pt x="800309" y="12491"/>
                  </a:cubicBezTo>
                  <a:cubicBezTo>
                    <a:pt x="808307" y="20489"/>
                    <a:pt x="812800" y="31336"/>
                    <a:pt x="812800" y="42647"/>
                  </a:cubicBezTo>
                  <a:lnTo>
                    <a:pt x="812800" y="1201489"/>
                  </a:lnTo>
                  <a:cubicBezTo>
                    <a:pt x="812800" y="1212800"/>
                    <a:pt x="808307" y="1223647"/>
                    <a:pt x="800309" y="1231645"/>
                  </a:cubicBezTo>
                  <a:cubicBezTo>
                    <a:pt x="792311" y="1239643"/>
                    <a:pt x="781464" y="1244136"/>
                    <a:pt x="770153" y="1244136"/>
                  </a:cubicBezTo>
                  <a:lnTo>
                    <a:pt x="42647" y="1244136"/>
                  </a:lnTo>
                  <a:cubicBezTo>
                    <a:pt x="19094" y="1244136"/>
                    <a:pt x="0" y="1225042"/>
                    <a:pt x="0" y="1201489"/>
                  </a:cubicBezTo>
                  <a:lnTo>
                    <a:pt x="0" y="42647"/>
                  </a:lnTo>
                  <a:cubicBezTo>
                    <a:pt x="0" y="31336"/>
                    <a:pt x="4493" y="20489"/>
                    <a:pt x="12491" y="12491"/>
                  </a:cubicBezTo>
                  <a:cubicBezTo>
                    <a:pt x="20489" y="4493"/>
                    <a:pt x="31336" y="0"/>
                    <a:pt x="42647" y="0"/>
                  </a:cubicBezTo>
                  <a:close/>
                </a:path>
              </a:pathLst>
            </a:custGeom>
            <a:solidFill>
              <a:srgbClr val="898A8F"/>
            </a:solidFill>
          </p:spPr>
        </p:sp>
        <p:sp>
          <p:nvSpPr>
            <p:cNvPr name="TextBox 14" id="14"/>
            <p:cNvSpPr txBox="true"/>
            <p:nvPr/>
          </p:nvSpPr>
          <p:spPr>
            <a:xfrm>
              <a:off x="0" y="-47625"/>
              <a:ext cx="812800" cy="1291761"/>
            </a:xfrm>
            <a:prstGeom prst="rect">
              <a:avLst/>
            </a:prstGeom>
          </p:spPr>
          <p:txBody>
            <a:bodyPr anchor="ctr" rtlCol="false" tIns="50800" lIns="50800" bIns="50800" rIns="50800"/>
            <a:lstStyle/>
            <a:p>
              <a:pPr algn="ctr">
                <a:lnSpc>
                  <a:spcPts val="3220"/>
                </a:lnSpc>
              </a:pPr>
              <a:r>
                <a:rPr lang="en-US" sz="2300" spc="62">
                  <a:solidFill>
                    <a:srgbClr val="FFFFFF"/>
                  </a:solidFill>
                  <a:latin typeface="Garet"/>
                  <a:ea typeface="Garet"/>
                  <a:cs typeface="Garet"/>
                  <a:sym typeface="Garet"/>
                </a:rPr>
                <a:t>The core system that receives and parses SMS messages, records transactions, calculates financial information, and presents it to the business owner.</a:t>
              </a:r>
            </a:p>
          </p:txBody>
        </p:sp>
      </p:grpSp>
      <p:grpSp>
        <p:nvGrpSpPr>
          <p:cNvPr name="Group 15" id="15"/>
          <p:cNvGrpSpPr/>
          <p:nvPr/>
        </p:nvGrpSpPr>
        <p:grpSpPr>
          <a:xfrm rot="0">
            <a:off x="11394906" y="3534404"/>
            <a:ext cx="3086100" cy="4723830"/>
            <a:chOff x="0" y="0"/>
            <a:chExt cx="812800" cy="1244136"/>
          </a:xfrm>
        </p:grpSpPr>
        <p:sp>
          <p:nvSpPr>
            <p:cNvPr name="Freeform 16" id="16"/>
            <p:cNvSpPr/>
            <p:nvPr/>
          </p:nvSpPr>
          <p:spPr>
            <a:xfrm flipH="false" flipV="false" rot="0">
              <a:off x="0" y="0"/>
              <a:ext cx="812800" cy="1244136"/>
            </a:xfrm>
            <a:custGeom>
              <a:avLst/>
              <a:gdLst/>
              <a:ahLst/>
              <a:cxnLst/>
              <a:rect r="r" b="b" t="t" l="l"/>
              <a:pathLst>
                <a:path h="1244136" w="812800">
                  <a:moveTo>
                    <a:pt x="42647" y="0"/>
                  </a:moveTo>
                  <a:lnTo>
                    <a:pt x="770153" y="0"/>
                  </a:lnTo>
                  <a:cubicBezTo>
                    <a:pt x="781464" y="0"/>
                    <a:pt x="792311" y="4493"/>
                    <a:pt x="800309" y="12491"/>
                  </a:cubicBezTo>
                  <a:cubicBezTo>
                    <a:pt x="808307" y="20489"/>
                    <a:pt x="812800" y="31336"/>
                    <a:pt x="812800" y="42647"/>
                  </a:cubicBezTo>
                  <a:lnTo>
                    <a:pt x="812800" y="1201489"/>
                  </a:lnTo>
                  <a:cubicBezTo>
                    <a:pt x="812800" y="1212800"/>
                    <a:pt x="808307" y="1223647"/>
                    <a:pt x="800309" y="1231645"/>
                  </a:cubicBezTo>
                  <a:cubicBezTo>
                    <a:pt x="792311" y="1239643"/>
                    <a:pt x="781464" y="1244136"/>
                    <a:pt x="770153" y="1244136"/>
                  </a:cubicBezTo>
                  <a:lnTo>
                    <a:pt x="42647" y="1244136"/>
                  </a:lnTo>
                  <a:cubicBezTo>
                    <a:pt x="19094" y="1244136"/>
                    <a:pt x="0" y="1225042"/>
                    <a:pt x="0" y="1201489"/>
                  </a:cubicBezTo>
                  <a:lnTo>
                    <a:pt x="0" y="42647"/>
                  </a:lnTo>
                  <a:cubicBezTo>
                    <a:pt x="0" y="31336"/>
                    <a:pt x="4493" y="20489"/>
                    <a:pt x="12491" y="12491"/>
                  </a:cubicBezTo>
                  <a:cubicBezTo>
                    <a:pt x="20489" y="4493"/>
                    <a:pt x="31336" y="0"/>
                    <a:pt x="42647" y="0"/>
                  </a:cubicBezTo>
                  <a:close/>
                </a:path>
              </a:pathLst>
            </a:custGeom>
            <a:solidFill>
              <a:srgbClr val="565554"/>
            </a:solidFill>
          </p:spPr>
        </p:sp>
        <p:sp>
          <p:nvSpPr>
            <p:cNvPr name="TextBox 17" id="17"/>
            <p:cNvSpPr txBox="true"/>
            <p:nvPr/>
          </p:nvSpPr>
          <p:spPr>
            <a:xfrm>
              <a:off x="0" y="-47625"/>
              <a:ext cx="812800" cy="1291761"/>
            </a:xfrm>
            <a:prstGeom prst="rect">
              <a:avLst/>
            </a:prstGeom>
          </p:spPr>
          <p:txBody>
            <a:bodyPr anchor="ctr" rtlCol="false" tIns="50800" lIns="50800" bIns="50800" rIns="50800"/>
            <a:lstStyle/>
            <a:p>
              <a:pPr algn="ctr">
                <a:lnSpc>
                  <a:spcPts val="3220"/>
                </a:lnSpc>
              </a:pPr>
              <a:r>
                <a:rPr lang="en-US" sz="2300" spc="62">
                  <a:solidFill>
                    <a:srgbClr val="FFFFFF"/>
                  </a:solidFill>
                  <a:latin typeface="Garet"/>
                  <a:ea typeface="Garet"/>
                  <a:cs typeface="Garet"/>
                  <a:sym typeface="Garet"/>
                </a:rPr>
                <a:t>Handles optional synchronization and generates reports when the user chooses to export their financial records.</a:t>
              </a:r>
            </a:p>
          </p:txBody>
        </p:sp>
      </p:grpSp>
      <p:grpSp>
        <p:nvGrpSpPr>
          <p:cNvPr name="Group 18" id="18"/>
          <p:cNvGrpSpPr/>
          <p:nvPr/>
        </p:nvGrpSpPr>
        <p:grpSpPr>
          <a:xfrm rot="0">
            <a:off x="14966781" y="3534404"/>
            <a:ext cx="3086100" cy="4723830"/>
            <a:chOff x="0" y="0"/>
            <a:chExt cx="812800" cy="1244136"/>
          </a:xfrm>
        </p:grpSpPr>
        <p:sp>
          <p:nvSpPr>
            <p:cNvPr name="Freeform 19" id="19"/>
            <p:cNvSpPr/>
            <p:nvPr/>
          </p:nvSpPr>
          <p:spPr>
            <a:xfrm flipH="false" flipV="false" rot="0">
              <a:off x="0" y="0"/>
              <a:ext cx="812800" cy="1244136"/>
            </a:xfrm>
            <a:custGeom>
              <a:avLst/>
              <a:gdLst/>
              <a:ahLst/>
              <a:cxnLst/>
              <a:rect r="r" b="b" t="t" l="l"/>
              <a:pathLst>
                <a:path h="1244136" w="812800">
                  <a:moveTo>
                    <a:pt x="42647" y="0"/>
                  </a:moveTo>
                  <a:lnTo>
                    <a:pt x="770153" y="0"/>
                  </a:lnTo>
                  <a:cubicBezTo>
                    <a:pt x="781464" y="0"/>
                    <a:pt x="792311" y="4493"/>
                    <a:pt x="800309" y="12491"/>
                  </a:cubicBezTo>
                  <a:cubicBezTo>
                    <a:pt x="808307" y="20489"/>
                    <a:pt x="812800" y="31336"/>
                    <a:pt x="812800" y="42647"/>
                  </a:cubicBezTo>
                  <a:lnTo>
                    <a:pt x="812800" y="1201489"/>
                  </a:lnTo>
                  <a:cubicBezTo>
                    <a:pt x="812800" y="1212800"/>
                    <a:pt x="808307" y="1223647"/>
                    <a:pt x="800309" y="1231645"/>
                  </a:cubicBezTo>
                  <a:cubicBezTo>
                    <a:pt x="792311" y="1239643"/>
                    <a:pt x="781464" y="1244136"/>
                    <a:pt x="770153" y="1244136"/>
                  </a:cubicBezTo>
                  <a:lnTo>
                    <a:pt x="42647" y="1244136"/>
                  </a:lnTo>
                  <a:cubicBezTo>
                    <a:pt x="19094" y="1244136"/>
                    <a:pt x="0" y="1225042"/>
                    <a:pt x="0" y="1201489"/>
                  </a:cubicBezTo>
                  <a:lnTo>
                    <a:pt x="0" y="42647"/>
                  </a:lnTo>
                  <a:cubicBezTo>
                    <a:pt x="0" y="31336"/>
                    <a:pt x="4493" y="20489"/>
                    <a:pt x="12491" y="12491"/>
                  </a:cubicBezTo>
                  <a:cubicBezTo>
                    <a:pt x="20489" y="4493"/>
                    <a:pt x="31336" y="0"/>
                    <a:pt x="42647" y="0"/>
                  </a:cubicBezTo>
                  <a:close/>
                </a:path>
              </a:pathLst>
            </a:custGeom>
            <a:solidFill>
              <a:srgbClr val="444E55"/>
            </a:solidFill>
          </p:spPr>
        </p:sp>
        <p:sp>
          <p:nvSpPr>
            <p:cNvPr name="TextBox 20" id="20"/>
            <p:cNvSpPr txBox="true"/>
            <p:nvPr/>
          </p:nvSpPr>
          <p:spPr>
            <a:xfrm>
              <a:off x="0" y="-47625"/>
              <a:ext cx="812800" cy="1291761"/>
            </a:xfrm>
            <a:prstGeom prst="rect">
              <a:avLst/>
            </a:prstGeom>
          </p:spPr>
          <p:txBody>
            <a:bodyPr anchor="ctr" rtlCol="false" tIns="50800" lIns="50800" bIns="50800" rIns="50800"/>
            <a:lstStyle/>
            <a:p>
              <a:pPr algn="ctr">
                <a:lnSpc>
                  <a:spcPts val="3220"/>
                </a:lnSpc>
              </a:pPr>
              <a:r>
                <a:rPr lang="en-US" sz="2300" spc="62">
                  <a:solidFill>
                    <a:srgbClr val="FFFFFF"/>
                  </a:solidFill>
                  <a:latin typeface="Garet"/>
                  <a:ea typeface="Garet"/>
                  <a:cs typeface="Garet"/>
                  <a:sym typeface="Garet"/>
                </a:rPr>
                <a:t> A potential external actor that can use the exported financial report when evaluating a business for loans or other financial services.</a:t>
              </a:r>
            </a:p>
          </p:txBody>
        </p:sp>
      </p:grpSp>
      <p:sp>
        <p:nvSpPr>
          <p:cNvPr name="TextBox 21" id="21"/>
          <p:cNvSpPr txBox="true"/>
          <p:nvPr/>
        </p:nvSpPr>
        <p:spPr>
          <a:xfrm rot="0">
            <a:off x="680247" y="2311715"/>
            <a:ext cx="3086100" cy="422275"/>
          </a:xfrm>
          <a:prstGeom prst="rect">
            <a:avLst/>
          </a:prstGeom>
        </p:spPr>
        <p:txBody>
          <a:bodyPr anchor="t" rtlCol="false" tIns="0" lIns="0" bIns="0" rIns="0">
            <a:spAutoFit/>
          </a:bodyPr>
          <a:lstStyle/>
          <a:p>
            <a:pPr algn="ctr">
              <a:lnSpc>
                <a:spcPts val="3499"/>
              </a:lnSpc>
            </a:pPr>
            <a:r>
              <a:rPr lang="en-US" sz="2499" spc="67">
                <a:solidFill>
                  <a:srgbClr val="FFFFFF"/>
                </a:solidFill>
                <a:latin typeface="Garet"/>
                <a:ea typeface="Garet"/>
                <a:cs typeface="Garet"/>
                <a:sym typeface="Garet"/>
              </a:rPr>
              <a:t>BUSINESS OWNER </a:t>
            </a:r>
          </a:p>
        </p:txBody>
      </p:sp>
      <p:sp>
        <p:nvSpPr>
          <p:cNvPr name="TextBox 22" id="22"/>
          <p:cNvSpPr txBox="true"/>
          <p:nvPr/>
        </p:nvSpPr>
        <p:spPr>
          <a:xfrm rot="0">
            <a:off x="4251156" y="2311715"/>
            <a:ext cx="3086100" cy="422275"/>
          </a:xfrm>
          <a:prstGeom prst="rect">
            <a:avLst/>
          </a:prstGeom>
        </p:spPr>
        <p:txBody>
          <a:bodyPr anchor="t" rtlCol="false" tIns="0" lIns="0" bIns="0" rIns="0">
            <a:spAutoFit/>
          </a:bodyPr>
          <a:lstStyle/>
          <a:p>
            <a:pPr algn="ctr">
              <a:lnSpc>
                <a:spcPts val="3499"/>
              </a:lnSpc>
            </a:pPr>
            <a:r>
              <a:rPr lang="en-US" sz="2499" spc="67">
                <a:solidFill>
                  <a:srgbClr val="FFFFFF"/>
                </a:solidFill>
                <a:latin typeface="Garet"/>
                <a:ea typeface="Garet"/>
                <a:cs typeface="Garet"/>
                <a:sym typeface="Garet"/>
              </a:rPr>
              <a:t>SMS SERVICE</a:t>
            </a:r>
          </a:p>
        </p:txBody>
      </p:sp>
      <p:sp>
        <p:nvSpPr>
          <p:cNvPr name="TextBox 23" id="23"/>
          <p:cNvSpPr txBox="true"/>
          <p:nvPr/>
        </p:nvSpPr>
        <p:spPr>
          <a:xfrm rot="0">
            <a:off x="7823031" y="2160267"/>
            <a:ext cx="3086100" cy="860425"/>
          </a:xfrm>
          <a:prstGeom prst="rect">
            <a:avLst/>
          </a:prstGeom>
        </p:spPr>
        <p:txBody>
          <a:bodyPr anchor="t" rtlCol="false" tIns="0" lIns="0" bIns="0" rIns="0">
            <a:spAutoFit/>
          </a:bodyPr>
          <a:lstStyle/>
          <a:p>
            <a:pPr algn="ctr">
              <a:lnSpc>
                <a:spcPts val="3499"/>
              </a:lnSpc>
            </a:pPr>
            <a:r>
              <a:rPr lang="en-US" sz="2499" spc="67">
                <a:solidFill>
                  <a:srgbClr val="FFFFFF"/>
                </a:solidFill>
                <a:latin typeface="Garet"/>
                <a:ea typeface="Garet"/>
                <a:cs typeface="Garet"/>
                <a:sym typeface="Garet"/>
              </a:rPr>
              <a:t>MEKENET APPLICATION</a:t>
            </a:r>
          </a:p>
        </p:txBody>
      </p:sp>
      <p:sp>
        <p:nvSpPr>
          <p:cNvPr name="TextBox 24" id="24"/>
          <p:cNvSpPr txBox="true"/>
          <p:nvPr/>
        </p:nvSpPr>
        <p:spPr>
          <a:xfrm rot="0">
            <a:off x="11394906" y="2192017"/>
            <a:ext cx="3086100" cy="422275"/>
          </a:xfrm>
          <a:prstGeom prst="rect">
            <a:avLst/>
          </a:prstGeom>
        </p:spPr>
        <p:txBody>
          <a:bodyPr anchor="t" rtlCol="false" tIns="0" lIns="0" bIns="0" rIns="0">
            <a:spAutoFit/>
          </a:bodyPr>
          <a:lstStyle/>
          <a:p>
            <a:pPr algn="ctr">
              <a:lnSpc>
                <a:spcPts val="3499"/>
              </a:lnSpc>
            </a:pPr>
            <a:r>
              <a:rPr lang="en-US" sz="2499" spc="67">
                <a:solidFill>
                  <a:srgbClr val="FFFFFF"/>
                </a:solidFill>
                <a:latin typeface="Garet"/>
                <a:ea typeface="Garet"/>
                <a:cs typeface="Garet"/>
                <a:sym typeface="Garet"/>
              </a:rPr>
              <a:t>BACKEND API</a:t>
            </a:r>
          </a:p>
        </p:txBody>
      </p:sp>
      <p:sp>
        <p:nvSpPr>
          <p:cNvPr name="TextBox 25" id="25"/>
          <p:cNvSpPr txBox="true"/>
          <p:nvPr/>
        </p:nvSpPr>
        <p:spPr>
          <a:xfrm rot="0">
            <a:off x="14966781" y="2018345"/>
            <a:ext cx="3086100" cy="1153795"/>
          </a:xfrm>
          <a:prstGeom prst="rect">
            <a:avLst/>
          </a:prstGeom>
        </p:spPr>
        <p:txBody>
          <a:bodyPr anchor="t" rtlCol="false" tIns="0" lIns="0" bIns="0" rIns="0">
            <a:spAutoFit/>
          </a:bodyPr>
          <a:lstStyle/>
          <a:p>
            <a:pPr algn="ctr">
              <a:lnSpc>
                <a:spcPts val="3080"/>
              </a:lnSpc>
            </a:pPr>
            <a:r>
              <a:rPr lang="en-US" sz="2200" spc="59">
                <a:solidFill>
                  <a:srgbClr val="FFFFFF"/>
                </a:solidFill>
                <a:latin typeface="Garet"/>
                <a:ea typeface="Garet"/>
                <a:cs typeface="Garet"/>
                <a:sym typeface="Garet"/>
              </a:rPr>
              <a:t>BANK / MICROFINANCE INSTITUTION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654544" y="2458327"/>
            <a:ext cx="9604756" cy="6534860"/>
          </a:xfrm>
          <a:prstGeom prst="rect">
            <a:avLst/>
          </a:prstGeom>
        </p:spPr>
        <p:txBody>
          <a:bodyPr anchor="t" rtlCol="false" tIns="0" lIns="0" bIns="0" rIns="0">
            <a:spAutoFit/>
          </a:bodyPr>
          <a:lstStyle/>
          <a:p>
            <a:pPr algn="l" marL="475305" indent="-237652" lvl="1">
              <a:lnSpc>
                <a:spcPts val="3236"/>
              </a:lnSpc>
              <a:buFont typeface="Arial"/>
              <a:buChar char="•"/>
            </a:pPr>
            <a:r>
              <a:rPr lang="en-US" sz="2201">
                <a:solidFill>
                  <a:srgbClr val="545454"/>
                </a:solidFill>
                <a:latin typeface="Garet"/>
                <a:ea typeface="Garet"/>
                <a:cs typeface="Garet"/>
                <a:sym typeface="Garet"/>
              </a:rPr>
              <a:t>The current MVP is designed specifically for Android devices.</a:t>
            </a:r>
          </a:p>
          <a:p>
            <a:pPr algn="l" marL="475305" indent="-237652" lvl="1">
              <a:lnSpc>
                <a:spcPts val="3236"/>
              </a:lnSpc>
              <a:buFont typeface="Arial"/>
              <a:buChar char="•"/>
            </a:pPr>
            <a:r>
              <a:rPr lang="en-US" sz="2201">
                <a:solidFill>
                  <a:srgbClr val="545454"/>
                </a:solidFill>
                <a:latin typeface="Garet"/>
                <a:ea typeface="Garet"/>
                <a:cs typeface="Garet"/>
                <a:sym typeface="Garet"/>
              </a:rPr>
              <a:t>The application currently supports Telebirr SMS, while CBE Birr integration is planned for future development.</a:t>
            </a:r>
          </a:p>
          <a:p>
            <a:pPr algn="l" marL="475305" indent="-237652" lvl="1">
              <a:lnSpc>
                <a:spcPts val="3236"/>
              </a:lnSpc>
              <a:buFont typeface="Arial"/>
              <a:buChar char="•"/>
            </a:pPr>
            <a:r>
              <a:rPr lang="en-US" sz="2201">
                <a:solidFill>
                  <a:srgbClr val="545454"/>
                </a:solidFill>
                <a:latin typeface="Garet"/>
                <a:ea typeface="Garet"/>
                <a:cs typeface="Garet"/>
                <a:sym typeface="Garet"/>
              </a:rPr>
              <a:t>Ch</a:t>
            </a:r>
            <a:r>
              <a:rPr lang="en-US" sz="2201">
                <a:solidFill>
                  <a:srgbClr val="545454"/>
                </a:solidFill>
                <a:latin typeface="Garet"/>
                <a:ea typeface="Garet"/>
                <a:cs typeface="Garet"/>
                <a:sym typeface="Garet"/>
              </a:rPr>
              <a:t>anges in Telebirr SMS formats may affect the accuracy of automatic transaction parsing.</a:t>
            </a:r>
          </a:p>
          <a:p>
            <a:pPr algn="l" marL="475305" indent="-237652" lvl="1">
              <a:lnSpc>
                <a:spcPts val="3236"/>
              </a:lnSpc>
              <a:buFont typeface="Arial"/>
              <a:buChar char="•"/>
            </a:pPr>
            <a:r>
              <a:rPr lang="en-US" sz="2201">
                <a:solidFill>
                  <a:srgbClr val="545454"/>
                </a:solidFill>
                <a:latin typeface="Garet"/>
                <a:ea typeface="Garet"/>
                <a:cs typeface="Garet"/>
                <a:sym typeface="Garet"/>
              </a:rPr>
              <a:t>Cash </a:t>
            </a:r>
            <a:r>
              <a:rPr lang="en-US" sz="2201">
                <a:solidFill>
                  <a:srgbClr val="545454"/>
                </a:solidFill>
                <a:latin typeface="Garet"/>
                <a:ea typeface="Garet"/>
                <a:cs typeface="Garet"/>
                <a:sym typeface="Garet"/>
              </a:rPr>
              <a:t>transactions cannot be detected automatically and need to be entered manually.</a:t>
            </a:r>
          </a:p>
          <a:p>
            <a:pPr algn="l" marL="475305" indent="-237652" lvl="1">
              <a:lnSpc>
                <a:spcPts val="3236"/>
              </a:lnSpc>
              <a:buFont typeface="Arial"/>
              <a:buChar char="•"/>
            </a:pPr>
            <a:r>
              <a:rPr lang="en-US" sz="2201">
                <a:solidFill>
                  <a:srgbClr val="545454"/>
                </a:solidFill>
                <a:latin typeface="Garet"/>
                <a:ea typeface="Garet"/>
                <a:cs typeface="Garet"/>
                <a:sym typeface="Garet"/>
              </a:rPr>
              <a:t>Customer debts must be added and updated manually by the user.</a:t>
            </a:r>
          </a:p>
          <a:p>
            <a:pPr algn="l" marL="475305" indent="-237652" lvl="1">
              <a:lnSpc>
                <a:spcPts val="3236"/>
              </a:lnSpc>
              <a:buFont typeface="Arial"/>
              <a:buChar char="•"/>
            </a:pPr>
            <a:r>
              <a:rPr lang="en-US" sz="2201">
                <a:solidFill>
                  <a:srgbClr val="545454"/>
                </a:solidFill>
                <a:latin typeface="Garet"/>
                <a:ea typeface="Garet"/>
                <a:cs typeface="Garet"/>
                <a:sym typeface="Garet"/>
              </a:rPr>
              <a:t>Detai</a:t>
            </a:r>
            <a:r>
              <a:rPr lang="en-US" sz="2201">
                <a:solidFill>
                  <a:srgbClr val="545454"/>
                </a:solidFill>
                <a:latin typeface="Garet"/>
                <a:ea typeface="Garet"/>
                <a:cs typeface="Garet"/>
                <a:sym typeface="Garet"/>
              </a:rPr>
              <a:t>led inventory tracking and stock alerts are not included in the current MVP.</a:t>
            </a:r>
          </a:p>
          <a:p>
            <a:pPr algn="l" marL="475305" indent="-237652" lvl="1">
              <a:lnSpc>
                <a:spcPts val="3236"/>
              </a:lnSpc>
              <a:buFont typeface="Arial"/>
              <a:buChar char="•"/>
            </a:pPr>
            <a:r>
              <a:rPr lang="en-US" sz="2201">
                <a:solidFill>
                  <a:srgbClr val="545454"/>
                </a:solidFill>
                <a:latin typeface="Garet"/>
                <a:ea typeface="Garet"/>
                <a:cs typeface="Garet"/>
                <a:sym typeface="Garet"/>
              </a:rPr>
              <a:t>Financial forecasting and AI-based advice are planned for future versions.</a:t>
            </a:r>
          </a:p>
          <a:p>
            <a:pPr algn="l" marL="475305" indent="-237652" lvl="1">
              <a:lnSpc>
                <a:spcPts val="3236"/>
              </a:lnSpc>
              <a:buFont typeface="Arial"/>
              <a:buChar char="•"/>
            </a:pPr>
            <a:r>
              <a:rPr lang="en-US" sz="2201">
                <a:solidFill>
                  <a:srgbClr val="545454"/>
                </a:solidFill>
                <a:latin typeface="Garet"/>
                <a:ea typeface="Garet"/>
                <a:cs typeface="Garet"/>
                <a:sym typeface="Garet"/>
              </a:rPr>
              <a:t>Data is stored locally by default, and synchronization only happens when the user chooses.</a:t>
            </a:r>
          </a:p>
          <a:p>
            <a:pPr algn="l">
              <a:lnSpc>
                <a:spcPts val="3236"/>
              </a:lnSpc>
            </a:pPr>
          </a:p>
        </p:txBody>
      </p:sp>
      <p:sp>
        <p:nvSpPr>
          <p:cNvPr name="AutoShape 3" id="3"/>
          <p:cNvSpPr/>
          <p:nvPr/>
        </p:nvSpPr>
        <p:spPr>
          <a:xfrm>
            <a:off x="7398906" y="9267825"/>
            <a:ext cx="9069684" cy="9525"/>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10800000">
            <a:off x="0" y="-539082"/>
            <a:ext cx="7899100" cy="10826082"/>
            <a:chOff x="0" y="0"/>
            <a:chExt cx="8064493" cy="11052761"/>
          </a:xfrm>
        </p:grpSpPr>
        <p:sp>
          <p:nvSpPr>
            <p:cNvPr name="Freeform 5" id="5"/>
            <p:cNvSpPr/>
            <p:nvPr/>
          </p:nvSpPr>
          <p:spPr>
            <a:xfrm flipH="false" flipV="true" rot="0">
              <a:off x="-119" y="-127"/>
              <a:ext cx="8064612" cy="11052887"/>
            </a:xfrm>
            <a:custGeom>
              <a:avLst/>
              <a:gdLst/>
              <a:ahLst/>
              <a:cxnLst/>
              <a:rect r="r" b="b" t="t" l="l"/>
              <a:pathLst>
                <a:path h="11052887" w="8064612">
                  <a:moveTo>
                    <a:pt x="8064612" y="38071"/>
                  </a:moveTo>
                  <a:cubicBezTo>
                    <a:pt x="8064612" y="2456"/>
                    <a:pt x="8054613" y="0"/>
                    <a:pt x="8028541" y="0"/>
                  </a:cubicBezTo>
                  <a:cubicBezTo>
                    <a:pt x="5352758" y="682"/>
                    <a:pt x="2677093" y="682"/>
                    <a:pt x="1310" y="682"/>
                  </a:cubicBezTo>
                  <a:cubicBezTo>
                    <a:pt x="-2675" y="15556"/>
                    <a:pt x="3452" y="29066"/>
                    <a:pt x="6190" y="42847"/>
                  </a:cubicBezTo>
                  <a:cubicBezTo>
                    <a:pt x="123807" y="646261"/>
                    <a:pt x="241543" y="1249539"/>
                    <a:pt x="359517" y="1852816"/>
                  </a:cubicBezTo>
                  <a:cubicBezTo>
                    <a:pt x="527728" y="2712906"/>
                    <a:pt x="696297" y="3572858"/>
                    <a:pt x="864389" y="4432948"/>
                  </a:cubicBezTo>
                  <a:cubicBezTo>
                    <a:pt x="1072004" y="5495131"/>
                    <a:pt x="1279143" y="6557314"/>
                    <a:pt x="1486639" y="7619361"/>
                  </a:cubicBezTo>
                  <a:cubicBezTo>
                    <a:pt x="1697468" y="8698328"/>
                    <a:pt x="1908417" y="9777158"/>
                    <a:pt x="2119842" y="10855989"/>
                  </a:cubicBezTo>
                  <a:cubicBezTo>
                    <a:pt x="2132699" y="10921625"/>
                    <a:pt x="2140913" y="10988762"/>
                    <a:pt x="2161746" y="11052214"/>
                  </a:cubicBezTo>
                  <a:cubicBezTo>
                    <a:pt x="4117424" y="11052214"/>
                    <a:pt x="6073102" y="11052214"/>
                    <a:pt x="8028779" y="11052887"/>
                  </a:cubicBezTo>
                  <a:cubicBezTo>
                    <a:pt x="8055327" y="11052887"/>
                    <a:pt x="8064374" y="11049212"/>
                    <a:pt x="8064374" y="11014416"/>
                  </a:cubicBezTo>
                  <a:cubicBezTo>
                    <a:pt x="8063660" y="7355589"/>
                    <a:pt x="8063660" y="3696762"/>
                    <a:pt x="8064612" y="38071"/>
                  </a:cubicBezTo>
                  <a:close/>
                </a:path>
              </a:pathLst>
            </a:custGeom>
            <a:blipFill>
              <a:blip r:embed="rId2"/>
              <a:stretch>
                <a:fillRect l="-51848" t="-1" r="-51848" b="-1"/>
              </a:stretch>
            </a:blipFill>
          </p:spPr>
        </p:sp>
      </p:grpSp>
      <p:sp>
        <p:nvSpPr>
          <p:cNvPr name="TextBox 6" id="6"/>
          <p:cNvSpPr txBox="true"/>
          <p:nvPr/>
        </p:nvSpPr>
        <p:spPr>
          <a:xfrm rot="0">
            <a:off x="8257630" y="866775"/>
            <a:ext cx="7918077" cy="937255"/>
          </a:xfrm>
          <a:prstGeom prst="rect">
            <a:avLst/>
          </a:prstGeom>
        </p:spPr>
        <p:txBody>
          <a:bodyPr anchor="t" rtlCol="false" tIns="0" lIns="0" bIns="0" rIns="0">
            <a:spAutoFit/>
          </a:bodyPr>
          <a:lstStyle/>
          <a:p>
            <a:pPr algn="l">
              <a:lnSpc>
                <a:spcPts val="7140"/>
              </a:lnSpc>
            </a:pPr>
            <a:r>
              <a:rPr lang="en-US" sz="5100">
                <a:solidFill>
                  <a:srgbClr val="444E55"/>
                </a:solidFill>
                <a:latin typeface="Horizon"/>
                <a:ea typeface="Horizon"/>
                <a:cs typeface="Horizon"/>
                <a:sym typeface="Horizon"/>
              </a:rPr>
              <a:t>LIMITATIONS</a:t>
            </a:r>
          </a:p>
        </p:txBody>
      </p:sp>
      <p:sp>
        <p:nvSpPr>
          <p:cNvPr name="TextBox 7" id="7"/>
          <p:cNvSpPr txBox="true"/>
          <p:nvPr/>
        </p:nvSpPr>
        <p:spPr>
          <a:xfrm rot="0">
            <a:off x="5809474" y="8897938"/>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15035824" y="8878888"/>
            <a:ext cx="969619" cy="644525"/>
          </a:xfrm>
          <a:prstGeom prst="rect">
            <a:avLst/>
          </a:prstGeom>
        </p:spPr>
        <p:txBody>
          <a:bodyPr anchor="t" rtlCol="false" tIns="0" lIns="0" bIns="0" rIns="0">
            <a:spAutoFit/>
          </a:bodyPr>
          <a:lstStyle/>
          <a:p>
            <a:pPr algn="l">
              <a:lnSpc>
                <a:spcPts val="4900"/>
              </a:lnSpc>
            </a:pPr>
            <a:r>
              <a:rPr lang="en-US" sz="3500">
                <a:solidFill>
                  <a:srgbClr val="FFFFFF"/>
                </a:solidFill>
                <a:latin typeface="Horizon"/>
                <a:ea typeface="Horizon"/>
                <a:cs typeface="Horizon"/>
                <a:sym typeface="Horizon"/>
              </a:rPr>
              <a:t>07</a:t>
            </a:r>
          </a:p>
        </p:txBody>
      </p:sp>
      <p:grpSp>
        <p:nvGrpSpPr>
          <p:cNvPr name="Group 4" id="4"/>
          <p:cNvGrpSpPr/>
          <p:nvPr/>
        </p:nvGrpSpPr>
        <p:grpSpPr>
          <a:xfrm rot="0">
            <a:off x="10837691" y="0"/>
            <a:ext cx="7899100" cy="10287000"/>
            <a:chOff x="0" y="0"/>
            <a:chExt cx="8064493" cy="10502391"/>
          </a:xfrm>
        </p:grpSpPr>
        <p:sp>
          <p:nvSpPr>
            <p:cNvPr name="Freeform 5" id="5"/>
            <p:cNvSpPr/>
            <p:nvPr/>
          </p:nvSpPr>
          <p:spPr>
            <a:xfrm flipH="false" flipV="false" rot="0">
              <a:off x="-119" y="-127"/>
              <a:ext cx="8064612" cy="10502518"/>
            </a:xfrm>
            <a:custGeom>
              <a:avLst/>
              <a:gdLst/>
              <a:ahLst/>
              <a:cxnLst/>
              <a:rect r="r" b="b" t="t" l="l"/>
              <a:pathLst>
                <a:path h="10502518" w="8064612">
                  <a:moveTo>
                    <a:pt x="8064612" y="10466342"/>
                  </a:moveTo>
                  <a:cubicBezTo>
                    <a:pt x="8064612" y="10500185"/>
                    <a:pt x="8054613" y="10502519"/>
                    <a:pt x="8028541" y="10502519"/>
                  </a:cubicBezTo>
                  <a:cubicBezTo>
                    <a:pt x="5352758" y="10501870"/>
                    <a:pt x="2677093" y="10501870"/>
                    <a:pt x="1310" y="10501870"/>
                  </a:cubicBezTo>
                  <a:cubicBezTo>
                    <a:pt x="-2675" y="10487737"/>
                    <a:pt x="3452" y="10474900"/>
                    <a:pt x="6190" y="10461805"/>
                  </a:cubicBezTo>
                  <a:cubicBezTo>
                    <a:pt x="123807" y="9888437"/>
                    <a:pt x="241543" y="9315200"/>
                    <a:pt x="359517" y="8741963"/>
                  </a:cubicBezTo>
                  <a:cubicBezTo>
                    <a:pt x="527728" y="7924701"/>
                    <a:pt x="696297" y="7107569"/>
                    <a:pt x="864389" y="6290307"/>
                  </a:cubicBezTo>
                  <a:cubicBezTo>
                    <a:pt x="1072004" y="5281016"/>
                    <a:pt x="1279143" y="4271724"/>
                    <a:pt x="1486639" y="3262562"/>
                  </a:cubicBezTo>
                  <a:cubicBezTo>
                    <a:pt x="1697468" y="2237321"/>
                    <a:pt x="1908417" y="1212211"/>
                    <a:pt x="2119842" y="187100"/>
                  </a:cubicBezTo>
                  <a:cubicBezTo>
                    <a:pt x="2132699" y="124733"/>
                    <a:pt x="2140913" y="60939"/>
                    <a:pt x="2161746" y="646"/>
                  </a:cubicBezTo>
                  <a:cubicBezTo>
                    <a:pt x="4117424" y="646"/>
                    <a:pt x="6073102" y="646"/>
                    <a:pt x="8028779" y="0"/>
                  </a:cubicBezTo>
                  <a:cubicBezTo>
                    <a:pt x="8055327" y="0"/>
                    <a:pt x="8064374" y="3498"/>
                    <a:pt x="8064374" y="36562"/>
                  </a:cubicBezTo>
                  <a:cubicBezTo>
                    <a:pt x="8063660" y="3513199"/>
                    <a:pt x="8063660" y="6989836"/>
                    <a:pt x="8064612" y="10466342"/>
                  </a:cubicBezTo>
                  <a:close/>
                </a:path>
              </a:pathLst>
            </a:custGeom>
            <a:blipFill>
              <a:blip r:embed="rId3"/>
              <a:stretch>
                <a:fillRect l="-15114" t="0" r="-15114" b="0"/>
              </a:stretch>
            </a:blipFill>
          </p:spPr>
        </p:sp>
      </p:grpSp>
      <p:sp>
        <p:nvSpPr>
          <p:cNvPr name="AutoShape 6" id="6"/>
          <p:cNvSpPr/>
          <p:nvPr/>
        </p:nvSpPr>
        <p:spPr>
          <a:xfrm>
            <a:off x="1767996" y="9532937"/>
            <a:ext cx="9069684" cy="9525"/>
          </a:xfrm>
          <a:prstGeom prst="line">
            <a:avLst/>
          </a:prstGeom>
          <a:ln cap="flat" w="19050">
            <a:solidFill>
              <a:srgbClr val="000000"/>
            </a:solidFill>
            <a:prstDash val="solid"/>
            <a:headEnd type="none" len="sm" w="sm"/>
            <a:tailEnd type="none" len="sm" w="sm"/>
          </a:ln>
        </p:spPr>
      </p:sp>
      <p:sp>
        <p:nvSpPr>
          <p:cNvPr name="TextBox 7" id="7"/>
          <p:cNvSpPr txBox="true"/>
          <p:nvPr/>
        </p:nvSpPr>
        <p:spPr>
          <a:xfrm rot="0">
            <a:off x="2016928" y="479110"/>
            <a:ext cx="7918077" cy="937255"/>
          </a:xfrm>
          <a:prstGeom prst="rect">
            <a:avLst/>
          </a:prstGeom>
        </p:spPr>
        <p:txBody>
          <a:bodyPr anchor="t" rtlCol="false" tIns="0" lIns="0" bIns="0" rIns="0">
            <a:spAutoFit/>
          </a:bodyPr>
          <a:lstStyle/>
          <a:p>
            <a:pPr algn="l">
              <a:lnSpc>
                <a:spcPts val="7140"/>
              </a:lnSpc>
            </a:pPr>
            <a:r>
              <a:rPr lang="en-US" sz="5100">
                <a:solidFill>
                  <a:srgbClr val="444E55"/>
                </a:solidFill>
                <a:latin typeface="Horizon"/>
                <a:ea typeface="Horizon"/>
                <a:cs typeface="Horizon"/>
                <a:sym typeface="Horizon"/>
              </a:rPr>
              <a:t>methodology</a:t>
            </a:r>
          </a:p>
        </p:txBody>
      </p:sp>
      <p:sp>
        <p:nvSpPr>
          <p:cNvPr name="TextBox 8" id="8"/>
          <p:cNvSpPr txBox="true"/>
          <p:nvPr/>
        </p:nvSpPr>
        <p:spPr>
          <a:xfrm rot="0">
            <a:off x="1028700" y="1836999"/>
            <a:ext cx="9199067" cy="7421301"/>
          </a:xfrm>
          <a:prstGeom prst="rect">
            <a:avLst/>
          </a:prstGeom>
        </p:spPr>
        <p:txBody>
          <a:bodyPr anchor="t" rtlCol="false" tIns="0" lIns="0" bIns="0" rIns="0">
            <a:spAutoFit/>
          </a:bodyPr>
          <a:lstStyle/>
          <a:p>
            <a:pPr algn="just" marL="475305" indent="-237652" lvl="1">
              <a:lnSpc>
                <a:spcPts val="3456"/>
              </a:lnSpc>
              <a:buFont typeface="Arial"/>
              <a:buChar char="•"/>
            </a:pPr>
            <a:r>
              <a:rPr lang="en-US" sz="2201">
                <a:solidFill>
                  <a:srgbClr val="545454"/>
                </a:solidFill>
                <a:latin typeface="Garet"/>
                <a:ea typeface="Garet"/>
                <a:cs typeface="Garet"/>
                <a:sym typeface="Garet"/>
              </a:rPr>
              <a:t>The project follows an Agile and iterative development approach.</a:t>
            </a:r>
          </a:p>
          <a:p>
            <a:pPr algn="just" marL="475305" indent="-237652" lvl="1">
              <a:lnSpc>
                <a:spcPts val="3456"/>
              </a:lnSpc>
              <a:buFont typeface="Arial"/>
              <a:buChar char="•"/>
            </a:pPr>
            <a:r>
              <a:rPr lang="en-US" sz="2201">
                <a:solidFill>
                  <a:srgbClr val="545454"/>
                </a:solidFill>
                <a:latin typeface="Garet"/>
                <a:ea typeface="Garet"/>
                <a:cs typeface="Garet"/>
                <a:sym typeface="Garet"/>
              </a:rPr>
              <a:t>Th</a:t>
            </a:r>
            <a:r>
              <a:rPr lang="en-US" sz="2201">
                <a:solidFill>
                  <a:srgbClr val="545454"/>
                </a:solidFill>
                <a:latin typeface="Garet"/>
                <a:ea typeface="Garet"/>
                <a:cs typeface="Garet"/>
                <a:sym typeface="Garet"/>
              </a:rPr>
              <a:t>e system is developed using a modular and offline-first architecture.</a:t>
            </a:r>
          </a:p>
          <a:p>
            <a:pPr algn="just" marL="475305" indent="-237652" lvl="1">
              <a:lnSpc>
                <a:spcPts val="3456"/>
              </a:lnSpc>
              <a:buFont typeface="Arial"/>
              <a:buChar char="•"/>
            </a:pPr>
            <a:r>
              <a:rPr lang="en-US" sz="2201">
                <a:solidFill>
                  <a:srgbClr val="545454"/>
                </a:solidFill>
                <a:latin typeface="Garet"/>
                <a:ea typeface="Garet"/>
                <a:cs typeface="Garet"/>
                <a:sym typeface="Garet"/>
              </a:rPr>
              <a:t>Development is divided among team members based on specific responsibilities.</a:t>
            </a:r>
          </a:p>
          <a:p>
            <a:pPr algn="just" marL="475305" indent="-237652" lvl="1">
              <a:lnSpc>
                <a:spcPts val="3456"/>
              </a:lnSpc>
              <a:buFont typeface="Arial"/>
              <a:buChar char="•"/>
            </a:pPr>
            <a:r>
              <a:rPr lang="en-US" sz="2201">
                <a:solidFill>
                  <a:srgbClr val="545454"/>
                </a:solidFill>
                <a:latin typeface="Garet"/>
                <a:ea typeface="Garet"/>
                <a:cs typeface="Garet"/>
                <a:sym typeface="Garet"/>
              </a:rPr>
              <a:t>The SMS parser is developed as a pure, testable function.</a:t>
            </a:r>
          </a:p>
          <a:p>
            <a:pPr algn="just" marL="475305" indent="-237652" lvl="1">
              <a:lnSpc>
                <a:spcPts val="3456"/>
              </a:lnSpc>
              <a:buFont typeface="Arial"/>
              <a:buChar char="•"/>
            </a:pPr>
            <a:r>
              <a:rPr lang="en-US" sz="2201">
                <a:solidFill>
                  <a:srgbClr val="545454"/>
                </a:solidFill>
                <a:latin typeface="Garet"/>
                <a:ea typeface="Garet"/>
                <a:cs typeface="Garet"/>
                <a:sym typeface="Garet"/>
              </a:rPr>
              <a:t>Features are tested continuously through unit, widget,</a:t>
            </a:r>
            <a:r>
              <a:rPr lang="en-US" sz="2201">
                <a:solidFill>
                  <a:srgbClr val="545454"/>
                </a:solidFill>
                <a:latin typeface="Garet"/>
                <a:ea typeface="Garet"/>
                <a:cs typeface="Garet"/>
                <a:sym typeface="Garet"/>
              </a:rPr>
              <a:t> </a:t>
            </a:r>
            <a:r>
              <a:rPr lang="en-US" sz="2201">
                <a:solidFill>
                  <a:srgbClr val="545454"/>
                </a:solidFill>
                <a:latin typeface="Garet"/>
                <a:ea typeface="Garet"/>
                <a:cs typeface="Garet"/>
                <a:sym typeface="Garet"/>
              </a:rPr>
              <a:t>and integration testing.</a:t>
            </a:r>
          </a:p>
          <a:p>
            <a:pPr algn="just" marL="475305" indent="-237652" lvl="1">
              <a:lnSpc>
                <a:spcPts val="3456"/>
              </a:lnSpc>
              <a:buFont typeface="Arial"/>
              <a:buChar char="•"/>
            </a:pPr>
            <a:r>
              <a:rPr lang="en-US" sz="2201">
                <a:solidFill>
                  <a:srgbClr val="545454"/>
                </a:solidFill>
                <a:latin typeface="Garet"/>
                <a:ea typeface="Garet"/>
                <a:cs typeface="Garet"/>
                <a:sym typeface="Garet"/>
              </a:rPr>
              <a:t>The core flow is validated on a real Android device.</a:t>
            </a:r>
          </a:p>
          <a:p>
            <a:pPr algn="just" marL="475305" indent="-237652" lvl="1">
              <a:lnSpc>
                <a:spcPts val="3456"/>
              </a:lnSpc>
              <a:buFont typeface="Arial"/>
              <a:buChar char="•"/>
            </a:pPr>
            <a:r>
              <a:rPr lang="en-US" sz="2201">
                <a:solidFill>
                  <a:srgbClr val="545454"/>
                </a:solidFill>
                <a:latin typeface="Garet"/>
                <a:ea typeface="Garet"/>
                <a:cs typeface="Garet"/>
                <a:sym typeface="Garet"/>
              </a:rPr>
              <a:t>Real, anonymized Telebirr SMS samples are used to evaluate parser accuracy.</a:t>
            </a:r>
          </a:p>
          <a:p>
            <a:pPr algn="just" marL="475305" indent="-237652" lvl="1">
              <a:lnSpc>
                <a:spcPts val="3456"/>
              </a:lnSpc>
              <a:buFont typeface="Arial"/>
              <a:buChar char="•"/>
            </a:pPr>
            <a:r>
              <a:rPr lang="en-US" sz="2201">
                <a:solidFill>
                  <a:srgbClr val="545454"/>
                </a:solidFill>
                <a:latin typeface="Garet"/>
                <a:ea typeface="Garet"/>
                <a:cs typeface="Garet"/>
                <a:sym typeface="Garet"/>
              </a:rPr>
              <a:t>The complete flow is tested from SMS → Parser → Transaction → SQLite → Financial Summary.</a:t>
            </a:r>
          </a:p>
          <a:p>
            <a:pPr algn="just" marL="475305" indent="-237652" lvl="1">
              <a:lnSpc>
                <a:spcPts val="3456"/>
              </a:lnSpc>
              <a:buFont typeface="Arial"/>
              <a:buChar char="•"/>
            </a:pPr>
            <a:r>
              <a:rPr lang="en-US" sz="2201">
                <a:solidFill>
                  <a:srgbClr val="545454"/>
                </a:solidFill>
                <a:latin typeface="Garet"/>
                <a:ea typeface="Garet"/>
                <a:cs typeface="Garet"/>
                <a:sym typeface="Garet"/>
              </a:rPr>
              <a:t>The final stage includes accuracy measurement, bug fixing, and demo evaluation.</a:t>
            </a:r>
          </a:p>
          <a:p>
            <a:pPr algn="just">
              <a:lnSpc>
                <a:spcPts val="3456"/>
              </a:lnSpc>
            </a:pPr>
          </a:p>
        </p:txBody>
      </p:sp>
      <p:sp>
        <p:nvSpPr>
          <p:cNvPr name="TextBox 9" id="9"/>
          <p:cNvSpPr txBox="true"/>
          <p:nvPr/>
        </p:nvSpPr>
        <p:spPr>
          <a:xfrm rot="0">
            <a:off x="11460142" y="9163050"/>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06</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2834176" y="8878888"/>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08</a:t>
            </a:r>
          </a:p>
        </p:txBody>
      </p:sp>
      <p:sp>
        <p:nvSpPr>
          <p:cNvPr name="AutoShape 4" id="4"/>
          <p:cNvSpPr/>
          <p:nvPr/>
        </p:nvSpPr>
        <p:spPr>
          <a:xfrm>
            <a:off x="4514763" y="9248775"/>
            <a:ext cx="11893353" cy="0"/>
          </a:xfrm>
          <a:prstGeom prst="line">
            <a:avLst/>
          </a:prstGeom>
          <a:ln cap="flat" w="19050">
            <a:solidFill>
              <a:srgbClr val="0D0D0D"/>
            </a:solidFill>
            <a:prstDash val="solid"/>
            <a:headEnd type="none" len="sm" w="sm"/>
            <a:tailEnd type="none" len="sm" w="sm"/>
          </a:ln>
        </p:spPr>
      </p:sp>
      <p:sp>
        <p:nvSpPr>
          <p:cNvPr name="TextBox 5" id="5"/>
          <p:cNvSpPr txBox="true"/>
          <p:nvPr/>
        </p:nvSpPr>
        <p:spPr>
          <a:xfrm rot="0">
            <a:off x="1588131" y="507685"/>
            <a:ext cx="13302075" cy="786124"/>
          </a:xfrm>
          <a:prstGeom prst="rect">
            <a:avLst/>
          </a:prstGeom>
        </p:spPr>
        <p:txBody>
          <a:bodyPr anchor="t" rtlCol="false" tIns="0" lIns="0" bIns="0" rIns="0">
            <a:spAutoFit/>
          </a:bodyPr>
          <a:lstStyle/>
          <a:p>
            <a:pPr algn="l">
              <a:lnSpc>
                <a:spcPts val="6020"/>
              </a:lnSpc>
            </a:pPr>
            <a:r>
              <a:rPr lang="en-US" sz="4300">
                <a:solidFill>
                  <a:srgbClr val="444E55"/>
                </a:solidFill>
                <a:latin typeface="Horizon"/>
                <a:ea typeface="Horizon"/>
                <a:cs typeface="Horizon"/>
                <a:sym typeface="Horizon"/>
              </a:rPr>
              <a:t>functional requirements</a:t>
            </a:r>
          </a:p>
        </p:txBody>
      </p:sp>
      <p:sp>
        <p:nvSpPr>
          <p:cNvPr name="TextBox 6" id="6"/>
          <p:cNvSpPr txBox="true"/>
          <p:nvPr/>
        </p:nvSpPr>
        <p:spPr>
          <a:xfrm rot="0">
            <a:off x="1588131" y="1831275"/>
            <a:ext cx="10754509" cy="6538725"/>
          </a:xfrm>
          <a:prstGeom prst="rect">
            <a:avLst/>
          </a:prstGeom>
        </p:spPr>
        <p:txBody>
          <a:bodyPr anchor="t" rtlCol="false" tIns="0" lIns="0" bIns="0" rIns="0">
            <a:spAutoFit/>
          </a:bodyPr>
          <a:lstStyle/>
          <a:p>
            <a:pPr algn="just" marL="460740" indent="-230370" lvl="1">
              <a:lnSpc>
                <a:spcPts val="3499"/>
              </a:lnSpc>
              <a:buFont typeface="Arial"/>
              <a:buChar char="•"/>
            </a:pPr>
            <a:r>
              <a:rPr lang="en-US" sz="2134">
                <a:solidFill>
                  <a:srgbClr val="545454"/>
                </a:solidFill>
                <a:latin typeface="Garet"/>
                <a:ea typeface="Garet"/>
                <a:cs typeface="Garet"/>
                <a:sym typeface="Garet"/>
              </a:rPr>
              <a:t>The system shall receive incoming Telebirr SMS messages.</a:t>
            </a:r>
          </a:p>
          <a:p>
            <a:pPr algn="just" marL="460740" indent="-230370" lvl="1">
              <a:lnSpc>
                <a:spcPts val="3499"/>
              </a:lnSpc>
              <a:buFont typeface="Arial"/>
              <a:buChar char="•"/>
            </a:pPr>
            <a:r>
              <a:rPr lang="en-US" sz="2134">
                <a:solidFill>
                  <a:srgbClr val="545454"/>
                </a:solidFill>
                <a:latin typeface="Garet"/>
                <a:ea typeface="Garet"/>
                <a:cs typeface="Garet"/>
                <a:sym typeface="Garet"/>
              </a:rPr>
              <a:t>Th</a:t>
            </a:r>
            <a:r>
              <a:rPr lang="en-US" sz="2134">
                <a:solidFill>
                  <a:srgbClr val="545454"/>
                </a:solidFill>
                <a:latin typeface="Garet"/>
                <a:ea typeface="Garet"/>
                <a:cs typeface="Garet"/>
                <a:sym typeface="Garet"/>
              </a:rPr>
              <a:t>e system shall extract transaction details such as amount, direction, and counterparty.</a:t>
            </a:r>
          </a:p>
          <a:p>
            <a:pPr algn="just" marL="460740" indent="-230370" lvl="1">
              <a:lnSpc>
                <a:spcPts val="3499"/>
              </a:lnSpc>
              <a:buFont typeface="Arial"/>
              <a:buChar char="•"/>
            </a:pPr>
            <a:r>
              <a:rPr lang="en-US" sz="2134">
                <a:solidFill>
                  <a:srgbClr val="545454"/>
                </a:solidFill>
                <a:latin typeface="Garet"/>
                <a:ea typeface="Garet"/>
                <a:cs typeface="Garet"/>
                <a:sym typeface="Garet"/>
              </a:rPr>
              <a:t>Th</a:t>
            </a:r>
            <a:r>
              <a:rPr lang="en-US" sz="2134">
                <a:solidFill>
                  <a:srgbClr val="545454"/>
                </a:solidFill>
                <a:latin typeface="Garet"/>
                <a:ea typeface="Garet"/>
                <a:cs typeface="Garet"/>
                <a:sym typeface="Garet"/>
              </a:rPr>
              <a:t>e system shall automatically record income and expenses from SMS transactions.</a:t>
            </a:r>
          </a:p>
          <a:p>
            <a:pPr algn="just" marL="460740" indent="-230370" lvl="1">
              <a:lnSpc>
                <a:spcPts val="3499"/>
              </a:lnSpc>
              <a:buFont typeface="Arial"/>
              <a:buChar char="•"/>
            </a:pPr>
            <a:r>
              <a:rPr lang="en-US" sz="2134">
                <a:solidFill>
                  <a:srgbClr val="545454"/>
                </a:solidFill>
                <a:latin typeface="Garet"/>
                <a:ea typeface="Garet"/>
                <a:cs typeface="Garet"/>
                <a:sym typeface="Garet"/>
              </a:rPr>
              <a:t>The system shall store transactions securely in the local database.</a:t>
            </a:r>
          </a:p>
          <a:p>
            <a:pPr algn="just" marL="460740" indent="-230370" lvl="1">
              <a:lnSpc>
                <a:spcPts val="3499"/>
              </a:lnSpc>
              <a:buFont typeface="Arial"/>
              <a:buChar char="•"/>
            </a:pPr>
            <a:r>
              <a:rPr lang="en-US" sz="2134">
                <a:solidFill>
                  <a:srgbClr val="545454"/>
                </a:solidFill>
                <a:latin typeface="Garet"/>
                <a:ea typeface="Garet"/>
                <a:cs typeface="Garet"/>
                <a:sym typeface="Garet"/>
              </a:rPr>
              <a:t>The system shall prevent duplicate transaction records.</a:t>
            </a:r>
          </a:p>
          <a:p>
            <a:pPr algn="just" marL="460740" indent="-230370" lvl="1">
              <a:lnSpc>
                <a:spcPts val="3499"/>
              </a:lnSpc>
              <a:buFont typeface="Arial"/>
              <a:buChar char="•"/>
            </a:pPr>
            <a:r>
              <a:rPr lang="en-US" sz="2134">
                <a:solidFill>
                  <a:srgbClr val="545454"/>
                </a:solidFill>
                <a:latin typeface="Garet"/>
                <a:ea typeface="Garet"/>
                <a:cs typeface="Garet"/>
                <a:sym typeface="Garet"/>
              </a:rPr>
              <a:t>Th</a:t>
            </a:r>
            <a:r>
              <a:rPr lang="en-US" sz="2134">
                <a:solidFill>
                  <a:srgbClr val="545454"/>
                </a:solidFill>
                <a:latin typeface="Garet"/>
                <a:ea typeface="Garet"/>
                <a:cs typeface="Garet"/>
                <a:sym typeface="Garet"/>
              </a:rPr>
              <a:t>e system shall match transaction amounts with registered items.</a:t>
            </a:r>
          </a:p>
          <a:p>
            <a:pPr algn="just" marL="460740" indent="-230370" lvl="1">
              <a:lnSpc>
                <a:spcPts val="3499"/>
              </a:lnSpc>
              <a:buFont typeface="Arial"/>
              <a:buChar char="•"/>
            </a:pPr>
            <a:r>
              <a:rPr lang="en-US" sz="2134">
                <a:solidFill>
                  <a:srgbClr val="545454"/>
                </a:solidFill>
                <a:latin typeface="Garet"/>
                <a:ea typeface="Garet"/>
                <a:cs typeface="Garet"/>
                <a:sym typeface="Garet"/>
              </a:rPr>
              <a:t>The system</a:t>
            </a:r>
            <a:r>
              <a:rPr lang="en-US" sz="2134">
                <a:solidFill>
                  <a:srgbClr val="545454"/>
                </a:solidFill>
                <a:latin typeface="Garet"/>
                <a:ea typeface="Garet"/>
                <a:cs typeface="Garet"/>
                <a:sym typeface="Garet"/>
              </a:rPr>
              <a:t> sh</a:t>
            </a:r>
            <a:r>
              <a:rPr lang="en-US" sz="2134">
                <a:solidFill>
                  <a:srgbClr val="545454"/>
                </a:solidFill>
                <a:latin typeface="Garet"/>
                <a:ea typeface="Garet"/>
                <a:cs typeface="Garet"/>
                <a:sym typeface="Garet"/>
              </a:rPr>
              <a:t>all learn from user-confirmed or corrected matches.</a:t>
            </a:r>
          </a:p>
          <a:p>
            <a:pPr algn="just" marL="460740" indent="-230370" lvl="1">
              <a:lnSpc>
                <a:spcPts val="3499"/>
              </a:lnSpc>
              <a:buFont typeface="Arial"/>
              <a:buChar char="•"/>
            </a:pPr>
            <a:r>
              <a:rPr lang="en-US" sz="2134">
                <a:solidFill>
                  <a:srgbClr val="545454"/>
                </a:solidFill>
                <a:latin typeface="Garet"/>
                <a:ea typeface="Garet"/>
                <a:cs typeface="Garet"/>
                <a:sym typeface="Garet"/>
              </a:rPr>
              <a:t>The system shall allow users to manually add cash expenses.</a:t>
            </a:r>
          </a:p>
          <a:p>
            <a:pPr algn="just" marL="460740" indent="-230370" lvl="1">
              <a:lnSpc>
                <a:spcPts val="3499"/>
              </a:lnSpc>
              <a:buFont typeface="Arial"/>
              <a:buChar char="•"/>
            </a:pPr>
            <a:r>
              <a:rPr lang="en-US" sz="2134">
                <a:solidFill>
                  <a:srgbClr val="545454"/>
                </a:solidFill>
                <a:latin typeface="Garet"/>
                <a:ea typeface="Garet"/>
                <a:cs typeface="Garet"/>
                <a:sym typeface="Garet"/>
              </a:rPr>
              <a:t>Th</a:t>
            </a:r>
            <a:r>
              <a:rPr lang="en-US" sz="2134">
                <a:solidFill>
                  <a:srgbClr val="545454"/>
                </a:solidFill>
                <a:latin typeface="Garet"/>
                <a:ea typeface="Garet"/>
                <a:cs typeface="Garet"/>
                <a:sym typeface="Garet"/>
              </a:rPr>
              <a:t>e system shall allow users to add and manage customer debts.</a:t>
            </a:r>
          </a:p>
          <a:p>
            <a:pPr algn="just" marL="460740" indent="-230370" lvl="1">
              <a:lnSpc>
                <a:spcPts val="3499"/>
              </a:lnSpc>
              <a:buFont typeface="Arial"/>
              <a:buChar char="•"/>
            </a:pPr>
            <a:r>
              <a:rPr lang="en-US" sz="2134">
                <a:solidFill>
                  <a:srgbClr val="545454"/>
                </a:solidFill>
                <a:latin typeface="Garet"/>
                <a:ea typeface="Garet"/>
                <a:cs typeface="Garet"/>
                <a:sym typeface="Garet"/>
              </a:rPr>
              <a:t>The system shall display daily, weekly, and monthly financial summaries.</a:t>
            </a:r>
          </a:p>
          <a:p>
            <a:pPr algn="just" marL="460740" indent="-230370" lvl="1">
              <a:lnSpc>
                <a:spcPts val="3499"/>
              </a:lnSpc>
              <a:buFont typeface="Arial"/>
              <a:buChar char="•"/>
            </a:pPr>
            <a:r>
              <a:rPr lang="en-US" sz="2134">
                <a:solidFill>
                  <a:srgbClr val="545454"/>
                </a:solidFill>
                <a:latin typeface="Garet"/>
                <a:ea typeface="Garet"/>
                <a:cs typeface="Garet"/>
                <a:sym typeface="Garet"/>
              </a:rPr>
              <a:t>The system shall allow users to export or synchronize their records when requested.</a:t>
            </a:r>
          </a:p>
          <a:p>
            <a:pPr algn="just">
              <a:lnSpc>
                <a:spcPts val="349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3727053" y="9248775"/>
            <a:ext cx="10270277" cy="0"/>
          </a:xfrm>
          <a:prstGeom prst="line">
            <a:avLst/>
          </a:prstGeom>
          <a:ln cap="flat" w="19050">
            <a:solidFill>
              <a:srgbClr val="0D0D0D"/>
            </a:solidFill>
            <a:prstDash val="solid"/>
            <a:headEnd type="none" len="sm" w="sm"/>
            <a:tailEnd type="none" len="sm" w="sm"/>
          </a:ln>
        </p:spPr>
      </p:sp>
      <p:sp>
        <p:nvSpPr>
          <p:cNvPr name="TextBox 4" id="4"/>
          <p:cNvSpPr txBox="true"/>
          <p:nvPr/>
        </p:nvSpPr>
        <p:spPr>
          <a:xfrm rot="0">
            <a:off x="15093051" y="8830469"/>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09</a:t>
            </a:r>
          </a:p>
        </p:txBody>
      </p:sp>
      <p:sp>
        <p:nvSpPr>
          <p:cNvPr name="TextBox 5" id="5"/>
          <p:cNvSpPr txBox="true"/>
          <p:nvPr/>
        </p:nvSpPr>
        <p:spPr>
          <a:xfrm rot="0">
            <a:off x="1028700" y="478672"/>
            <a:ext cx="15243587" cy="1903725"/>
          </a:xfrm>
          <a:prstGeom prst="rect">
            <a:avLst/>
          </a:prstGeom>
        </p:spPr>
        <p:txBody>
          <a:bodyPr anchor="t" rtlCol="false" tIns="0" lIns="0" bIns="0" rIns="0">
            <a:spAutoFit/>
          </a:bodyPr>
          <a:lstStyle/>
          <a:p>
            <a:pPr algn="l">
              <a:lnSpc>
                <a:spcPts val="7420"/>
              </a:lnSpc>
            </a:pPr>
            <a:r>
              <a:rPr lang="en-US" sz="5300">
                <a:solidFill>
                  <a:srgbClr val="444E55"/>
                </a:solidFill>
                <a:latin typeface="Horizon"/>
                <a:ea typeface="Horizon"/>
                <a:cs typeface="Horizon"/>
                <a:sym typeface="Horizon"/>
              </a:rPr>
              <a:t>non-functional requirements</a:t>
            </a:r>
          </a:p>
        </p:txBody>
      </p:sp>
      <p:sp>
        <p:nvSpPr>
          <p:cNvPr name="TextBox 6" id="6"/>
          <p:cNvSpPr txBox="true"/>
          <p:nvPr/>
        </p:nvSpPr>
        <p:spPr>
          <a:xfrm rot="0">
            <a:off x="1028700" y="3043956"/>
            <a:ext cx="14064351" cy="5661169"/>
          </a:xfrm>
          <a:prstGeom prst="rect">
            <a:avLst/>
          </a:prstGeom>
        </p:spPr>
        <p:txBody>
          <a:bodyPr anchor="t" rtlCol="false" tIns="0" lIns="0" bIns="0" rIns="0">
            <a:spAutoFit/>
          </a:bodyPr>
          <a:lstStyle/>
          <a:p>
            <a:pPr algn="just" marL="503919" indent="-251959" lvl="1">
              <a:lnSpc>
                <a:spcPts val="4574"/>
              </a:lnSpc>
              <a:buFont typeface="Arial"/>
              <a:buChar char="•"/>
            </a:pPr>
            <a:r>
              <a:rPr lang="en-US" sz="2334">
                <a:solidFill>
                  <a:srgbClr val="F3F3F3"/>
                </a:solidFill>
                <a:latin typeface="Garet"/>
                <a:ea typeface="Garet"/>
                <a:cs typeface="Garet"/>
                <a:sym typeface="Garet"/>
              </a:rPr>
              <a:t>The application must protect financial data using encrypted local storage.</a:t>
            </a:r>
          </a:p>
          <a:p>
            <a:pPr algn="just" marL="503919" indent="-251959" lvl="1">
              <a:lnSpc>
                <a:spcPts val="4574"/>
              </a:lnSpc>
              <a:buFont typeface="Arial"/>
              <a:buChar char="•"/>
            </a:pPr>
            <a:r>
              <a:rPr lang="en-US" sz="2334">
                <a:solidFill>
                  <a:srgbClr val="F3F3F3"/>
                </a:solidFill>
                <a:latin typeface="Garet"/>
                <a:ea typeface="Garet"/>
                <a:cs typeface="Garet"/>
                <a:sym typeface="Garet"/>
              </a:rPr>
              <a:t>Th</a:t>
            </a:r>
            <a:r>
              <a:rPr lang="en-US" sz="2334">
                <a:solidFill>
                  <a:srgbClr val="F3F3F3"/>
                </a:solidFill>
                <a:latin typeface="Garet"/>
                <a:ea typeface="Garet"/>
                <a:cs typeface="Garet"/>
                <a:sym typeface="Garet"/>
              </a:rPr>
              <a:t>e application must keep raw SMS content private and must not transmit it.</a:t>
            </a:r>
          </a:p>
          <a:p>
            <a:pPr algn="just" marL="503919" indent="-251959" lvl="1">
              <a:lnSpc>
                <a:spcPts val="4574"/>
              </a:lnSpc>
              <a:buFont typeface="Arial"/>
              <a:buChar char="•"/>
            </a:pPr>
            <a:r>
              <a:rPr lang="en-US" sz="2334">
                <a:solidFill>
                  <a:srgbClr val="F3F3F3"/>
                </a:solidFill>
                <a:latin typeface="Garet"/>
                <a:ea typeface="Garet"/>
                <a:cs typeface="Garet"/>
                <a:sym typeface="Garet"/>
              </a:rPr>
              <a:t>Th</a:t>
            </a:r>
            <a:r>
              <a:rPr lang="en-US" sz="2334">
                <a:solidFill>
                  <a:srgbClr val="F3F3F3"/>
                </a:solidFill>
                <a:latin typeface="Garet"/>
                <a:ea typeface="Garet"/>
                <a:cs typeface="Garet"/>
                <a:sym typeface="Garet"/>
              </a:rPr>
              <a:t>e core features must work without an internet connection.</a:t>
            </a:r>
          </a:p>
          <a:p>
            <a:pPr algn="just" marL="503919" indent="-251959" lvl="1">
              <a:lnSpc>
                <a:spcPts val="4574"/>
              </a:lnSpc>
              <a:buFont typeface="Arial"/>
              <a:buChar char="•"/>
            </a:pPr>
            <a:r>
              <a:rPr lang="en-US" sz="2334">
                <a:solidFill>
                  <a:srgbClr val="F3F3F3"/>
                </a:solidFill>
                <a:latin typeface="Garet"/>
                <a:ea typeface="Garet"/>
                <a:cs typeface="Garet"/>
                <a:sym typeface="Garet"/>
              </a:rPr>
              <a:t>The application should run efficiently on low-end Android devices.</a:t>
            </a:r>
          </a:p>
          <a:p>
            <a:pPr algn="just" marL="503919" indent="-251959" lvl="1">
              <a:lnSpc>
                <a:spcPts val="4574"/>
              </a:lnSpc>
              <a:buFont typeface="Arial"/>
              <a:buChar char="•"/>
            </a:pPr>
            <a:r>
              <a:rPr lang="en-US" sz="2334">
                <a:solidFill>
                  <a:srgbClr val="F3F3F3"/>
                </a:solidFill>
                <a:latin typeface="Garet"/>
                <a:ea typeface="Garet"/>
                <a:cs typeface="Garet"/>
                <a:sym typeface="Garet"/>
              </a:rPr>
              <a:t>The system should process transactions quickly and update the financial view without unnecessary delays.</a:t>
            </a:r>
          </a:p>
          <a:p>
            <a:pPr algn="just" marL="503919" indent="-251959" lvl="1">
              <a:lnSpc>
                <a:spcPts val="4574"/>
              </a:lnSpc>
              <a:buFont typeface="Arial"/>
              <a:buChar char="•"/>
            </a:pPr>
            <a:r>
              <a:rPr lang="en-US" sz="2334">
                <a:solidFill>
                  <a:srgbClr val="F3F3F3"/>
                </a:solidFill>
                <a:latin typeface="Garet"/>
                <a:ea typeface="Garet"/>
                <a:cs typeface="Garet"/>
                <a:sym typeface="Garet"/>
              </a:rPr>
              <a:t>The application</a:t>
            </a:r>
            <a:r>
              <a:rPr lang="en-US" sz="2334">
                <a:solidFill>
                  <a:srgbClr val="F3F3F3"/>
                </a:solidFill>
                <a:latin typeface="Garet"/>
                <a:ea typeface="Garet"/>
                <a:cs typeface="Garet"/>
                <a:sym typeface="Garet"/>
              </a:rPr>
              <a:t> must h</a:t>
            </a:r>
            <a:r>
              <a:rPr lang="en-US" sz="2334">
                <a:solidFill>
                  <a:srgbClr val="F3F3F3"/>
                </a:solidFill>
                <a:latin typeface="Garet"/>
                <a:ea typeface="Garet"/>
                <a:cs typeface="Garet"/>
                <a:sym typeface="Garet"/>
              </a:rPr>
              <a:t>andle unrecognized SMS formats gracefully without crashing.</a:t>
            </a:r>
          </a:p>
          <a:p>
            <a:pPr algn="just" marL="503919" indent="-251959" lvl="1">
              <a:lnSpc>
                <a:spcPts val="4574"/>
              </a:lnSpc>
              <a:buFont typeface="Arial"/>
              <a:buChar char="•"/>
            </a:pPr>
            <a:r>
              <a:rPr lang="en-US" sz="2334">
                <a:solidFill>
                  <a:srgbClr val="F3F3F3"/>
                </a:solidFill>
                <a:latin typeface="Garet"/>
                <a:ea typeface="Garet"/>
                <a:cs typeface="Garet"/>
                <a:sym typeface="Garet"/>
              </a:rPr>
              <a:t>Th</a:t>
            </a:r>
            <a:r>
              <a:rPr lang="en-US" sz="2334">
                <a:solidFill>
                  <a:srgbClr val="F3F3F3"/>
                </a:solidFill>
                <a:latin typeface="Garet"/>
                <a:ea typeface="Garet"/>
                <a:cs typeface="Garet"/>
                <a:sym typeface="Garet"/>
              </a:rPr>
              <a:t>e parser should achieve a target accurac</a:t>
            </a:r>
            <a:r>
              <a:rPr lang="en-US" sz="2334">
                <a:solidFill>
                  <a:srgbClr val="F3F3F3"/>
                </a:solidFill>
                <a:latin typeface="Garet"/>
                <a:ea typeface="Garet"/>
                <a:cs typeface="Garet"/>
                <a:sym typeface="Garet"/>
              </a:rPr>
              <a:t>y of at least 90%.</a:t>
            </a:r>
          </a:p>
          <a:p>
            <a:pPr algn="just" marL="503919" indent="-251959" lvl="1">
              <a:lnSpc>
                <a:spcPts val="4574"/>
              </a:lnSpc>
              <a:buFont typeface="Arial"/>
              <a:buChar char="•"/>
            </a:pPr>
            <a:r>
              <a:rPr lang="en-US" sz="2334">
                <a:solidFill>
                  <a:srgbClr val="F3F3F3"/>
                </a:solidFill>
                <a:latin typeface="Garet"/>
                <a:ea typeface="Garet"/>
                <a:cs typeface="Garet"/>
                <a:sym typeface="Garet"/>
              </a:rPr>
              <a:t>Data synchronization must occur only when explicitly requested by the user.</a:t>
            </a:r>
          </a:p>
          <a:p>
            <a:pPr algn="just">
              <a:lnSpc>
                <a:spcPts val="457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7989A"/>
        </a:solidFill>
      </p:bgPr>
    </p:bg>
    <p:spTree>
      <p:nvGrpSpPr>
        <p:cNvPr id="1" name=""/>
        <p:cNvGrpSpPr/>
        <p:nvPr/>
      </p:nvGrpSpPr>
      <p:grpSpPr>
        <a:xfrm>
          <a:off x="0" y="0"/>
          <a:ext cx="0" cy="0"/>
          <a:chOff x="0" y="0"/>
          <a:chExt cx="0" cy="0"/>
        </a:xfrm>
      </p:grpSpPr>
      <p:sp>
        <p:nvSpPr>
          <p:cNvPr name="TextBox 2" id="2"/>
          <p:cNvSpPr txBox="true"/>
          <p:nvPr/>
        </p:nvSpPr>
        <p:spPr>
          <a:xfrm rot="0">
            <a:off x="6972161" y="311375"/>
            <a:ext cx="9970496" cy="1680844"/>
          </a:xfrm>
          <a:prstGeom prst="rect">
            <a:avLst/>
          </a:prstGeom>
        </p:spPr>
        <p:txBody>
          <a:bodyPr anchor="t" rtlCol="false" tIns="0" lIns="0" bIns="0" rIns="0">
            <a:spAutoFit/>
          </a:bodyPr>
          <a:lstStyle/>
          <a:p>
            <a:pPr algn="ctr">
              <a:lnSpc>
                <a:spcPts val="6580"/>
              </a:lnSpc>
            </a:pPr>
            <a:r>
              <a:rPr lang="en-US" sz="4700">
                <a:solidFill>
                  <a:srgbClr val="444E55"/>
                </a:solidFill>
                <a:latin typeface="Horizon"/>
                <a:ea typeface="Horizon"/>
                <a:cs typeface="Horizon"/>
                <a:sym typeface="Horizon"/>
              </a:rPr>
              <a:t>testing and evaluation</a:t>
            </a:r>
          </a:p>
        </p:txBody>
      </p:sp>
      <p:sp>
        <p:nvSpPr>
          <p:cNvPr name="TextBox 3" id="3"/>
          <p:cNvSpPr txBox="true"/>
          <p:nvPr/>
        </p:nvSpPr>
        <p:spPr>
          <a:xfrm rot="0">
            <a:off x="8075639" y="2756434"/>
            <a:ext cx="8557132" cy="5987391"/>
          </a:xfrm>
          <a:prstGeom prst="rect">
            <a:avLst/>
          </a:prstGeom>
        </p:spPr>
        <p:txBody>
          <a:bodyPr anchor="t" rtlCol="false" tIns="0" lIns="0" bIns="0" rIns="0">
            <a:spAutoFit/>
          </a:bodyPr>
          <a:lstStyle/>
          <a:p>
            <a:pPr algn="just" marL="503919" indent="-251959" lvl="1">
              <a:lnSpc>
                <a:spcPts val="3431"/>
              </a:lnSpc>
              <a:buFont typeface="Arial"/>
              <a:buChar char="•"/>
            </a:pPr>
            <a:r>
              <a:rPr lang="en-US" sz="2334">
                <a:solidFill>
                  <a:srgbClr val="545454"/>
                </a:solidFill>
                <a:latin typeface="Garet"/>
                <a:ea typeface="Garet"/>
                <a:cs typeface="Garet"/>
                <a:sym typeface="Garet"/>
              </a:rPr>
              <a:t>Unit testing is used to test individual components such as the parser and matcher.</a:t>
            </a:r>
          </a:p>
          <a:p>
            <a:pPr algn="just" marL="503919" indent="-251959" lvl="1">
              <a:lnSpc>
                <a:spcPts val="3431"/>
              </a:lnSpc>
              <a:buFont typeface="Arial"/>
              <a:buChar char="•"/>
            </a:pPr>
            <a:r>
              <a:rPr lang="en-US" sz="2334">
                <a:solidFill>
                  <a:srgbClr val="545454"/>
                </a:solidFill>
                <a:latin typeface="Garet"/>
                <a:ea typeface="Garet"/>
                <a:cs typeface="Garet"/>
                <a:sym typeface="Garet"/>
              </a:rPr>
              <a:t>Widget testing is used to verify th</a:t>
            </a:r>
            <a:r>
              <a:rPr lang="en-US" sz="2334">
                <a:solidFill>
                  <a:srgbClr val="545454"/>
                </a:solidFill>
                <a:latin typeface="Garet"/>
                <a:ea typeface="Garet"/>
                <a:cs typeface="Garet"/>
                <a:sym typeface="Garet"/>
              </a:rPr>
              <a:t>e application's user interface.</a:t>
            </a:r>
          </a:p>
          <a:p>
            <a:pPr algn="just" marL="503919" indent="-251959" lvl="1">
              <a:lnSpc>
                <a:spcPts val="3431"/>
              </a:lnSpc>
              <a:buFont typeface="Arial"/>
              <a:buChar char="•"/>
            </a:pPr>
            <a:r>
              <a:rPr lang="en-US" sz="2334">
                <a:solidFill>
                  <a:srgbClr val="545454"/>
                </a:solidFill>
                <a:latin typeface="Garet"/>
                <a:ea typeface="Garet"/>
                <a:cs typeface="Garet"/>
                <a:sym typeface="Garet"/>
              </a:rPr>
              <a:t>Integration testing checks t</a:t>
            </a:r>
            <a:r>
              <a:rPr lang="en-US" sz="2334">
                <a:solidFill>
                  <a:srgbClr val="545454"/>
                </a:solidFill>
                <a:latin typeface="Garet"/>
                <a:ea typeface="Garet"/>
                <a:cs typeface="Garet"/>
                <a:sym typeface="Garet"/>
              </a:rPr>
              <a:t>h</a:t>
            </a:r>
            <a:r>
              <a:rPr lang="en-US" sz="2334">
                <a:solidFill>
                  <a:srgbClr val="545454"/>
                </a:solidFill>
                <a:latin typeface="Garet"/>
                <a:ea typeface="Garet"/>
                <a:cs typeface="Garet"/>
                <a:sym typeface="Garet"/>
              </a:rPr>
              <a:t>e complete system workflow.</a:t>
            </a:r>
          </a:p>
          <a:p>
            <a:pPr algn="just" marL="503919" indent="-251959" lvl="1">
              <a:lnSpc>
                <a:spcPts val="3431"/>
              </a:lnSpc>
              <a:buFont typeface="Arial"/>
              <a:buChar char="•"/>
            </a:pPr>
            <a:r>
              <a:rPr lang="en-US" sz="2334">
                <a:solidFill>
                  <a:srgbClr val="545454"/>
                </a:solidFill>
                <a:latin typeface="Garet"/>
                <a:ea typeface="Garet"/>
                <a:cs typeface="Garet"/>
                <a:sym typeface="Garet"/>
              </a:rPr>
              <a:t>Real Android devices are used to test SMS processing and application behavior.</a:t>
            </a:r>
          </a:p>
          <a:p>
            <a:pPr algn="just" marL="503919" indent="-251959" lvl="1">
              <a:lnSpc>
                <a:spcPts val="3431"/>
              </a:lnSpc>
              <a:buFont typeface="Arial"/>
              <a:buChar char="•"/>
            </a:pPr>
            <a:r>
              <a:rPr lang="en-US" sz="2334">
                <a:solidFill>
                  <a:srgbClr val="545454"/>
                </a:solidFill>
                <a:latin typeface="Garet"/>
                <a:ea typeface="Garet"/>
                <a:cs typeface="Garet"/>
                <a:sym typeface="Garet"/>
              </a:rPr>
              <a:t>The system is tested through the complete flow: SMS → Parser → Transaction → SQLite → Financial Summary.</a:t>
            </a:r>
          </a:p>
          <a:p>
            <a:pPr algn="just" marL="503919" indent="-251959" lvl="1">
              <a:lnSpc>
                <a:spcPts val="3431"/>
              </a:lnSpc>
              <a:buFont typeface="Arial"/>
              <a:buChar char="•"/>
            </a:pPr>
            <a:r>
              <a:rPr lang="en-US" sz="2334">
                <a:solidFill>
                  <a:srgbClr val="545454"/>
                </a:solidFill>
                <a:latin typeface="Garet"/>
                <a:ea typeface="Garet"/>
                <a:cs typeface="Garet"/>
                <a:sym typeface="Garet"/>
              </a:rPr>
              <a:t>Testing</a:t>
            </a:r>
            <a:r>
              <a:rPr lang="en-US" sz="2334">
                <a:solidFill>
                  <a:srgbClr val="545454"/>
                </a:solidFill>
                <a:latin typeface="Garet"/>
                <a:ea typeface="Garet"/>
                <a:cs typeface="Garet"/>
                <a:sym typeface="Garet"/>
              </a:rPr>
              <a:t> also i</a:t>
            </a:r>
            <a:r>
              <a:rPr lang="en-US" sz="2334">
                <a:solidFill>
                  <a:srgbClr val="545454"/>
                </a:solidFill>
                <a:latin typeface="Garet"/>
                <a:ea typeface="Garet"/>
                <a:cs typeface="Garet"/>
                <a:sym typeface="Garet"/>
              </a:rPr>
              <a:t>dentifies unsupported SMS formats and potentia</a:t>
            </a:r>
            <a:r>
              <a:rPr lang="en-US" sz="2334">
                <a:solidFill>
                  <a:srgbClr val="545454"/>
                </a:solidFill>
                <a:latin typeface="Garet"/>
                <a:ea typeface="Garet"/>
                <a:cs typeface="Garet"/>
                <a:sym typeface="Garet"/>
              </a:rPr>
              <a:t>l system failures.</a:t>
            </a:r>
          </a:p>
          <a:p>
            <a:pPr algn="just">
              <a:lnSpc>
                <a:spcPts val="3431"/>
              </a:lnSpc>
            </a:pPr>
          </a:p>
        </p:txBody>
      </p:sp>
      <p:grpSp>
        <p:nvGrpSpPr>
          <p:cNvPr name="Group 4" id="4"/>
          <p:cNvGrpSpPr/>
          <p:nvPr/>
        </p:nvGrpSpPr>
        <p:grpSpPr>
          <a:xfrm rot="0">
            <a:off x="0" y="0"/>
            <a:ext cx="7683205" cy="10287000"/>
            <a:chOff x="0" y="0"/>
            <a:chExt cx="812800" cy="1088253"/>
          </a:xfrm>
        </p:grpSpPr>
        <p:sp>
          <p:nvSpPr>
            <p:cNvPr name="Freeform 5" id="5"/>
            <p:cNvSpPr/>
            <p:nvPr/>
          </p:nvSpPr>
          <p:spPr>
            <a:xfrm flipH="false" flipV="false" rot="0">
              <a:off x="0" y="0"/>
              <a:ext cx="812800" cy="1088253"/>
            </a:xfrm>
            <a:custGeom>
              <a:avLst/>
              <a:gdLst/>
              <a:ahLst/>
              <a:cxnLst/>
              <a:rect r="r" b="b" t="t" l="l"/>
              <a:pathLst>
                <a:path h="1088253" w="812800">
                  <a:moveTo>
                    <a:pt x="0" y="0"/>
                  </a:moveTo>
                  <a:lnTo>
                    <a:pt x="812800" y="0"/>
                  </a:lnTo>
                  <a:lnTo>
                    <a:pt x="812800" y="1088253"/>
                  </a:lnTo>
                  <a:lnTo>
                    <a:pt x="0" y="1088253"/>
                  </a:lnTo>
                  <a:close/>
                </a:path>
              </a:pathLst>
            </a:custGeom>
            <a:blipFill>
              <a:blip r:embed="rId2"/>
              <a:stretch>
                <a:fillRect l="-10080" t="0" r="-10080" b="0"/>
              </a:stretch>
            </a:blipFill>
          </p:spPr>
        </p:sp>
      </p:grpSp>
      <p:sp>
        <p:nvSpPr>
          <p:cNvPr name="TextBox 6" id="6"/>
          <p:cNvSpPr txBox="true"/>
          <p:nvPr/>
        </p:nvSpPr>
        <p:spPr>
          <a:xfrm rot="0">
            <a:off x="2583727" y="8878888"/>
            <a:ext cx="969619" cy="644525"/>
          </a:xfrm>
          <a:prstGeom prst="rect">
            <a:avLst/>
          </a:prstGeom>
        </p:spPr>
        <p:txBody>
          <a:bodyPr anchor="t" rtlCol="false" tIns="0" lIns="0" bIns="0" rIns="0">
            <a:spAutoFit/>
          </a:bodyPr>
          <a:lstStyle/>
          <a:p>
            <a:pPr algn="l">
              <a:lnSpc>
                <a:spcPts val="4900"/>
              </a:lnSpc>
            </a:pPr>
            <a:r>
              <a:rPr lang="en-US" sz="3500">
                <a:solidFill>
                  <a:srgbClr val="FFFFFF"/>
                </a:solidFill>
                <a:latin typeface="Horizon"/>
                <a:ea typeface="Horizon"/>
                <a:cs typeface="Horizon"/>
                <a:sym typeface="Horizon"/>
              </a:rPr>
              <a:t>10</a:t>
            </a:r>
          </a:p>
        </p:txBody>
      </p:sp>
      <p:sp>
        <p:nvSpPr>
          <p:cNvPr name="AutoShape 7" id="7"/>
          <p:cNvSpPr/>
          <p:nvPr/>
        </p:nvSpPr>
        <p:spPr>
          <a:xfrm>
            <a:off x="4313976" y="9267825"/>
            <a:ext cx="10270277"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a:off x="1464656" y="9577056"/>
            <a:ext cx="8087264" cy="0"/>
          </a:xfrm>
          <a:prstGeom prst="line">
            <a:avLst/>
          </a:prstGeom>
          <a:ln cap="flat" w="19050">
            <a:solidFill>
              <a:srgbClr val="0D0D0D"/>
            </a:solidFill>
            <a:prstDash val="solid"/>
            <a:headEnd type="none" len="sm" w="sm"/>
            <a:tailEnd type="none" len="sm" w="sm"/>
          </a:ln>
        </p:spPr>
      </p:sp>
      <p:grpSp>
        <p:nvGrpSpPr>
          <p:cNvPr name="Group 4" id="4"/>
          <p:cNvGrpSpPr/>
          <p:nvPr/>
        </p:nvGrpSpPr>
        <p:grpSpPr>
          <a:xfrm rot="0">
            <a:off x="11259508" y="0"/>
            <a:ext cx="7028492" cy="10287000"/>
            <a:chOff x="0" y="0"/>
            <a:chExt cx="1088897" cy="1593725"/>
          </a:xfrm>
        </p:grpSpPr>
        <p:sp>
          <p:nvSpPr>
            <p:cNvPr name="Freeform 5" id="5"/>
            <p:cNvSpPr/>
            <p:nvPr/>
          </p:nvSpPr>
          <p:spPr>
            <a:xfrm flipH="false" flipV="false" rot="0">
              <a:off x="0" y="0"/>
              <a:ext cx="1088897" cy="1593725"/>
            </a:xfrm>
            <a:custGeom>
              <a:avLst/>
              <a:gdLst/>
              <a:ahLst/>
              <a:cxnLst/>
              <a:rect r="r" b="b" t="t" l="l"/>
              <a:pathLst>
                <a:path h="1593725" w="1088897">
                  <a:moveTo>
                    <a:pt x="0" y="0"/>
                  </a:moveTo>
                  <a:lnTo>
                    <a:pt x="1088897" y="0"/>
                  </a:lnTo>
                  <a:lnTo>
                    <a:pt x="1088897" y="1593725"/>
                  </a:lnTo>
                  <a:lnTo>
                    <a:pt x="0" y="1593725"/>
                  </a:lnTo>
                  <a:close/>
                </a:path>
              </a:pathLst>
            </a:custGeom>
            <a:blipFill>
              <a:blip r:embed="rId3"/>
              <a:stretch>
                <a:fillRect l="-4671" t="0" r="-4671" b="0"/>
              </a:stretch>
            </a:blipFill>
          </p:spPr>
        </p:sp>
      </p:grpSp>
      <p:sp>
        <p:nvSpPr>
          <p:cNvPr name="TextBox 6" id="6"/>
          <p:cNvSpPr txBox="true"/>
          <p:nvPr/>
        </p:nvSpPr>
        <p:spPr>
          <a:xfrm rot="0">
            <a:off x="518778" y="352459"/>
            <a:ext cx="8826092" cy="1832229"/>
          </a:xfrm>
          <a:prstGeom prst="rect">
            <a:avLst/>
          </a:prstGeom>
        </p:spPr>
        <p:txBody>
          <a:bodyPr anchor="t" rtlCol="false" tIns="0" lIns="0" bIns="0" rIns="0">
            <a:spAutoFit/>
          </a:bodyPr>
          <a:lstStyle/>
          <a:p>
            <a:pPr algn="ctr">
              <a:lnSpc>
                <a:spcPts val="6903"/>
              </a:lnSpc>
            </a:pPr>
            <a:r>
              <a:rPr lang="en-US" sz="5900">
                <a:solidFill>
                  <a:srgbClr val="444E55"/>
                </a:solidFill>
                <a:latin typeface="Horizon"/>
                <a:ea typeface="Horizon"/>
                <a:cs typeface="Horizon"/>
                <a:sym typeface="Horizon"/>
              </a:rPr>
              <a:t>future enhancment</a:t>
            </a:r>
          </a:p>
        </p:txBody>
      </p:sp>
      <p:sp>
        <p:nvSpPr>
          <p:cNvPr name="TextBox 7" id="7"/>
          <p:cNvSpPr txBox="true"/>
          <p:nvPr/>
        </p:nvSpPr>
        <p:spPr>
          <a:xfrm rot="0">
            <a:off x="825856" y="2555183"/>
            <a:ext cx="8726064" cy="6275473"/>
          </a:xfrm>
          <a:prstGeom prst="rect">
            <a:avLst/>
          </a:prstGeom>
        </p:spPr>
        <p:txBody>
          <a:bodyPr anchor="t" rtlCol="false" tIns="0" lIns="0" bIns="0" rIns="0">
            <a:spAutoFit/>
          </a:bodyPr>
          <a:lstStyle/>
          <a:p>
            <a:pPr algn="just" marL="503919" indent="-251959" lvl="1">
              <a:lnSpc>
                <a:spcPts val="3337"/>
              </a:lnSpc>
              <a:buFont typeface="Arial"/>
              <a:buChar char="•"/>
            </a:pPr>
            <a:r>
              <a:rPr lang="en-US" sz="2334">
                <a:solidFill>
                  <a:srgbClr val="2F2D2A"/>
                </a:solidFill>
                <a:latin typeface="Garet"/>
                <a:ea typeface="Garet"/>
                <a:cs typeface="Garet"/>
                <a:sym typeface="Garet"/>
              </a:rPr>
              <a:t>Support CBE Birr and other mobile-money payment platforms.</a:t>
            </a:r>
          </a:p>
          <a:p>
            <a:pPr algn="just" marL="503919" indent="-251959" lvl="1">
              <a:lnSpc>
                <a:spcPts val="3337"/>
              </a:lnSpc>
              <a:buFont typeface="Arial"/>
              <a:buChar char="•"/>
            </a:pPr>
            <a:r>
              <a:rPr lang="en-US" sz="2334">
                <a:solidFill>
                  <a:srgbClr val="2F2D2A"/>
                </a:solidFill>
                <a:latin typeface="Garet"/>
                <a:ea typeface="Garet"/>
                <a:cs typeface="Garet"/>
                <a:sym typeface="Garet"/>
              </a:rPr>
              <a:t>Add inventory management with stock tracking and alerts.</a:t>
            </a:r>
          </a:p>
          <a:p>
            <a:pPr algn="just" marL="503919" indent="-251959" lvl="1">
              <a:lnSpc>
                <a:spcPts val="3337"/>
              </a:lnSpc>
              <a:buFont typeface="Arial"/>
              <a:buChar char="•"/>
            </a:pPr>
            <a:r>
              <a:rPr lang="en-US" sz="2334">
                <a:solidFill>
                  <a:srgbClr val="2F2D2A"/>
                </a:solidFill>
                <a:latin typeface="Garet"/>
                <a:ea typeface="Garet"/>
                <a:cs typeface="Garet"/>
                <a:sym typeface="Garet"/>
              </a:rPr>
              <a:t>Introduce financial forecasting to help businesses plan ahead.</a:t>
            </a:r>
          </a:p>
          <a:p>
            <a:pPr algn="just" marL="503919" indent="-251959" lvl="1">
              <a:lnSpc>
                <a:spcPts val="3337"/>
              </a:lnSpc>
              <a:buFont typeface="Arial"/>
              <a:buChar char="•"/>
            </a:pPr>
            <a:r>
              <a:rPr lang="en-US" sz="2334">
                <a:solidFill>
                  <a:srgbClr val="2F2D2A"/>
                </a:solidFill>
                <a:latin typeface="Garet"/>
                <a:ea typeface="Garet"/>
                <a:cs typeface="Garet"/>
                <a:sym typeface="Garet"/>
              </a:rPr>
              <a:t>A</a:t>
            </a:r>
            <a:r>
              <a:rPr lang="en-US" sz="2334">
                <a:solidFill>
                  <a:srgbClr val="2F2D2A"/>
                </a:solidFill>
                <a:latin typeface="Garet"/>
                <a:ea typeface="Garet"/>
                <a:cs typeface="Garet"/>
                <a:sym typeface="Garet"/>
              </a:rPr>
              <a:t>dd AI-powered financial insights and recommendations.</a:t>
            </a:r>
          </a:p>
          <a:p>
            <a:pPr algn="just" marL="503919" indent="-251959" lvl="1">
              <a:lnSpc>
                <a:spcPts val="3337"/>
              </a:lnSpc>
              <a:buFont typeface="Arial"/>
              <a:buChar char="•"/>
            </a:pPr>
            <a:r>
              <a:rPr lang="en-US" sz="2334">
                <a:solidFill>
                  <a:srgbClr val="2F2D2A"/>
                </a:solidFill>
                <a:latin typeface="Garet"/>
                <a:ea typeface="Garet"/>
                <a:cs typeface="Garet"/>
                <a:sym typeface="Garet"/>
              </a:rPr>
              <a:t>Improve bank-ready reports and export features for loan applications.</a:t>
            </a:r>
          </a:p>
          <a:p>
            <a:pPr algn="just" marL="503919" indent="-251959" lvl="1">
              <a:lnSpc>
                <a:spcPts val="3337"/>
              </a:lnSpc>
              <a:buFont typeface="Arial"/>
              <a:buChar char="•"/>
            </a:pPr>
            <a:r>
              <a:rPr lang="en-US" sz="2334">
                <a:solidFill>
                  <a:srgbClr val="2F2D2A"/>
                </a:solidFill>
                <a:latin typeface="Garet"/>
                <a:ea typeface="Garet"/>
                <a:cs typeface="Garet"/>
                <a:sym typeface="Garet"/>
              </a:rPr>
              <a:t>Add v</a:t>
            </a:r>
            <a:r>
              <a:rPr lang="en-US" sz="2334">
                <a:solidFill>
                  <a:srgbClr val="2F2D2A"/>
                </a:solidFill>
                <a:latin typeface="Garet"/>
                <a:ea typeface="Garet"/>
                <a:cs typeface="Garet"/>
                <a:sym typeface="Garet"/>
              </a:rPr>
              <a:t>oice input to make recording expenses faster and easier.</a:t>
            </a:r>
          </a:p>
          <a:p>
            <a:pPr algn="just" marL="503919" indent="-251959" lvl="1">
              <a:lnSpc>
                <a:spcPts val="3337"/>
              </a:lnSpc>
              <a:buFont typeface="Arial"/>
              <a:buChar char="•"/>
            </a:pPr>
            <a:r>
              <a:rPr lang="en-US" sz="2334">
                <a:solidFill>
                  <a:srgbClr val="2F2D2A"/>
                </a:solidFill>
                <a:latin typeface="Garet"/>
                <a:ea typeface="Garet"/>
                <a:cs typeface="Garet"/>
                <a:sym typeface="Garet"/>
              </a:rPr>
              <a:t>Expand t</a:t>
            </a:r>
            <a:r>
              <a:rPr lang="en-US" sz="2334">
                <a:solidFill>
                  <a:srgbClr val="2F2D2A"/>
                </a:solidFill>
                <a:latin typeface="Garet"/>
                <a:ea typeface="Garet"/>
                <a:cs typeface="Garet"/>
                <a:sym typeface="Garet"/>
              </a:rPr>
              <a:t>he</a:t>
            </a:r>
            <a:r>
              <a:rPr lang="en-US" sz="2334">
                <a:solidFill>
                  <a:srgbClr val="2F2D2A"/>
                </a:solidFill>
                <a:latin typeface="Garet"/>
                <a:ea typeface="Garet"/>
                <a:cs typeface="Garet"/>
                <a:sym typeface="Garet"/>
              </a:rPr>
              <a:t> application </a:t>
            </a:r>
            <a:r>
              <a:rPr lang="en-US" sz="2334">
                <a:solidFill>
                  <a:srgbClr val="2F2D2A"/>
                </a:solidFill>
                <a:latin typeface="Garet"/>
                <a:ea typeface="Garet"/>
                <a:cs typeface="Garet"/>
                <a:sym typeface="Garet"/>
              </a:rPr>
              <a:t>to support more types of small bus</a:t>
            </a:r>
            <a:r>
              <a:rPr lang="en-US" sz="2334">
                <a:solidFill>
                  <a:srgbClr val="2F2D2A"/>
                </a:solidFill>
                <a:latin typeface="Garet"/>
                <a:ea typeface="Garet"/>
                <a:cs typeface="Garet"/>
                <a:sym typeface="Garet"/>
              </a:rPr>
              <a:t>inesses.</a:t>
            </a:r>
          </a:p>
          <a:p>
            <a:pPr algn="just">
              <a:lnSpc>
                <a:spcPts val="3337"/>
              </a:lnSpc>
            </a:pPr>
          </a:p>
        </p:txBody>
      </p:sp>
      <p:sp>
        <p:nvSpPr>
          <p:cNvPr name="TextBox 8" id="8"/>
          <p:cNvSpPr txBox="true"/>
          <p:nvPr/>
        </p:nvSpPr>
        <p:spPr>
          <a:xfrm rot="0">
            <a:off x="10289889" y="9188118"/>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11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641544" y="1918330"/>
            <a:ext cx="2642594" cy="6737985"/>
            <a:chOff x="0" y="0"/>
            <a:chExt cx="409407" cy="1043890"/>
          </a:xfrm>
        </p:grpSpPr>
        <p:sp>
          <p:nvSpPr>
            <p:cNvPr name="Freeform 4" id="4"/>
            <p:cNvSpPr/>
            <p:nvPr/>
          </p:nvSpPr>
          <p:spPr>
            <a:xfrm flipH="false" flipV="false" rot="0">
              <a:off x="0" y="0"/>
              <a:ext cx="409407" cy="1043890"/>
            </a:xfrm>
            <a:custGeom>
              <a:avLst/>
              <a:gdLst/>
              <a:ahLst/>
              <a:cxnLst/>
              <a:rect r="r" b="b" t="t" l="l"/>
              <a:pathLst>
                <a:path h="1043890" w="409407">
                  <a:moveTo>
                    <a:pt x="0" y="0"/>
                  </a:moveTo>
                  <a:lnTo>
                    <a:pt x="409407" y="0"/>
                  </a:lnTo>
                  <a:lnTo>
                    <a:pt x="409407" y="1043890"/>
                  </a:lnTo>
                  <a:lnTo>
                    <a:pt x="0" y="1043890"/>
                  </a:lnTo>
                  <a:close/>
                </a:path>
              </a:pathLst>
            </a:custGeom>
            <a:blipFill>
              <a:blip r:embed="rId3"/>
              <a:stretch>
                <a:fillRect l="-7369" t="0" r="-7369" b="0"/>
              </a:stretch>
            </a:blipFill>
          </p:spPr>
        </p:sp>
      </p:grpSp>
      <p:grpSp>
        <p:nvGrpSpPr>
          <p:cNvPr name="Group 5" id="5"/>
          <p:cNvGrpSpPr/>
          <p:nvPr/>
        </p:nvGrpSpPr>
        <p:grpSpPr>
          <a:xfrm rot="0">
            <a:off x="3731813" y="1948374"/>
            <a:ext cx="2909492" cy="6737985"/>
            <a:chOff x="0" y="0"/>
            <a:chExt cx="518856" cy="1201600"/>
          </a:xfrm>
        </p:grpSpPr>
        <p:sp>
          <p:nvSpPr>
            <p:cNvPr name="Freeform 6" id="6"/>
            <p:cNvSpPr/>
            <p:nvPr/>
          </p:nvSpPr>
          <p:spPr>
            <a:xfrm flipH="false" flipV="false" rot="0">
              <a:off x="0" y="0"/>
              <a:ext cx="518856" cy="1201600"/>
            </a:xfrm>
            <a:custGeom>
              <a:avLst/>
              <a:gdLst/>
              <a:ahLst/>
              <a:cxnLst/>
              <a:rect r="r" b="b" t="t" l="l"/>
              <a:pathLst>
                <a:path h="1201600" w="518856">
                  <a:moveTo>
                    <a:pt x="0" y="0"/>
                  </a:moveTo>
                  <a:lnTo>
                    <a:pt x="518856" y="0"/>
                  </a:lnTo>
                  <a:lnTo>
                    <a:pt x="518856" y="1201600"/>
                  </a:lnTo>
                  <a:lnTo>
                    <a:pt x="0" y="1201600"/>
                  </a:lnTo>
                  <a:close/>
                </a:path>
              </a:pathLst>
            </a:custGeom>
            <a:blipFill>
              <a:blip r:embed="rId4"/>
              <a:stretch>
                <a:fillRect l="-2106" t="0" r="-2106" b="0"/>
              </a:stretch>
            </a:blipFill>
          </p:spPr>
        </p:sp>
      </p:grpSp>
      <p:grpSp>
        <p:nvGrpSpPr>
          <p:cNvPr name="Group 7" id="7"/>
          <p:cNvGrpSpPr/>
          <p:nvPr/>
        </p:nvGrpSpPr>
        <p:grpSpPr>
          <a:xfrm rot="0">
            <a:off x="10623031" y="1918330"/>
            <a:ext cx="3044059" cy="6737985"/>
            <a:chOff x="0" y="0"/>
            <a:chExt cx="471604" cy="1043890"/>
          </a:xfrm>
        </p:grpSpPr>
        <p:sp>
          <p:nvSpPr>
            <p:cNvPr name="Freeform 8" id="8"/>
            <p:cNvSpPr/>
            <p:nvPr/>
          </p:nvSpPr>
          <p:spPr>
            <a:xfrm flipH="false" flipV="false" rot="0">
              <a:off x="0" y="0"/>
              <a:ext cx="471604" cy="1043890"/>
            </a:xfrm>
            <a:custGeom>
              <a:avLst/>
              <a:gdLst/>
              <a:ahLst/>
              <a:cxnLst/>
              <a:rect r="r" b="b" t="t" l="l"/>
              <a:pathLst>
                <a:path h="1043890" w="471604">
                  <a:moveTo>
                    <a:pt x="0" y="0"/>
                  </a:moveTo>
                  <a:lnTo>
                    <a:pt x="471604" y="0"/>
                  </a:lnTo>
                  <a:lnTo>
                    <a:pt x="471604" y="1043890"/>
                  </a:lnTo>
                  <a:lnTo>
                    <a:pt x="0" y="1043890"/>
                  </a:lnTo>
                  <a:close/>
                </a:path>
              </a:pathLst>
            </a:custGeom>
            <a:blipFill>
              <a:blip r:embed="rId5"/>
              <a:stretch>
                <a:fillRect l="0" t="-197" r="0" b="-197"/>
              </a:stretch>
            </a:blipFill>
          </p:spPr>
        </p:sp>
      </p:grpSp>
      <p:grpSp>
        <p:nvGrpSpPr>
          <p:cNvPr name="Group 9" id="9"/>
          <p:cNvGrpSpPr/>
          <p:nvPr/>
        </p:nvGrpSpPr>
        <p:grpSpPr>
          <a:xfrm rot="0">
            <a:off x="7265864" y="1948374"/>
            <a:ext cx="2909492" cy="6737985"/>
            <a:chOff x="0" y="0"/>
            <a:chExt cx="518856" cy="1201600"/>
          </a:xfrm>
        </p:grpSpPr>
        <p:sp>
          <p:nvSpPr>
            <p:cNvPr name="Freeform 10" id="10"/>
            <p:cNvSpPr/>
            <p:nvPr/>
          </p:nvSpPr>
          <p:spPr>
            <a:xfrm flipH="false" flipV="false" rot="0">
              <a:off x="0" y="0"/>
              <a:ext cx="518856" cy="1201600"/>
            </a:xfrm>
            <a:custGeom>
              <a:avLst/>
              <a:gdLst/>
              <a:ahLst/>
              <a:cxnLst/>
              <a:rect r="r" b="b" t="t" l="l"/>
              <a:pathLst>
                <a:path h="1201600" w="518856">
                  <a:moveTo>
                    <a:pt x="0" y="0"/>
                  </a:moveTo>
                  <a:lnTo>
                    <a:pt x="518856" y="0"/>
                  </a:lnTo>
                  <a:lnTo>
                    <a:pt x="518856" y="1201600"/>
                  </a:lnTo>
                  <a:lnTo>
                    <a:pt x="0" y="1201600"/>
                  </a:lnTo>
                  <a:close/>
                </a:path>
              </a:pathLst>
            </a:custGeom>
            <a:blipFill>
              <a:blip r:embed="rId6"/>
              <a:stretch>
                <a:fillRect l="-2106" t="0" r="-2106" b="0"/>
              </a:stretch>
            </a:blipFill>
          </p:spPr>
        </p:sp>
      </p:grpSp>
      <p:sp>
        <p:nvSpPr>
          <p:cNvPr name="TextBox 11" id="11"/>
          <p:cNvSpPr txBox="true"/>
          <p:nvPr/>
        </p:nvSpPr>
        <p:spPr>
          <a:xfrm rot="0">
            <a:off x="576734" y="439392"/>
            <a:ext cx="16447249" cy="955929"/>
          </a:xfrm>
          <a:prstGeom prst="rect">
            <a:avLst/>
          </a:prstGeom>
        </p:spPr>
        <p:txBody>
          <a:bodyPr anchor="t" rtlCol="false" tIns="0" lIns="0" bIns="0" rIns="0">
            <a:spAutoFit/>
          </a:bodyPr>
          <a:lstStyle/>
          <a:p>
            <a:pPr algn="ctr">
              <a:lnSpc>
                <a:spcPts val="6903"/>
              </a:lnSpc>
            </a:pPr>
            <a:r>
              <a:rPr lang="en-US" sz="5900">
                <a:solidFill>
                  <a:srgbClr val="444E55"/>
                </a:solidFill>
                <a:latin typeface="Horizon"/>
                <a:ea typeface="Horizon"/>
                <a:cs typeface="Horizon"/>
                <a:sym typeface="Horizon"/>
              </a:rPr>
              <a:t>UI OF OUR APPLICATION</a:t>
            </a:r>
          </a:p>
        </p:txBody>
      </p:sp>
      <p:grpSp>
        <p:nvGrpSpPr>
          <p:cNvPr name="Group 12" id="12"/>
          <p:cNvGrpSpPr/>
          <p:nvPr/>
        </p:nvGrpSpPr>
        <p:grpSpPr>
          <a:xfrm rot="0">
            <a:off x="14114491" y="1918330"/>
            <a:ext cx="2909492" cy="6737985"/>
            <a:chOff x="0" y="0"/>
            <a:chExt cx="518856" cy="1201600"/>
          </a:xfrm>
        </p:grpSpPr>
        <p:sp>
          <p:nvSpPr>
            <p:cNvPr name="Freeform 13" id="13"/>
            <p:cNvSpPr/>
            <p:nvPr/>
          </p:nvSpPr>
          <p:spPr>
            <a:xfrm flipH="false" flipV="false" rot="0">
              <a:off x="0" y="0"/>
              <a:ext cx="518856" cy="1201600"/>
            </a:xfrm>
            <a:custGeom>
              <a:avLst/>
              <a:gdLst/>
              <a:ahLst/>
              <a:cxnLst/>
              <a:rect r="r" b="b" t="t" l="l"/>
              <a:pathLst>
                <a:path h="1201600" w="518856">
                  <a:moveTo>
                    <a:pt x="0" y="0"/>
                  </a:moveTo>
                  <a:lnTo>
                    <a:pt x="518856" y="0"/>
                  </a:lnTo>
                  <a:lnTo>
                    <a:pt x="518856" y="1201600"/>
                  </a:lnTo>
                  <a:lnTo>
                    <a:pt x="0" y="1201600"/>
                  </a:lnTo>
                  <a:close/>
                </a:path>
              </a:pathLst>
            </a:custGeom>
            <a:blipFill>
              <a:blip r:embed="rId6"/>
              <a:stretch>
                <a:fillRect l="-2106" t="0" r="-2106" b="0"/>
              </a:stretch>
            </a:blipFill>
          </p:spPr>
        </p:sp>
      </p:grpSp>
      <p:sp>
        <p:nvSpPr>
          <p:cNvPr name="AutoShape 14" id="14"/>
          <p:cNvSpPr/>
          <p:nvPr/>
        </p:nvSpPr>
        <p:spPr>
          <a:xfrm>
            <a:off x="4201427" y="9445302"/>
            <a:ext cx="9611442" cy="39569"/>
          </a:xfrm>
          <a:prstGeom prst="line">
            <a:avLst/>
          </a:prstGeom>
          <a:ln cap="flat" w="19050">
            <a:solidFill>
              <a:srgbClr val="0D0D0D"/>
            </a:solidFill>
            <a:prstDash val="solid"/>
            <a:headEnd type="none" len="sm" w="sm"/>
            <a:tailEnd type="none" len="sm" w="sm"/>
          </a:ln>
        </p:spPr>
      </p:sp>
      <p:sp>
        <p:nvSpPr>
          <p:cNvPr name="TextBox 15" id="15"/>
          <p:cNvSpPr txBox="true"/>
          <p:nvPr/>
        </p:nvSpPr>
        <p:spPr>
          <a:xfrm rot="0">
            <a:off x="2582994" y="9065890"/>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12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669311" y="838200"/>
            <a:ext cx="14534716" cy="1104899"/>
          </a:xfrm>
          <a:prstGeom prst="rect">
            <a:avLst/>
          </a:prstGeom>
        </p:spPr>
        <p:txBody>
          <a:bodyPr anchor="t" rtlCol="false" tIns="0" lIns="0" bIns="0" rIns="0">
            <a:spAutoFit/>
          </a:bodyPr>
          <a:lstStyle/>
          <a:p>
            <a:pPr algn="ctr">
              <a:lnSpc>
                <a:spcPts val="8400"/>
              </a:lnSpc>
            </a:pPr>
            <a:r>
              <a:rPr lang="en-US" sz="6000">
                <a:solidFill>
                  <a:srgbClr val="444E55"/>
                </a:solidFill>
                <a:latin typeface="Horizon"/>
                <a:ea typeface="Horizon"/>
                <a:cs typeface="Horizon"/>
                <a:sym typeface="Horizon"/>
              </a:rPr>
              <a:t>conclusion</a:t>
            </a:r>
          </a:p>
        </p:txBody>
      </p:sp>
      <p:sp>
        <p:nvSpPr>
          <p:cNvPr name="TextBox 4" id="4"/>
          <p:cNvSpPr txBox="true"/>
          <p:nvPr/>
        </p:nvSpPr>
        <p:spPr>
          <a:xfrm rot="0">
            <a:off x="1480974" y="2280326"/>
            <a:ext cx="13953436" cy="6134958"/>
          </a:xfrm>
          <a:prstGeom prst="rect">
            <a:avLst/>
          </a:prstGeom>
        </p:spPr>
        <p:txBody>
          <a:bodyPr anchor="t" rtlCol="false" tIns="0" lIns="0" bIns="0" rIns="0">
            <a:spAutoFit/>
          </a:bodyPr>
          <a:lstStyle/>
          <a:p>
            <a:pPr algn="just">
              <a:lnSpc>
                <a:spcPts val="4447"/>
              </a:lnSpc>
            </a:pPr>
            <a:r>
              <a:rPr lang="en-US" sz="2711">
                <a:solidFill>
                  <a:srgbClr val="2F2D2A"/>
                </a:solidFill>
                <a:latin typeface="Garet"/>
                <a:ea typeface="Garet"/>
                <a:cs typeface="Garet"/>
                <a:sym typeface="Garet"/>
              </a:rPr>
              <a:t>Mekenet provides a practical solution for improving financial record management for small businesses. It reduces the effort of daily bookkeeping by organizing transactions in a simple way. The application is designed to remain useful even without an internet connection. It also focuses on keeping business information secure and under the user's control. The system </a:t>
            </a:r>
            <a:r>
              <a:rPr lang="en-US" sz="2711">
                <a:solidFill>
                  <a:srgbClr val="2F2D2A"/>
                </a:solidFill>
                <a:latin typeface="Garet"/>
                <a:ea typeface="Garet"/>
                <a:cs typeface="Garet"/>
                <a:sym typeface="Garet"/>
              </a:rPr>
              <a:t>demonstrates how mobile technology can solve real financial management challenges. Its modular design makes it easier to improve and expand in the future. With additional features an</a:t>
            </a:r>
            <a:r>
              <a:rPr lang="en-US" sz="2711">
                <a:solidFill>
                  <a:srgbClr val="2F2D2A"/>
                </a:solidFill>
                <a:latin typeface="Garet"/>
                <a:ea typeface="Garet"/>
                <a:cs typeface="Garet"/>
                <a:sym typeface="Garet"/>
              </a:rPr>
              <a:t>d w</a:t>
            </a:r>
            <a:r>
              <a:rPr lang="en-US" sz="2711">
                <a:solidFill>
                  <a:srgbClr val="2F2D2A"/>
                </a:solidFill>
                <a:latin typeface="Garet"/>
                <a:ea typeface="Garet"/>
                <a:cs typeface="Garet"/>
                <a:sym typeface="Garet"/>
              </a:rPr>
              <a:t>ider payment support, Mekenet can serve more types of businesses. Over</a:t>
            </a:r>
            <a:r>
              <a:rPr lang="en-US" sz="2711">
                <a:solidFill>
                  <a:srgbClr val="2F2D2A"/>
                </a:solidFill>
                <a:latin typeface="Garet"/>
                <a:ea typeface="Garet"/>
                <a:cs typeface="Garet"/>
                <a:sym typeface="Garet"/>
              </a:rPr>
              <a:t>all, t</a:t>
            </a:r>
            <a:r>
              <a:rPr lang="en-US" sz="2711">
                <a:solidFill>
                  <a:srgbClr val="2F2D2A"/>
                </a:solidFill>
                <a:latin typeface="Garet"/>
                <a:ea typeface="Garet"/>
                <a:cs typeface="Garet"/>
                <a:sym typeface="Garet"/>
              </a:rPr>
              <a:t>he</a:t>
            </a:r>
            <a:r>
              <a:rPr lang="en-US" sz="2711">
                <a:solidFill>
                  <a:srgbClr val="2F2D2A"/>
                </a:solidFill>
                <a:latin typeface="Garet"/>
                <a:ea typeface="Garet"/>
                <a:cs typeface="Garet"/>
                <a:sym typeface="Garet"/>
              </a:rPr>
              <a:t> project provides a strong founda</a:t>
            </a:r>
            <a:r>
              <a:rPr lang="en-US" sz="2711">
                <a:solidFill>
                  <a:srgbClr val="2F2D2A"/>
                </a:solidFill>
                <a:latin typeface="Garet"/>
                <a:ea typeface="Garet"/>
                <a:cs typeface="Garet"/>
                <a:sym typeface="Garet"/>
              </a:rPr>
              <a:t>tion for smarter and more organized small-bus</a:t>
            </a:r>
            <a:r>
              <a:rPr lang="en-US" sz="2711">
                <a:solidFill>
                  <a:srgbClr val="2F2D2A"/>
                </a:solidFill>
                <a:latin typeface="Garet"/>
                <a:ea typeface="Garet"/>
                <a:cs typeface="Garet"/>
                <a:sym typeface="Garet"/>
              </a:rPr>
              <a:t>iness financial management.</a:t>
            </a:r>
          </a:p>
        </p:txBody>
      </p:sp>
      <p:sp>
        <p:nvSpPr>
          <p:cNvPr name="AutoShape 5" id="5"/>
          <p:cNvSpPr/>
          <p:nvPr/>
        </p:nvSpPr>
        <p:spPr>
          <a:xfrm>
            <a:off x="3884887" y="9248775"/>
            <a:ext cx="10270277" cy="0"/>
          </a:xfrm>
          <a:prstGeom prst="line">
            <a:avLst/>
          </a:prstGeom>
          <a:ln cap="flat" w="19050">
            <a:solidFill>
              <a:srgbClr val="0D0D0D"/>
            </a:solidFill>
            <a:prstDash val="solid"/>
            <a:headEnd type="none" len="sm" w="sm"/>
            <a:tailEnd type="none" len="sm" w="sm"/>
          </a:ln>
        </p:spPr>
      </p:sp>
      <p:sp>
        <p:nvSpPr>
          <p:cNvPr name="TextBox 6" id="6"/>
          <p:cNvSpPr txBox="true"/>
          <p:nvPr/>
        </p:nvSpPr>
        <p:spPr>
          <a:xfrm rot="0">
            <a:off x="15434410" y="8869363"/>
            <a:ext cx="969619" cy="644525"/>
          </a:xfrm>
          <a:prstGeom prst="rect">
            <a:avLst/>
          </a:prstGeom>
        </p:spPr>
        <p:txBody>
          <a:bodyPr anchor="t" rtlCol="false" tIns="0" lIns="0" bIns="0" rIns="0">
            <a:spAutoFit/>
          </a:bodyPr>
          <a:lstStyle/>
          <a:p>
            <a:pPr algn="l">
              <a:lnSpc>
                <a:spcPts val="4900"/>
              </a:lnSpc>
            </a:pPr>
            <a:r>
              <a:rPr lang="en-US" sz="3500">
                <a:solidFill>
                  <a:srgbClr val="444E55"/>
                </a:solidFill>
                <a:latin typeface="Horizon"/>
                <a:ea typeface="Horizon"/>
                <a:cs typeface="Horizon"/>
                <a:sym typeface="Horizon"/>
              </a:rPr>
              <a:t>13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851" r="0" b="-15851"/>
            </a:stretch>
          </a:blipFill>
        </p:spPr>
      </p:sp>
      <p:sp>
        <p:nvSpPr>
          <p:cNvPr name="TextBox 3" id="3"/>
          <p:cNvSpPr txBox="true"/>
          <p:nvPr/>
        </p:nvSpPr>
        <p:spPr>
          <a:xfrm rot="0">
            <a:off x="5681334" y="3892550"/>
            <a:ext cx="6925331" cy="2359025"/>
          </a:xfrm>
          <a:prstGeom prst="rect">
            <a:avLst/>
          </a:prstGeom>
        </p:spPr>
        <p:txBody>
          <a:bodyPr anchor="t" rtlCol="false" tIns="0" lIns="0" bIns="0" rIns="0">
            <a:spAutoFit/>
          </a:bodyPr>
          <a:lstStyle/>
          <a:p>
            <a:pPr algn="ctr">
              <a:lnSpc>
                <a:spcPts val="9099"/>
              </a:lnSpc>
            </a:pPr>
            <a:r>
              <a:rPr lang="en-US" sz="6999">
                <a:solidFill>
                  <a:srgbClr val="FFFFFF"/>
                </a:solidFill>
                <a:latin typeface="Horizon"/>
                <a:ea typeface="Horizon"/>
                <a:cs typeface="Horizon"/>
                <a:sym typeface="Horizon"/>
              </a:rPr>
              <a:t>Thank You</a:t>
            </a:r>
          </a:p>
        </p:txBody>
      </p:sp>
      <p:grpSp>
        <p:nvGrpSpPr>
          <p:cNvPr name="Group 4" id="4"/>
          <p:cNvGrpSpPr/>
          <p:nvPr/>
        </p:nvGrpSpPr>
        <p:grpSpPr>
          <a:xfrm rot="0">
            <a:off x="6154811" y="8415034"/>
            <a:ext cx="6066557" cy="634718"/>
            <a:chOff x="0" y="0"/>
            <a:chExt cx="1597776" cy="167169"/>
          </a:xfrm>
        </p:grpSpPr>
        <p:sp>
          <p:nvSpPr>
            <p:cNvPr name="Freeform 5" id="5"/>
            <p:cNvSpPr/>
            <p:nvPr/>
          </p:nvSpPr>
          <p:spPr>
            <a:xfrm flipH="false" flipV="false" rot="0">
              <a:off x="0" y="0"/>
              <a:ext cx="1597776" cy="167169"/>
            </a:xfrm>
            <a:custGeom>
              <a:avLst/>
              <a:gdLst/>
              <a:ahLst/>
              <a:cxnLst/>
              <a:rect r="r" b="b" t="t" l="l"/>
              <a:pathLst>
                <a:path h="167169" w="1597776">
                  <a:moveTo>
                    <a:pt x="83584" y="0"/>
                  </a:moveTo>
                  <a:lnTo>
                    <a:pt x="1514192" y="0"/>
                  </a:lnTo>
                  <a:cubicBezTo>
                    <a:pt x="1536360" y="0"/>
                    <a:pt x="1557620" y="8806"/>
                    <a:pt x="1573295" y="24481"/>
                  </a:cubicBezTo>
                  <a:cubicBezTo>
                    <a:pt x="1588970" y="40156"/>
                    <a:pt x="1597776" y="61416"/>
                    <a:pt x="1597776" y="83584"/>
                  </a:cubicBezTo>
                  <a:lnTo>
                    <a:pt x="1597776" y="83584"/>
                  </a:lnTo>
                  <a:cubicBezTo>
                    <a:pt x="1597776" y="129747"/>
                    <a:pt x="1560354" y="167169"/>
                    <a:pt x="1514192" y="167169"/>
                  </a:cubicBezTo>
                  <a:lnTo>
                    <a:pt x="83584" y="167169"/>
                  </a:lnTo>
                  <a:cubicBezTo>
                    <a:pt x="37422" y="167169"/>
                    <a:pt x="0" y="129747"/>
                    <a:pt x="0" y="83584"/>
                  </a:cubicBezTo>
                  <a:lnTo>
                    <a:pt x="0" y="83584"/>
                  </a:lnTo>
                  <a:cubicBezTo>
                    <a:pt x="0" y="37422"/>
                    <a:pt x="37422" y="0"/>
                    <a:pt x="83584" y="0"/>
                  </a:cubicBezTo>
                  <a:close/>
                </a:path>
              </a:pathLst>
            </a:custGeom>
            <a:ln w="19050" cap="rnd">
              <a:solidFill>
                <a:srgbClr val="FFFFFF"/>
              </a:solidFill>
              <a:prstDash val="solid"/>
              <a:round/>
            </a:ln>
          </p:spPr>
        </p:sp>
        <p:sp>
          <p:nvSpPr>
            <p:cNvPr name="TextBox 6" id="6"/>
            <p:cNvSpPr txBox="true"/>
            <p:nvPr/>
          </p:nvSpPr>
          <p:spPr>
            <a:xfrm>
              <a:off x="0" y="-47625"/>
              <a:ext cx="1597776" cy="214794"/>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6357738" y="8552360"/>
            <a:ext cx="5572523" cy="353223"/>
          </a:xfrm>
          <a:prstGeom prst="rect">
            <a:avLst/>
          </a:prstGeom>
        </p:spPr>
        <p:txBody>
          <a:bodyPr anchor="t" rtlCol="false" tIns="0" lIns="0" bIns="0" rIns="0">
            <a:spAutoFit/>
          </a:bodyPr>
          <a:lstStyle/>
          <a:p>
            <a:pPr algn="ctr">
              <a:lnSpc>
                <a:spcPts val="2897"/>
              </a:lnSpc>
            </a:pPr>
            <a:r>
              <a:rPr lang="en-US" sz="2069" spc="374">
                <a:solidFill>
                  <a:srgbClr val="FFFFFF"/>
                </a:solidFill>
                <a:latin typeface="Cy Grotesk V3 Grand"/>
                <a:ea typeface="Cy Grotesk V3 Grand"/>
                <a:cs typeface="Cy Grotesk V3 Grand"/>
                <a:sym typeface="Cy Grotesk V3 Grand"/>
              </a:rPr>
              <a: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DAHSzCSmVF4</dc:identifier>
  <dcterms:modified xsi:type="dcterms:W3CDTF">2011-08-01T06:04:30Z</dcterms:modified>
  <cp:revision>1</cp:revision>
  <dc:title>መቀነት (Mekenet)</dc:title>
</cp:coreProperties>
</file>