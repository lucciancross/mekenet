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embeddedFontLst>
    <p:embeddedFont>
      <p:font typeface="Cy Grotesk V3 Grand" panose="020B0604020202020204" charset="0"/>
      <p:regular r:id="rId19"/>
    </p:embeddedFont>
    <p:embeddedFont>
      <p:font typeface="Cy Grotesk V3 Grand Bold" panose="020B0604020202020204" charset="0"/>
      <p:regular r:id="rId20"/>
    </p:embeddedFont>
    <p:embeddedFont>
      <p:font typeface="Garet" panose="020B0604020202020204" charset="0"/>
      <p:regular r:id="rId21"/>
    </p:embeddedFont>
    <p:embeddedFont>
      <p:font typeface="Garet Bold" panose="020B0604020202020204" charset="0"/>
      <p:regular r:id="rId22"/>
    </p:embeddedFont>
    <p:embeddedFont>
      <p:font typeface="Horizon" panose="020B0604020202020204" charset="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37" d="100"/>
          <a:sy n="37" d="100"/>
        </p:scale>
        <p:origin x="1060" y="3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22-Aug-26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22-Aug-26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22-Aug-26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22-Aug-26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22-Aug-26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22-Aug-26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22-Aug-26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10.jpe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38815" b="-127851"/>
            </a:stretch>
          </a:blipFill>
        </p:spPr>
      </p:sp>
      <p:sp>
        <p:nvSpPr>
          <p:cNvPr id="3" name="TextBox 3"/>
          <p:cNvSpPr txBox="1"/>
          <p:nvPr/>
        </p:nvSpPr>
        <p:spPr>
          <a:xfrm>
            <a:off x="1763555" y="3091584"/>
            <a:ext cx="14760891" cy="6166716"/>
          </a:xfrm>
          <a:prstGeom prst="rect">
            <a:avLst/>
          </a:prstGeom>
        </p:spPr>
        <p:txBody>
          <a:bodyPr lIns="0" tIns="0" rIns="0" bIns="0" rtlCol="0" anchor="t">
            <a:spAutoFit/>
          </a:bodyPr>
          <a:lstStyle/>
          <a:p>
            <a:pPr algn="ctr">
              <a:lnSpc>
                <a:spcPts val="16052"/>
              </a:lnSpc>
            </a:pPr>
            <a:r>
              <a:rPr lang="en-US" sz="11465">
                <a:solidFill>
                  <a:srgbClr val="FFFFFF"/>
                </a:solidFill>
                <a:latin typeface="Horizon"/>
                <a:ea typeface="Horizon"/>
                <a:cs typeface="Horizon"/>
                <a:sym typeface="Horizon"/>
              </a:rPr>
              <a:t>መቀነት (Mekenet)</a:t>
            </a:r>
          </a:p>
          <a:p>
            <a:pPr algn="ctr">
              <a:lnSpc>
                <a:spcPts val="16052"/>
              </a:lnSpc>
            </a:pPr>
            <a:endParaRPr lang="en-US" sz="11465">
              <a:solidFill>
                <a:srgbClr val="FFFFFF"/>
              </a:solidFill>
              <a:latin typeface="Horizon"/>
              <a:ea typeface="Horizon"/>
              <a:cs typeface="Horizon"/>
              <a:sym typeface="Horizon"/>
            </a:endParaRPr>
          </a:p>
        </p:txBody>
      </p:sp>
      <p:grpSp>
        <p:nvGrpSpPr>
          <p:cNvPr id="4" name="Group 4"/>
          <p:cNvGrpSpPr/>
          <p:nvPr/>
        </p:nvGrpSpPr>
        <p:grpSpPr>
          <a:xfrm>
            <a:off x="1028700" y="833055"/>
            <a:ext cx="3626388" cy="3626388"/>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21684" t="-17145" r="-19652" b="-24192"/>
              </a:stretch>
            </a:blipFill>
          </p:spPr>
        </p:sp>
      </p:grpSp>
      <p:sp>
        <p:nvSpPr>
          <p:cNvPr id="6" name="TextBox 6"/>
          <p:cNvSpPr txBox="1"/>
          <p:nvPr/>
        </p:nvSpPr>
        <p:spPr>
          <a:xfrm>
            <a:off x="13438345" y="9023350"/>
            <a:ext cx="3086100" cy="422275"/>
          </a:xfrm>
          <a:prstGeom prst="rect">
            <a:avLst/>
          </a:prstGeom>
        </p:spPr>
        <p:txBody>
          <a:bodyPr lIns="0" tIns="0" rIns="0" bIns="0" rtlCol="0" anchor="t">
            <a:spAutoFit/>
          </a:bodyPr>
          <a:lstStyle/>
          <a:p>
            <a:pPr algn="ctr">
              <a:lnSpc>
                <a:spcPts val="3499"/>
              </a:lnSpc>
            </a:pPr>
            <a:r>
              <a:rPr lang="en-US" sz="2499" spc="67">
                <a:solidFill>
                  <a:srgbClr val="FFFFFF"/>
                </a:solidFill>
                <a:latin typeface="Garet"/>
                <a:ea typeface="Garet"/>
                <a:cs typeface="Garet"/>
                <a:sym typeface="Garet"/>
              </a:rPr>
              <a:t>GROUP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6666" b="-16666"/>
            </a:stretch>
          </a:blipFill>
        </p:spPr>
      </p:sp>
      <p:sp>
        <p:nvSpPr>
          <p:cNvPr id="3" name="AutoShape 3"/>
          <p:cNvSpPr/>
          <p:nvPr/>
        </p:nvSpPr>
        <p:spPr>
          <a:xfrm>
            <a:off x="8695375" y="9219406"/>
            <a:ext cx="7596266" cy="0"/>
          </a:xfrm>
          <a:prstGeom prst="line">
            <a:avLst/>
          </a:prstGeom>
          <a:ln w="19050" cap="flat">
            <a:solidFill>
              <a:srgbClr val="000000"/>
            </a:solidFill>
            <a:prstDash val="solid"/>
            <a:headEnd type="none" w="sm" len="sm"/>
            <a:tailEnd type="none" w="sm" len="sm"/>
          </a:ln>
        </p:spPr>
      </p:sp>
      <p:sp>
        <p:nvSpPr>
          <p:cNvPr id="4" name="TextBox 4"/>
          <p:cNvSpPr txBox="1"/>
          <p:nvPr/>
        </p:nvSpPr>
        <p:spPr>
          <a:xfrm>
            <a:off x="8430249" y="1158818"/>
            <a:ext cx="8195112" cy="1029334"/>
          </a:xfrm>
          <a:prstGeom prst="rect">
            <a:avLst/>
          </a:prstGeom>
        </p:spPr>
        <p:txBody>
          <a:bodyPr lIns="0" tIns="0" rIns="0" bIns="0" rtlCol="0" anchor="t">
            <a:spAutoFit/>
          </a:bodyPr>
          <a:lstStyle/>
          <a:p>
            <a:pPr algn="l">
              <a:lnSpc>
                <a:spcPts val="7840"/>
              </a:lnSpc>
            </a:pPr>
            <a:r>
              <a:rPr lang="en-US" sz="5600">
                <a:solidFill>
                  <a:srgbClr val="444E55"/>
                </a:solidFill>
                <a:latin typeface="Horizon"/>
                <a:ea typeface="Horizon"/>
                <a:cs typeface="Horizon"/>
                <a:sym typeface="Horizon"/>
              </a:rPr>
              <a:t>INTRODUCTION</a:t>
            </a:r>
          </a:p>
        </p:txBody>
      </p:sp>
      <p:sp>
        <p:nvSpPr>
          <p:cNvPr id="5" name="TextBox 5"/>
          <p:cNvSpPr txBox="1"/>
          <p:nvPr/>
        </p:nvSpPr>
        <p:spPr>
          <a:xfrm>
            <a:off x="16774491" y="8839994"/>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01</a:t>
            </a:r>
          </a:p>
        </p:txBody>
      </p:sp>
      <p:sp>
        <p:nvSpPr>
          <p:cNvPr id="6" name="TextBox 6"/>
          <p:cNvSpPr txBox="1"/>
          <p:nvPr/>
        </p:nvSpPr>
        <p:spPr>
          <a:xfrm>
            <a:off x="8430249" y="3893446"/>
            <a:ext cx="9313860" cy="3327784"/>
          </a:xfrm>
          <a:prstGeom prst="rect">
            <a:avLst/>
          </a:prstGeom>
        </p:spPr>
        <p:txBody>
          <a:bodyPr lIns="0" tIns="0" rIns="0" bIns="0" rtlCol="0" anchor="t">
            <a:spAutoFit/>
          </a:bodyPr>
          <a:lstStyle/>
          <a:p>
            <a:pPr algn="l">
              <a:lnSpc>
                <a:spcPts val="3363"/>
              </a:lnSpc>
            </a:pPr>
            <a:r>
              <a:rPr lang="en-US" sz="2076">
                <a:solidFill>
                  <a:srgbClr val="545454"/>
                </a:solidFill>
                <a:latin typeface="Garet"/>
                <a:ea typeface="Garet"/>
                <a:cs typeface="Garet"/>
                <a:sym typeface="Garet"/>
              </a:rPr>
              <a:t>መቀነት (Mekenet)</a:t>
            </a:r>
          </a:p>
          <a:p>
            <a:pPr algn="l">
              <a:lnSpc>
                <a:spcPts val="3363"/>
              </a:lnSpc>
            </a:pPr>
            <a:r>
              <a:rPr lang="en-US" sz="2076">
                <a:solidFill>
                  <a:srgbClr val="545454"/>
                </a:solidFill>
                <a:latin typeface="Garet"/>
                <a:ea typeface="Garet"/>
                <a:cs typeface="Garet"/>
                <a:sym typeface="Garet"/>
              </a:rPr>
              <a:t> is an offline-first financial record application designed for small businesses in Addis Ababa. It automatically converts Telebirr payment SMS messages into organized transaction records, helping business owners easily track their income, expenses, profit, and customer debts. The application is designed to work primarily on the device, keeping financial information private and secure while allowing users to export their records when they choose.</a:t>
            </a:r>
          </a:p>
        </p:txBody>
      </p:sp>
      <p:grpSp>
        <p:nvGrpSpPr>
          <p:cNvPr id="7" name="Group 7"/>
          <p:cNvGrpSpPr/>
          <p:nvPr/>
        </p:nvGrpSpPr>
        <p:grpSpPr>
          <a:xfrm>
            <a:off x="-823290" y="0"/>
            <a:ext cx="7579070" cy="10287000"/>
            <a:chOff x="0" y="0"/>
            <a:chExt cx="1174196" cy="1593725"/>
          </a:xfrm>
        </p:grpSpPr>
        <p:sp>
          <p:nvSpPr>
            <p:cNvPr id="8" name="Freeform 8"/>
            <p:cNvSpPr/>
            <p:nvPr/>
          </p:nvSpPr>
          <p:spPr>
            <a:xfrm>
              <a:off x="0" y="0"/>
              <a:ext cx="1174196" cy="1593725"/>
            </a:xfrm>
            <a:custGeom>
              <a:avLst/>
              <a:gdLst/>
              <a:ahLst/>
              <a:cxnLst/>
              <a:rect l="l" t="t" r="r" b="b"/>
              <a:pathLst>
                <a:path w="1174196" h="1593725">
                  <a:moveTo>
                    <a:pt x="0" y="0"/>
                  </a:moveTo>
                  <a:lnTo>
                    <a:pt x="1174196" y="0"/>
                  </a:lnTo>
                  <a:lnTo>
                    <a:pt x="1174196" y="1593725"/>
                  </a:lnTo>
                  <a:lnTo>
                    <a:pt x="0" y="1593725"/>
                  </a:lnTo>
                  <a:close/>
                </a:path>
              </a:pathLst>
            </a:custGeom>
            <a:blipFill>
              <a:blip r:embed="rId3"/>
              <a:stretch>
                <a:fillRect t="-6027" b="-6027"/>
              </a:stretch>
            </a:blipFill>
          </p:spPr>
        </p:sp>
      </p:grpSp>
      <p:grpSp>
        <p:nvGrpSpPr>
          <p:cNvPr id="9" name="Group 9"/>
          <p:cNvGrpSpPr/>
          <p:nvPr/>
        </p:nvGrpSpPr>
        <p:grpSpPr>
          <a:xfrm>
            <a:off x="5090560" y="-3298681"/>
            <a:ext cx="15247719" cy="16783541"/>
            <a:chOff x="0" y="0"/>
            <a:chExt cx="812800" cy="894669"/>
          </a:xfrm>
        </p:grpSpPr>
        <p:sp>
          <p:nvSpPr>
            <p:cNvPr id="10" name="Freeform 10"/>
            <p:cNvSpPr/>
            <p:nvPr/>
          </p:nvSpPr>
          <p:spPr>
            <a:xfrm>
              <a:off x="0" y="0"/>
              <a:ext cx="812800" cy="894669"/>
            </a:xfrm>
            <a:custGeom>
              <a:avLst/>
              <a:gdLst/>
              <a:ahLst/>
              <a:cxnLst/>
              <a:rect l="l" t="t" r="r" b="b"/>
              <a:pathLst>
                <a:path w="812800" h="894669">
                  <a:moveTo>
                    <a:pt x="406400" y="0"/>
                  </a:moveTo>
                  <a:cubicBezTo>
                    <a:pt x="181951" y="0"/>
                    <a:pt x="0" y="200278"/>
                    <a:pt x="0" y="447335"/>
                  </a:cubicBezTo>
                  <a:cubicBezTo>
                    <a:pt x="0" y="694391"/>
                    <a:pt x="181951" y="894669"/>
                    <a:pt x="406400" y="894669"/>
                  </a:cubicBezTo>
                  <a:cubicBezTo>
                    <a:pt x="630849" y="894669"/>
                    <a:pt x="812800" y="694391"/>
                    <a:pt x="812800" y="447335"/>
                  </a:cubicBezTo>
                  <a:cubicBezTo>
                    <a:pt x="812800" y="200278"/>
                    <a:pt x="630849" y="0"/>
                    <a:pt x="406400" y="0"/>
                  </a:cubicBezTo>
                  <a:close/>
                </a:path>
              </a:pathLst>
            </a:custGeom>
            <a:solidFill>
              <a:srgbClr val="FFFFFF"/>
            </a:solidFill>
          </p:spPr>
        </p:sp>
        <p:sp>
          <p:nvSpPr>
            <p:cNvPr id="11" name="TextBox 11"/>
            <p:cNvSpPr txBox="1"/>
            <p:nvPr/>
          </p:nvSpPr>
          <p:spPr>
            <a:xfrm>
              <a:off x="76200" y="45775"/>
              <a:ext cx="660400" cy="765019"/>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p:cNvSpPr txBox="1"/>
          <p:nvPr/>
        </p:nvSpPr>
        <p:spPr>
          <a:xfrm>
            <a:off x="7877620" y="1216774"/>
            <a:ext cx="8195112" cy="1029334"/>
          </a:xfrm>
          <a:prstGeom prst="rect">
            <a:avLst/>
          </a:prstGeom>
        </p:spPr>
        <p:txBody>
          <a:bodyPr lIns="0" tIns="0" rIns="0" bIns="0" rtlCol="0" anchor="t">
            <a:spAutoFit/>
          </a:bodyPr>
          <a:lstStyle/>
          <a:p>
            <a:pPr algn="l">
              <a:lnSpc>
                <a:spcPts val="7840"/>
              </a:lnSpc>
            </a:pPr>
            <a:r>
              <a:rPr lang="en-US" sz="5600">
                <a:solidFill>
                  <a:srgbClr val="444E55"/>
                </a:solidFill>
                <a:latin typeface="Horizon"/>
                <a:ea typeface="Horizon"/>
                <a:cs typeface="Horizon"/>
                <a:sym typeface="Horizon"/>
              </a:rPr>
              <a:t>INTRODUCTION</a:t>
            </a:r>
          </a:p>
        </p:txBody>
      </p:sp>
      <p:sp>
        <p:nvSpPr>
          <p:cNvPr id="13" name="TextBox 13"/>
          <p:cNvSpPr txBox="1"/>
          <p:nvPr/>
        </p:nvSpPr>
        <p:spPr>
          <a:xfrm>
            <a:off x="6977780" y="2928884"/>
            <a:ext cx="9313860" cy="4292346"/>
          </a:xfrm>
          <a:prstGeom prst="rect">
            <a:avLst/>
          </a:prstGeom>
        </p:spPr>
        <p:txBody>
          <a:bodyPr lIns="0" tIns="0" rIns="0" bIns="0" rtlCol="0" anchor="t">
            <a:spAutoFit/>
          </a:bodyPr>
          <a:lstStyle/>
          <a:p>
            <a:pPr algn="l">
              <a:lnSpc>
                <a:spcPts val="4318"/>
              </a:lnSpc>
            </a:pPr>
            <a:r>
              <a:rPr lang="en-US" sz="2076">
                <a:solidFill>
                  <a:srgbClr val="545454"/>
                </a:solidFill>
                <a:latin typeface="Garet"/>
                <a:ea typeface="Garet"/>
                <a:cs typeface="Garet"/>
                <a:sym typeface="Garet"/>
              </a:rPr>
              <a:t>መቀነት (Mekenet)</a:t>
            </a:r>
          </a:p>
          <a:p>
            <a:pPr algn="l">
              <a:lnSpc>
                <a:spcPts val="4318"/>
              </a:lnSpc>
            </a:pPr>
            <a:r>
              <a:rPr lang="en-US" sz="2076">
                <a:solidFill>
                  <a:srgbClr val="545454"/>
                </a:solidFill>
                <a:latin typeface="Garet"/>
                <a:ea typeface="Garet"/>
                <a:cs typeface="Garet"/>
                <a:sym typeface="Garet"/>
              </a:rPr>
              <a:t> is an offline-first financial record application designed for small businesses in Addis Ababa. It automatically converts Telebirr payment SMS messages into organized transaction records, helping business owners easily track their income, expenses, profit, and customer debts. The application is designed to work primarily on the device, keeping financial information private and secure while allowing users to export their records when they choose.</a:t>
            </a:r>
          </a:p>
        </p:txBody>
      </p:sp>
      <p:sp>
        <p:nvSpPr>
          <p:cNvPr id="14" name="AutoShape 14"/>
          <p:cNvSpPr/>
          <p:nvPr/>
        </p:nvSpPr>
        <p:spPr>
          <a:xfrm>
            <a:off x="6331269" y="9272588"/>
            <a:ext cx="7596266" cy="0"/>
          </a:xfrm>
          <a:prstGeom prst="line">
            <a:avLst/>
          </a:prstGeom>
          <a:ln w="28575" cap="flat">
            <a:solidFill>
              <a:srgbClr val="000000"/>
            </a:solidFill>
            <a:prstDash val="solid"/>
            <a:headEnd type="none" w="sm" len="sm"/>
            <a:tailEnd type="none" w="sm" len="sm"/>
          </a:ln>
        </p:spPr>
      </p:sp>
      <p:sp>
        <p:nvSpPr>
          <p:cNvPr id="15" name="TextBox 15"/>
          <p:cNvSpPr txBox="1"/>
          <p:nvPr/>
        </p:nvSpPr>
        <p:spPr>
          <a:xfrm>
            <a:off x="15127348" y="8848706"/>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3474439" y="9248775"/>
            <a:ext cx="7596266" cy="0"/>
          </a:xfrm>
          <a:prstGeom prst="line">
            <a:avLst/>
          </a:prstGeom>
          <a:ln w="19050" cap="flat">
            <a:solidFill>
              <a:srgbClr val="000000"/>
            </a:solidFill>
            <a:prstDash val="solid"/>
            <a:headEnd type="none" w="sm" len="sm"/>
            <a:tailEnd type="none" w="sm" len="sm"/>
          </a:ln>
        </p:spPr>
      </p:sp>
      <p:sp>
        <p:nvSpPr>
          <p:cNvPr id="3" name="TextBox 3"/>
          <p:cNvSpPr txBox="1"/>
          <p:nvPr/>
        </p:nvSpPr>
        <p:spPr>
          <a:xfrm>
            <a:off x="823656" y="1505746"/>
            <a:ext cx="8195112" cy="1467483"/>
          </a:xfrm>
          <a:prstGeom prst="rect">
            <a:avLst/>
          </a:prstGeom>
        </p:spPr>
        <p:txBody>
          <a:bodyPr lIns="0" tIns="0" rIns="0" bIns="0" rtlCol="0" anchor="t">
            <a:spAutoFit/>
          </a:bodyPr>
          <a:lstStyle/>
          <a:p>
            <a:pPr algn="l">
              <a:lnSpc>
                <a:spcPts val="5740"/>
              </a:lnSpc>
            </a:pPr>
            <a:r>
              <a:rPr lang="en-US" sz="4100">
                <a:solidFill>
                  <a:srgbClr val="444E55"/>
                </a:solidFill>
                <a:latin typeface="Horizon"/>
                <a:ea typeface="Horizon"/>
                <a:cs typeface="Horizon"/>
                <a:sym typeface="Horizon"/>
              </a:rPr>
              <a:t>Statement of the Problem</a:t>
            </a:r>
          </a:p>
        </p:txBody>
      </p:sp>
      <p:sp>
        <p:nvSpPr>
          <p:cNvPr id="4" name="TextBox 4"/>
          <p:cNvSpPr txBox="1"/>
          <p:nvPr/>
        </p:nvSpPr>
        <p:spPr>
          <a:xfrm>
            <a:off x="1598696" y="8878888"/>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02</a:t>
            </a:r>
          </a:p>
        </p:txBody>
      </p:sp>
      <p:sp>
        <p:nvSpPr>
          <p:cNvPr id="5" name="TextBox 5"/>
          <p:cNvSpPr txBox="1"/>
          <p:nvPr/>
        </p:nvSpPr>
        <p:spPr>
          <a:xfrm>
            <a:off x="536078" y="3515987"/>
            <a:ext cx="9971025" cy="4481934"/>
          </a:xfrm>
          <a:prstGeom prst="rect">
            <a:avLst/>
          </a:prstGeom>
        </p:spPr>
        <p:txBody>
          <a:bodyPr lIns="0" tIns="0" rIns="0" bIns="0" rtlCol="0" anchor="t">
            <a:spAutoFit/>
          </a:bodyPr>
          <a:lstStyle/>
          <a:p>
            <a:pPr algn="l">
              <a:lnSpc>
                <a:spcPts val="4021"/>
              </a:lnSpc>
            </a:pPr>
            <a:r>
              <a:rPr lang="en-US" sz="2482">
                <a:solidFill>
                  <a:srgbClr val="545454"/>
                </a:solidFill>
                <a:latin typeface="Garet"/>
                <a:ea typeface="Garet"/>
                <a:cs typeface="Garet"/>
                <a:sym typeface="Garet"/>
              </a:rPr>
              <a:t>Small business owners often receive payments through Telebirr, cash, and other methods, but keeping accurate financial records can be difficult. Manual bookkeeping takes time and may lead to missing transactions, making it harder to know their actual income, expenses, profit, and outstanding debts. Poor financial records can also make it difficult for businesses to make good decisions or prepare records when applying for loans.</a:t>
            </a:r>
          </a:p>
          <a:p>
            <a:pPr algn="l">
              <a:lnSpc>
                <a:spcPts val="4021"/>
              </a:lnSpc>
            </a:pPr>
            <a:endParaRPr lang="en-US" sz="2482">
              <a:solidFill>
                <a:srgbClr val="545454"/>
              </a:solidFill>
              <a:latin typeface="Garet"/>
              <a:ea typeface="Garet"/>
              <a:cs typeface="Garet"/>
              <a:sym typeface="Garet"/>
            </a:endParaRPr>
          </a:p>
        </p:txBody>
      </p:sp>
      <p:grpSp>
        <p:nvGrpSpPr>
          <p:cNvPr id="6" name="Group 6"/>
          <p:cNvGrpSpPr/>
          <p:nvPr/>
        </p:nvGrpSpPr>
        <p:grpSpPr>
          <a:xfrm>
            <a:off x="10708930" y="0"/>
            <a:ext cx="7579070" cy="10287000"/>
            <a:chOff x="0" y="0"/>
            <a:chExt cx="1174196" cy="1593725"/>
          </a:xfrm>
        </p:grpSpPr>
        <p:sp>
          <p:nvSpPr>
            <p:cNvPr id="7" name="Freeform 7"/>
            <p:cNvSpPr/>
            <p:nvPr/>
          </p:nvSpPr>
          <p:spPr>
            <a:xfrm>
              <a:off x="0" y="0"/>
              <a:ext cx="1174196" cy="1593725"/>
            </a:xfrm>
            <a:custGeom>
              <a:avLst/>
              <a:gdLst/>
              <a:ahLst/>
              <a:cxnLst/>
              <a:rect l="l" t="t" r="r" b="b"/>
              <a:pathLst>
                <a:path w="1174196" h="1593725">
                  <a:moveTo>
                    <a:pt x="0" y="0"/>
                  </a:moveTo>
                  <a:lnTo>
                    <a:pt x="1174196" y="0"/>
                  </a:lnTo>
                  <a:lnTo>
                    <a:pt x="1174196" y="1593725"/>
                  </a:lnTo>
                  <a:lnTo>
                    <a:pt x="0" y="1593725"/>
                  </a:lnTo>
                  <a:close/>
                </a:path>
              </a:pathLst>
            </a:custGeom>
            <a:blipFill>
              <a:blip r:embed="rId2"/>
              <a:stretch>
                <a:fillRect l="-51669" r="-51669"/>
              </a:stretch>
            </a:blipFill>
          </p:spPr>
        </p:sp>
      </p:grpSp>
      <p:grpSp>
        <p:nvGrpSpPr>
          <p:cNvPr id="8" name="Group 8"/>
          <p:cNvGrpSpPr/>
          <p:nvPr/>
        </p:nvGrpSpPr>
        <p:grpSpPr>
          <a:xfrm>
            <a:off x="-2327752" y="-2857071"/>
            <a:ext cx="15247719" cy="15247719"/>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10" name="TextBox 10"/>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11" name="AutoShape 11"/>
          <p:cNvSpPr/>
          <p:nvPr/>
        </p:nvSpPr>
        <p:spPr>
          <a:xfrm>
            <a:off x="3626839" y="9401175"/>
            <a:ext cx="7596266" cy="0"/>
          </a:xfrm>
          <a:prstGeom prst="line">
            <a:avLst/>
          </a:prstGeom>
          <a:ln w="19050" cap="flat">
            <a:solidFill>
              <a:srgbClr val="000000"/>
            </a:solidFill>
            <a:prstDash val="solid"/>
            <a:headEnd type="none" w="sm" len="sm"/>
            <a:tailEnd type="none" w="sm" len="sm"/>
          </a:ln>
        </p:spPr>
      </p:sp>
      <p:sp>
        <p:nvSpPr>
          <p:cNvPr id="12" name="TextBox 12"/>
          <p:cNvSpPr txBox="1"/>
          <p:nvPr/>
        </p:nvSpPr>
        <p:spPr>
          <a:xfrm>
            <a:off x="976056" y="1658146"/>
            <a:ext cx="8195112" cy="1467483"/>
          </a:xfrm>
          <a:prstGeom prst="rect">
            <a:avLst/>
          </a:prstGeom>
        </p:spPr>
        <p:txBody>
          <a:bodyPr lIns="0" tIns="0" rIns="0" bIns="0" rtlCol="0" anchor="t">
            <a:spAutoFit/>
          </a:bodyPr>
          <a:lstStyle/>
          <a:p>
            <a:pPr algn="l">
              <a:lnSpc>
                <a:spcPts val="5740"/>
              </a:lnSpc>
            </a:pPr>
            <a:r>
              <a:rPr lang="en-US" sz="4100">
                <a:solidFill>
                  <a:srgbClr val="444E55"/>
                </a:solidFill>
                <a:latin typeface="Horizon"/>
                <a:ea typeface="Horizon"/>
                <a:cs typeface="Horizon"/>
                <a:sym typeface="Horizon"/>
              </a:rPr>
              <a:t>Statement of the Problem</a:t>
            </a:r>
          </a:p>
        </p:txBody>
      </p:sp>
      <p:sp>
        <p:nvSpPr>
          <p:cNvPr id="13" name="TextBox 13"/>
          <p:cNvSpPr txBox="1"/>
          <p:nvPr/>
        </p:nvSpPr>
        <p:spPr>
          <a:xfrm>
            <a:off x="1751096" y="9031288"/>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02</a:t>
            </a:r>
          </a:p>
        </p:txBody>
      </p:sp>
      <p:sp>
        <p:nvSpPr>
          <p:cNvPr id="14" name="TextBox 14"/>
          <p:cNvSpPr txBox="1"/>
          <p:nvPr/>
        </p:nvSpPr>
        <p:spPr>
          <a:xfrm>
            <a:off x="688478" y="3668387"/>
            <a:ext cx="9971025" cy="4481934"/>
          </a:xfrm>
          <a:prstGeom prst="rect">
            <a:avLst/>
          </a:prstGeom>
        </p:spPr>
        <p:txBody>
          <a:bodyPr lIns="0" tIns="0" rIns="0" bIns="0" rtlCol="0" anchor="t">
            <a:spAutoFit/>
          </a:bodyPr>
          <a:lstStyle/>
          <a:p>
            <a:pPr algn="l">
              <a:lnSpc>
                <a:spcPts val="4021"/>
              </a:lnSpc>
            </a:pPr>
            <a:r>
              <a:rPr lang="en-US" sz="2482">
                <a:solidFill>
                  <a:srgbClr val="545454"/>
                </a:solidFill>
                <a:latin typeface="Garet"/>
                <a:ea typeface="Garet"/>
                <a:cs typeface="Garet"/>
                <a:sym typeface="Garet"/>
              </a:rPr>
              <a:t>Small business owners often receive payments through Telebirr, cash, and other methods, but keeping accurate financial records can be difficult. Manual bookkeeping takes time and may lead to missing transactions, making it harder to know their actual income, expenses, profit, and outstanding debts. Poor financial records can also make it difficult for businesses to make good decisions or prepare records when applying for loans.</a:t>
            </a:r>
          </a:p>
          <a:p>
            <a:pPr algn="l">
              <a:lnSpc>
                <a:spcPts val="4021"/>
              </a:lnSpc>
            </a:pPr>
            <a:endParaRPr lang="en-US" sz="2482">
              <a:solidFill>
                <a:srgbClr val="545454"/>
              </a:solidFill>
              <a:latin typeface="Garet"/>
              <a:ea typeface="Garet"/>
              <a:cs typeface="Garet"/>
              <a:sym typeface="Gare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93754" y="-102870"/>
            <a:ext cx="7738098" cy="10600180"/>
            <a:chOff x="0" y="0"/>
            <a:chExt cx="1198834" cy="1642245"/>
          </a:xfrm>
        </p:grpSpPr>
        <p:sp>
          <p:nvSpPr>
            <p:cNvPr id="3" name="Freeform 3"/>
            <p:cNvSpPr/>
            <p:nvPr/>
          </p:nvSpPr>
          <p:spPr>
            <a:xfrm>
              <a:off x="0" y="0"/>
              <a:ext cx="1198834" cy="1642245"/>
            </a:xfrm>
            <a:custGeom>
              <a:avLst/>
              <a:gdLst/>
              <a:ahLst/>
              <a:cxnLst/>
              <a:rect l="l" t="t" r="r" b="b"/>
              <a:pathLst>
                <a:path w="1198834" h="1642245">
                  <a:moveTo>
                    <a:pt x="0" y="0"/>
                  </a:moveTo>
                  <a:lnTo>
                    <a:pt x="1198834" y="0"/>
                  </a:lnTo>
                  <a:lnTo>
                    <a:pt x="1198834" y="1642245"/>
                  </a:lnTo>
                  <a:lnTo>
                    <a:pt x="0" y="1642245"/>
                  </a:lnTo>
                  <a:close/>
                </a:path>
              </a:pathLst>
            </a:custGeom>
            <a:blipFill>
              <a:blip r:embed="rId2"/>
              <a:stretch>
                <a:fillRect l="-1370" r="-1370"/>
              </a:stretch>
            </a:blipFill>
          </p:spPr>
        </p:sp>
      </p:grpSp>
      <p:sp>
        <p:nvSpPr>
          <p:cNvPr id="4" name="TextBox 4"/>
          <p:cNvSpPr txBox="1"/>
          <p:nvPr/>
        </p:nvSpPr>
        <p:spPr>
          <a:xfrm>
            <a:off x="8167370" y="2188323"/>
            <a:ext cx="9331584" cy="7296196"/>
          </a:xfrm>
          <a:prstGeom prst="rect">
            <a:avLst/>
          </a:prstGeom>
        </p:spPr>
        <p:txBody>
          <a:bodyPr lIns="0" tIns="0" rIns="0" bIns="0" rtlCol="0" anchor="t">
            <a:spAutoFit/>
          </a:bodyPr>
          <a:lstStyle/>
          <a:p>
            <a:pPr marL="566350" lvl="1" indent="-283175" algn="l">
              <a:lnSpc>
                <a:spcPts val="3672"/>
              </a:lnSpc>
              <a:buFont typeface="Arial"/>
              <a:buChar char="•"/>
            </a:pPr>
            <a:r>
              <a:rPr lang="en-US" sz="2623">
                <a:solidFill>
                  <a:srgbClr val="737373"/>
                </a:solidFill>
                <a:latin typeface="Garet"/>
                <a:ea typeface="Garet"/>
                <a:cs typeface="Garet"/>
                <a:sym typeface="Garet"/>
              </a:rPr>
              <a:t>Objectives / Solutions</a:t>
            </a:r>
          </a:p>
          <a:p>
            <a:pPr marL="566350" lvl="1" indent="-283175" algn="l">
              <a:lnSpc>
                <a:spcPts val="3672"/>
              </a:lnSpc>
              <a:buFont typeface="Arial"/>
              <a:buChar char="•"/>
            </a:pPr>
            <a:r>
              <a:rPr lang="en-US" sz="2623">
                <a:solidFill>
                  <a:srgbClr val="737373"/>
                </a:solidFill>
                <a:latin typeface="Garet"/>
                <a:ea typeface="Garet"/>
                <a:cs typeface="Garet"/>
                <a:sym typeface="Garet"/>
              </a:rPr>
              <a:t>Automate transaction recording from Telebirr SMS.</a:t>
            </a:r>
          </a:p>
          <a:p>
            <a:pPr marL="566350" lvl="1" indent="-283175" algn="l">
              <a:lnSpc>
                <a:spcPts val="3672"/>
              </a:lnSpc>
              <a:buFont typeface="Arial"/>
              <a:buChar char="•"/>
            </a:pPr>
            <a:r>
              <a:rPr lang="en-US" sz="2623">
                <a:solidFill>
                  <a:srgbClr val="737373"/>
                </a:solidFill>
                <a:latin typeface="Garet"/>
                <a:ea typeface="Garet"/>
                <a:cs typeface="Garet"/>
                <a:sym typeface="Garet"/>
              </a:rPr>
              <a:t>Track income, expenses, profit, and customer debts.</a:t>
            </a:r>
          </a:p>
          <a:p>
            <a:pPr marL="566350" lvl="1" indent="-283175" algn="l">
              <a:lnSpc>
                <a:spcPts val="3672"/>
              </a:lnSpc>
              <a:buFont typeface="Arial"/>
              <a:buChar char="•"/>
            </a:pPr>
            <a:r>
              <a:rPr lang="en-US" sz="2623">
                <a:solidFill>
                  <a:srgbClr val="737373"/>
                </a:solidFill>
                <a:latin typeface="Garet"/>
                <a:ea typeface="Garet"/>
                <a:cs typeface="Garet"/>
                <a:sym typeface="Garet"/>
              </a:rPr>
              <a:t>Reduce manual bookkeeping and recording errors.</a:t>
            </a:r>
          </a:p>
          <a:p>
            <a:pPr marL="566350" lvl="1" indent="-283175" algn="l">
              <a:lnSpc>
                <a:spcPts val="3672"/>
              </a:lnSpc>
              <a:buFont typeface="Arial"/>
              <a:buChar char="•"/>
            </a:pPr>
            <a:r>
              <a:rPr lang="en-US" sz="2623">
                <a:solidFill>
                  <a:srgbClr val="737373"/>
                </a:solidFill>
                <a:latin typeface="Garet"/>
                <a:ea typeface="Garet"/>
                <a:cs typeface="Garet"/>
                <a:sym typeface="Garet"/>
              </a:rPr>
              <a:t>Provide simple daily, weekly, and monthly financial insights.</a:t>
            </a:r>
          </a:p>
          <a:p>
            <a:pPr marL="566350" lvl="1" indent="-283175" algn="l">
              <a:lnSpc>
                <a:spcPts val="3672"/>
              </a:lnSpc>
              <a:buFont typeface="Arial"/>
              <a:buChar char="•"/>
            </a:pPr>
            <a:r>
              <a:rPr lang="en-US" sz="2623">
                <a:solidFill>
                  <a:srgbClr val="737373"/>
                </a:solidFill>
                <a:latin typeface="Garet"/>
                <a:ea typeface="Garet"/>
                <a:cs typeface="Garet"/>
                <a:sym typeface="Garet"/>
              </a:rPr>
              <a:t>Work offline without depending on an internet connection.</a:t>
            </a:r>
          </a:p>
          <a:p>
            <a:pPr marL="566350" lvl="1" indent="-283175" algn="l">
              <a:lnSpc>
                <a:spcPts val="3672"/>
              </a:lnSpc>
              <a:buFont typeface="Arial"/>
              <a:buChar char="•"/>
            </a:pPr>
            <a:r>
              <a:rPr lang="en-US" sz="2623">
                <a:solidFill>
                  <a:srgbClr val="737373"/>
                </a:solidFill>
                <a:latin typeface="Garet"/>
                <a:ea typeface="Garet"/>
                <a:cs typeface="Garet"/>
                <a:sym typeface="Garet"/>
              </a:rPr>
              <a:t>Protect financial data through encrypted local storage.</a:t>
            </a:r>
          </a:p>
          <a:p>
            <a:pPr marL="566350" lvl="1" indent="-283175" algn="l">
              <a:lnSpc>
                <a:spcPts val="3672"/>
              </a:lnSpc>
              <a:buFont typeface="Arial"/>
              <a:buChar char="•"/>
            </a:pPr>
            <a:r>
              <a:rPr lang="en-US" sz="2623">
                <a:solidFill>
                  <a:srgbClr val="737373"/>
                </a:solidFill>
                <a:latin typeface="Garet"/>
                <a:ea typeface="Garet"/>
                <a:cs typeface="Garet"/>
                <a:sym typeface="Garet"/>
              </a:rPr>
              <a:t>Allow users to manually record cash expenses.</a:t>
            </a:r>
          </a:p>
          <a:p>
            <a:pPr marL="566350" lvl="1" indent="-283175" algn="l">
              <a:lnSpc>
                <a:spcPts val="3672"/>
              </a:lnSpc>
              <a:buFont typeface="Arial"/>
              <a:buChar char="•"/>
            </a:pPr>
            <a:r>
              <a:rPr lang="en-US" sz="2623">
                <a:solidFill>
                  <a:srgbClr val="737373"/>
                </a:solidFill>
                <a:latin typeface="Garet"/>
                <a:ea typeface="Garet"/>
                <a:cs typeface="Garet"/>
                <a:sym typeface="Garet"/>
              </a:rPr>
              <a:t>Enable user-controlled export of financial records.</a:t>
            </a:r>
          </a:p>
          <a:p>
            <a:pPr algn="l">
              <a:lnSpc>
                <a:spcPts val="3672"/>
              </a:lnSpc>
            </a:pPr>
            <a:endParaRPr lang="en-US" sz="2623">
              <a:solidFill>
                <a:srgbClr val="737373"/>
              </a:solidFill>
              <a:latin typeface="Garet"/>
              <a:ea typeface="Garet"/>
              <a:cs typeface="Garet"/>
              <a:sym typeface="Garet"/>
            </a:endParaRPr>
          </a:p>
          <a:p>
            <a:pPr algn="l">
              <a:lnSpc>
                <a:spcPts val="3672"/>
              </a:lnSpc>
            </a:pPr>
            <a:endParaRPr lang="en-US" sz="2623">
              <a:solidFill>
                <a:srgbClr val="737373"/>
              </a:solidFill>
              <a:latin typeface="Garet"/>
              <a:ea typeface="Garet"/>
              <a:cs typeface="Garet"/>
              <a:sym typeface="Garet"/>
            </a:endParaRPr>
          </a:p>
        </p:txBody>
      </p:sp>
      <p:grpSp>
        <p:nvGrpSpPr>
          <p:cNvPr id="5" name="Group 5"/>
          <p:cNvGrpSpPr/>
          <p:nvPr/>
        </p:nvGrpSpPr>
        <p:grpSpPr>
          <a:xfrm>
            <a:off x="-34727" y="0"/>
            <a:ext cx="7579070" cy="10287000"/>
            <a:chOff x="0" y="0"/>
            <a:chExt cx="1174196" cy="1593725"/>
          </a:xfrm>
        </p:grpSpPr>
        <p:sp>
          <p:nvSpPr>
            <p:cNvPr id="6" name="Freeform 6"/>
            <p:cNvSpPr/>
            <p:nvPr/>
          </p:nvSpPr>
          <p:spPr>
            <a:xfrm>
              <a:off x="0" y="0"/>
              <a:ext cx="1174196" cy="1593725"/>
            </a:xfrm>
            <a:custGeom>
              <a:avLst/>
              <a:gdLst/>
              <a:ahLst/>
              <a:cxnLst/>
              <a:rect l="l" t="t" r="r" b="b"/>
              <a:pathLst>
                <a:path w="1174196" h="1593725">
                  <a:moveTo>
                    <a:pt x="0" y="0"/>
                  </a:moveTo>
                  <a:lnTo>
                    <a:pt x="1174196" y="0"/>
                  </a:lnTo>
                  <a:lnTo>
                    <a:pt x="1174196" y="1593725"/>
                  </a:lnTo>
                  <a:lnTo>
                    <a:pt x="0" y="1593725"/>
                  </a:lnTo>
                  <a:close/>
                </a:path>
              </a:pathLst>
            </a:custGeom>
            <a:blipFill>
              <a:blip r:embed="rId3"/>
              <a:stretch>
                <a:fillRect l="-17864" r="-17864"/>
              </a:stretch>
            </a:blipFill>
          </p:spPr>
        </p:sp>
      </p:grpSp>
      <p:sp>
        <p:nvSpPr>
          <p:cNvPr id="7" name="AutoShape 7"/>
          <p:cNvSpPr/>
          <p:nvPr/>
        </p:nvSpPr>
        <p:spPr>
          <a:xfrm>
            <a:off x="5826349" y="9267825"/>
            <a:ext cx="7644324" cy="0"/>
          </a:xfrm>
          <a:prstGeom prst="line">
            <a:avLst/>
          </a:prstGeom>
          <a:ln w="19050" cap="flat">
            <a:solidFill>
              <a:srgbClr val="000000"/>
            </a:solidFill>
            <a:prstDash val="solid"/>
            <a:headEnd type="none" w="sm" len="sm"/>
            <a:tailEnd type="none" w="sm" len="sm"/>
          </a:ln>
        </p:spPr>
      </p:sp>
      <p:sp>
        <p:nvSpPr>
          <p:cNvPr id="8" name="TextBox 8"/>
          <p:cNvSpPr txBox="1"/>
          <p:nvPr/>
        </p:nvSpPr>
        <p:spPr>
          <a:xfrm>
            <a:off x="8167370" y="942975"/>
            <a:ext cx="5886818" cy="713447"/>
          </a:xfrm>
          <a:prstGeom prst="rect">
            <a:avLst/>
          </a:prstGeom>
        </p:spPr>
        <p:txBody>
          <a:bodyPr lIns="0" tIns="0" rIns="0" bIns="0" rtlCol="0" anchor="t">
            <a:spAutoFit/>
          </a:bodyPr>
          <a:lstStyle/>
          <a:p>
            <a:pPr algn="l">
              <a:lnSpc>
                <a:spcPts val="5826"/>
              </a:lnSpc>
            </a:pPr>
            <a:r>
              <a:rPr lang="en-US" sz="4161" b="1" spc="753">
                <a:solidFill>
                  <a:srgbClr val="444E55"/>
                </a:solidFill>
                <a:latin typeface="Cy Grotesk V3 Grand Bold"/>
                <a:ea typeface="Cy Grotesk V3 Grand Bold"/>
                <a:cs typeface="Cy Grotesk V3 Grand Bold"/>
                <a:sym typeface="Cy Grotesk V3 Grand Bold"/>
              </a:rPr>
              <a:t>OBJECTIVES</a:t>
            </a:r>
          </a:p>
        </p:txBody>
      </p:sp>
      <p:sp>
        <p:nvSpPr>
          <p:cNvPr id="9" name="TextBox 9"/>
          <p:cNvSpPr txBox="1"/>
          <p:nvPr/>
        </p:nvSpPr>
        <p:spPr>
          <a:xfrm>
            <a:off x="14054188" y="8878888"/>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483878" y="-2480359"/>
            <a:ext cx="15247719" cy="1524771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10852923" y="1028700"/>
            <a:ext cx="7435077" cy="7435077"/>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44E55"/>
            </a:solidFill>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8" name="Group 8"/>
          <p:cNvGrpSpPr/>
          <p:nvPr/>
        </p:nvGrpSpPr>
        <p:grpSpPr>
          <a:xfrm>
            <a:off x="10852923" y="1179889"/>
            <a:ext cx="7132700" cy="7132700"/>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a:stretch>
            </a:blipFill>
          </p:spPr>
        </p:sp>
      </p:grpSp>
      <p:sp>
        <p:nvSpPr>
          <p:cNvPr id="10" name="AutoShape 10"/>
          <p:cNvSpPr/>
          <p:nvPr/>
        </p:nvSpPr>
        <p:spPr>
          <a:xfrm>
            <a:off x="4102417" y="9620494"/>
            <a:ext cx="10083166" cy="0"/>
          </a:xfrm>
          <a:prstGeom prst="line">
            <a:avLst/>
          </a:prstGeom>
          <a:ln w="19050" cap="flat">
            <a:solidFill>
              <a:srgbClr val="000000"/>
            </a:solidFill>
            <a:prstDash val="solid"/>
            <a:headEnd type="none" w="sm" len="sm"/>
            <a:tailEnd type="none" w="sm" len="sm"/>
          </a:ln>
        </p:spPr>
      </p:sp>
      <p:sp>
        <p:nvSpPr>
          <p:cNvPr id="11" name="TextBox 11"/>
          <p:cNvSpPr txBox="1"/>
          <p:nvPr/>
        </p:nvSpPr>
        <p:spPr>
          <a:xfrm>
            <a:off x="1028700" y="630299"/>
            <a:ext cx="7918077" cy="937255"/>
          </a:xfrm>
          <a:prstGeom prst="rect">
            <a:avLst/>
          </a:prstGeom>
        </p:spPr>
        <p:txBody>
          <a:bodyPr lIns="0" tIns="0" rIns="0" bIns="0" rtlCol="0" anchor="t">
            <a:spAutoFit/>
          </a:bodyPr>
          <a:lstStyle/>
          <a:p>
            <a:pPr algn="l">
              <a:lnSpc>
                <a:spcPts val="7140"/>
              </a:lnSpc>
            </a:pPr>
            <a:r>
              <a:rPr lang="en-US" sz="5100">
                <a:solidFill>
                  <a:srgbClr val="444E55"/>
                </a:solidFill>
                <a:latin typeface="Horizon"/>
                <a:ea typeface="Horizon"/>
                <a:cs typeface="Horizon"/>
                <a:sym typeface="Horizon"/>
              </a:rPr>
              <a:t>our visions</a:t>
            </a:r>
          </a:p>
        </p:txBody>
      </p:sp>
      <p:sp>
        <p:nvSpPr>
          <p:cNvPr id="12" name="TextBox 12"/>
          <p:cNvSpPr txBox="1"/>
          <p:nvPr/>
        </p:nvSpPr>
        <p:spPr>
          <a:xfrm>
            <a:off x="767607" y="1760451"/>
            <a:ext cx="9604756" cy="7354010"/>
          </a:xfrm>
          <a:prstGeom prst="rect">
            <a:avLst/>
          </a:prstGeom>
        </p:spPr>
        <p:txBody>
          <a:bodyPr lIns="0" tIns="0" rIns="0" bIns="0" rtlCol="0" anchor="t">
            <a:spAutoFit/>
          </a:bodyPr>
          <a:lstStyle/>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Make money management simple, accessible, and convenient.</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Automatically organize mobile-money transactions into clear records.</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Help users track income, expenses, and daily cash flow.</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Provide clear financial insights from everyday transactions.</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Help users monitor debts and money owed.</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Support better budgeting and financial decision-making.</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Reduce the need for manual financial record keeping.</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Work effectively offline with secure local data storage.</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Protect users' financial information through strong privacy and security.</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Support small businesses in managing daily financial activities.</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Build a foundation for smarter digital financial management in Ethiopia.</a:t>
            </a:r>
          </a:p>
          <a:p>
            <a:pPr marL="475305" lvl="1" indent="-237652" algn="l">
              <a:lnSpc>
                <a:spcPts val="3236"/>
              </a:lnSpc>
              <a:buFont typeface="Arial"/>
              <a:buChar char="•"/>
            </a:pPr>
            <a:r>
              <a:rPr lang="en-US" sz="2201" b="1">
                <a:solidFill>
                  <a:srgbClr val="737373"/>
                </a:solidFill>
                <a:latin typeface="Garet Bold"/>
                <a:ea typeface="Garet Bold"/>
                <a:cs typeface="Garet Bold"/>
                <a:sym typeface="Garet Bold"/>
              </a:rPr>
              <a:t>Improve users' financial awareness and accountability.</a:t>
            </a:r>
          </a:p>
          <a:p>
            <a:pPr algn="l">
              <a:lnSpc>
                <a:spcPts val="3236"/>
              </a:lnSpc>
            </a:pPr>
            <a:endParaRPr lang="en-US" sz="2201" b="1">
              <a:solidFill>
                <a:srgbClr val="737373"/>
              </a:solidFill>
              <a:latin typeface="Garet Bold"/>
              <a:ea typeface="Garet Bold"/>
              <a:cs typeface="Garet Bold"/>
              <a:sym typeface="Garet Bold"/>
            </a:endParaRPr>
          </a:p>
        </p:txBody>
      </p:sp>
      <p:sp>
        <p:nvSpPr>
          <p:cNvPr id="13" name="TextBox 13"/>
          <p:cNvSpPr txBox="1"/>
          <p:nvPr/>
        </p:nvSpPr>
        <p:spPr>
          <a:xfrm>
            <a:off x="2129563" y="9241082"/>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483878" y="-2480359"/>
            <a:ext cx="15247719" cy="1524771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10852923" y="1028700"/>
            <a:ext cx="7435077" cy="7435077"/>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44E55"/>
            </a:solidFill>
          </p:spPr>
        </p:sp>
        <p:sp>
          <p:nvSpPr>
            <p:cNvPr id="7" name="TextBox 7"/>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8" name="Group 8"/>
          <p:cNvGrpSpPr/>
          <p:nvPr/>
        </p:nvGrpSpPr>
        <p:grpSpPr>
          <a:xfrm>
            <a:off x="10852923" y="1179889"/>
            <a:ext cx="7132700" cy="7132700"/>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a:stretch>
            </a:blipFill>
          </p:spPr>
        </p:sp>
      </p:grpSp>
      <p:sp>
        <p:nvSpPr>
          <p:cNvPr id="10" name="AutoShape 10"/>
          <p:cNvSpPr/>
          <p:nvPr/>
        </p:nvSpPr>
        <p:spPr>
          <a:xfrm>
            <a:off x="4102417" y="9620494"/>
            <a:ext cx="10083166" cy="0"/>
          </a:xfrm>
          <a:prstGeom prst="line">
            <a:avLst/>
          </a:prstGeom>
          <a:ln w="19050" cap="flat">
            <a:solidFill>
              <a:srgbClr val="000000"/>
            </a:solidFill>
            <a:prstDash val="solid"/>
            <a:headEnd type="none" w="sm" len="sm"/>
            <a:tailEnd type="none" w="sm" len="sm"/>
          </a:ln>
        </p:spPr>
      </p:sp>
      <p:sp>
        <p:nvSpPr>
          <p:cNvPr id="11" name="TextBox 11"/>
          <p:cNvSpPr txBox="1"/>
          <p:nvPr/>
        </p:nvSpPr>
        <p:spPr>
          <a:xfrm>
            <a:off x="1028700" y="630299"/>
            <a:ext cx="7918077" cy="937255"/>
          </a:xfrm>
          <a:prstGeom prst="rect">
            <a:avLst/>
          </a:prstGeom>
        </p:spPr>
        <p:txBody>
          <a:bodyPr lIns="0" tIns="0" rIns="0" bIns="0" rtlCol="0" anchor="t">
            <a:spAutoFit/>
          </a:bodyPr>
          <a:lstStyle/>
          <a:p>
            <a:pPr algn="l">
              <a:lnSpc>
                <a:spcPts val="7140"/>
              </a:lnSpc>
            </a:pPr>
            <a:r>
              <a:rPr lang="en-US" sz="5100">
                <a:solidFill>
                  <a:srgbClr val="444E55"/>
                </a:solidFill>
                <a:latin typeface="Horizon"/>
                <a:ea typeface="Horizon"/>
                <a:cs typeface="Horizon"/>
                <a:sym typeface="Horizon"/>
              </a:rPr>
              <a:t>Key Features</a:t>
            </a:r>
          </a:p>
        </p:txBody>
      </p:sp>
      <p:sp>
        <p:nvSpPr>
          <p:cNvPr id="12" name="TextBox 12"/>
          <p:cNvSpPr txBox="1"/>
          <p:nvPr/>
        </p:nvSpPr>
        <p:spPr>
          <a:xfrm>
            <a:off x="825563" y="1847384"/>
            <a:ext cx="9604756" cy="7763585"/>
          </a:xfrm>
          <a:prstGeom prst="rect">
            <a:avLst/>
          </a:prstGeom>
        </p:spPr>
        <p:txBody>
          <a:bodyPr lIns="0" tIns="0" rIns="0" bIns="0" rtlCol="0" anchor="t">
            <a:spAutoFit/>
          </a:bodyPr>
          <a:lstStyle/>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Automatic SMS Parsing</a:t>
            </a:r>
            <a:r>
              <a:rPr lang="en-US" sz="2201">
                <a:solidFill>
                  <a:srgbClr val="545454"/>
                </a:solidFill>
                <a:latin typeface="Garet"/>
                <a:ea typeface="Garet"/>
                <a:cs typeface="Garet"/>
                <a:sym typeface="Garet"/>
              </a:rPr>
              <a:t> – Converts Telebirr payment SMS into transactions.</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Income &amp; Expense Tracking </a:t>
            </a:r>
            <a:r>
              <a:rPr lang="en-US" sz="2201">
                <a:solidFill>
                  <a:srgbClr val="545454"/>
                </a:solidFill>
                <a:latin typeface="Garet"/>
                <a:ea typeface="Garet"/>
                <a:cs typeface="Garet"/>
                <a:sym typeface="Garet"/>
              </a:rPr>
              <a:t>– Automatically records received and sent payments.</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Self-Learning Matcher</a:t>
            </a:r>
            <a:r>
              <a:rPr lang="en-US" sz="2201">
                <a:solidFill>
                  <a:srgbClr val="545454"/>
                </a:solidFill>
                <a:latin typeface="Garet"/>
                <a:ea typeface="Garet"/>
                <a:cs typeface="Garet"/>
                <a:sym typeface="Garet"/>
              </a:rPr>
              <a:t> – Learns from confirmed item matches for faster future transactions.</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Profit Dashboard</a:t>
            </a:r>
            <a:r>
              <a:rPr lang="en-US" sz="2201">
                <a:solidFill>
                  <a:srgbClr val="545454"/>
                </a:solidFill>
                <a:latin typeface="Garet"/>
                <a:ea typeface="Garet"/>
                <a:cs typeface="Garet"/>
                <a:sym typeface="Garet"/>
              </a:rPr>
              <a:t> – Shows daily, weekly, and monthly financial summaries.</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Manual Expense Entry</a:t>
            </a:r>
            <a:r>
              <a:rPr lang="en-US" sz="2201">
                <a:solidFill>
                  <a:srgbClr val="545454"/>
                </a:solidFill>
                <a:latin typeface="Garet"/>
                <a:ea typeface="Garet"/>
                <a:cs typeface="Garet"/>
                <a:sym typeface="Garet"/>
              </a:rPr>
              <a:t> – Allows users to quickly record cash expenses.</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Debt Tracking</a:t>
            </a:r>
            <a:r>
              <a:rPr lang="en-US" sz="2201">
                <a:solidFill>
                  <a:srgbClr val="545454"/>
                </a:solidFill>
                <a:latin typeface="Garet"/>
                <a:ea typeface="Garet"/>
                <a:cs typeface="Garet"/>
                <a:sym typeface="Garet"/>
              </a:rPr>
              <a:t> – Keeps a simple list of customers who owe money.</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Offline-First</a:t>
            </a:r>
            <a:r>
              <a:rPr lang="en-US" sz="2201">
                <a:solidFill>
                  <a:srgbClr val="545454"/>
                </a:solidFill>
                <a:latin typeface="Garet"/>
                <a:ea typeface="Garet"/>
                <a:cs typeface="Garet"/>
                <a:sym typeface="Garet"/>
              </a:rPr>
              <a:t> – Core features work without an internet connection.</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Secure Storage</a:t>
            </a:r>
            <a:r>
              <a:rPr lang="en-US" sz="2201">
                <a:solidFill>
                  <a:srgbClr val="545454"/>
                </a:solidFill>
                <a:latin typeface="Garet"/>
                <a:ea typeface="Garet"/>
                <a:cs typeface="Garet"/>
                <a:sym typeface="Garet"/>
              </a:rPr>
              <a:t> – Protects financial data using encrypted local storage.</a:t>
            </a:r>
          </a:p>
          <a:p>
            <a:pPr marL="475305" lvl="1" indent="-237652" algn="l">
              <a:lnSpc>
                <a:spcPts val="3236"/>
              </a:lnSpc>
              <a:buFont typeface="Arial"/>
              <a:buChar char="•"/>
            </a:pPr>
            <a:r>
              <a:rPr lang="en-US" sz="2201" b="1">
                <a:solidFill>
                  <a:srgbClr val="545454"/>
                </a:solidFill>
                <a:latin typeface="Garet Bold"/>
                <a:ea typeface="Garet Bold"/>
                <a:cs typeface="Garet Bold"/>
                <a:sym typeface="Garet Bold"/>
              </a:rPr>
              <a:t>User-Controlled Export </a:t>
            </a:r>
            <a:r>
              <a:rPr lang="en-US" sz="2201">
                <a:solidFill>
                  <a:srgbClr val="545454"/>
                </a:solidFill>
                <a:latin typeface="Garet"/>
                <a:ea typeface="Garet"/>
                <a:cs typeface="Garet"/>
                <a:sym typeface="Garet"/>
              </a:rPr>
              <a:t>– Allows users to export or sync their records when needed.</a:t>
            </a:r>
          </a:p>
          <a:p>
            <a:pPr algn="l">
              <a:lnSpc>
                <a:spcPts val="3236"/>
              </a:lnSpc>
            </a:pPr>
            <a:endParaRPr lang="en-US" sz="2201">
              <a:solidFill>
                <a:srgbClr val="545454"/>
              </a:solidFill>
              <a:latin typeface="Garet"/>
              <a:ea typeface="Garet"/>
              <a:cs typeface="Garet"/>
              <a:sym typeface="Garet"/>
            </a:endParaRPr>
          </a:p>
        </p:txBody>
      </p:sp>
      <p:sp>
        <p:nvSpPr>
          <p:cNvPr id="13" name="TextBox 13"/>
          <p:cNvSpPr txBox="1"/>
          <p:nvPr/>
        </p:nvSpPr>
        <p:spPr>
          <a:xfrm>
            <a:off x="2129563" y="9241082"/>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sp>
      <p:sp>
        <p:nvSpPr>
          <p:cNvPr id="3" name="TextBox 3"/>
          <p:cNvSpPr txBox="1"/>
          <p:nvPr/>
        </p:nvSpPr>
        <p:spPr>
          <a:xfrm>
            <a:off x="-936405" y="288925"/>
            <a:ext cx="12394764" cy="1270000"/>
          </a:xfrm>
          <a:prstGeom prst="rect">
            <a:avLst/>
          </a:prstGeom>
        </p:spPr>
        <p:txBody>
          <a:bodyPr lIns="0" tIns="0" rIns="0" bIns="0" rtlCol="0" anchor="t">
            <a:spAutoFit/>
          </a:bodyPr>
          <a:lstStyle/>
          <a:p>
            <a:pPr algn="ctr">
              <a:lnSpc>
                <a:spcPts val="9799"/>
              </a:lnSpc>
            </a:pPr>
            <a:r>
              <a:rPr lang="en-US" sz="6999">
                <a:solidFill>
                  <a:srgbClr val="FFFFFF"/>
                </a:solidFill>
                <a:latin typeface="Horizon"/>
                <a:ea typeface="Horizon"/>
                <a:cs typeface="Horizon"/>
                <a:sym typeface="Horizon"/>
              </a:rPr>
              <a:t>Actors</a:t>
            </a:r>
          </a:p>
        </p:txBody>
      </p:sp>
      <p:grpSp>
        <p:nvGrpSpPr>
          <p:cNvPr id="4" name="Group 4"/>
          <p:cNvGrpSpPr/>
          <p:nvPr/>
        </p:nvGrpSpPr>
        <p:grpSpPr>
          <a:xfrm>
            <a:off x="680247" y="3534404"/>
            <a:ext cx="3086100" cy="4738651"/>
            <a:chOff x="0" y="0"/>
            <a:chExt cx="812800" cy="1248040"/>
          </a:xfrm>
        </p:grpSpPr>
        <p:sp>
          <p:nvSpPr>
            <p:cNvPr id="5" name="Freeform 5"/>
            <p:cNvSpPr/>
            <p:nvPr/>
          </p:nvSpPr>
          <p:spPr>
            <a:xfrm>
              <a:off x="0" y="0"/>
              <a:ext cx="812800" cy="1248040"/>
            </a:xfrm>
            <a:custGeom>
              <a:avLst/>
              <a:gdLst/>
              <a:ahLst/>
              <a:cxnLst/>
              <a:rect l="l" t="t" r="r" b="b"/>
              <a:pathLst>
                <a:path w="812800" h="1248040">
                  <a:moveTo>
                    <a:pt x="42647" y="0"/>
                  </a:moveTo>
                  <a:lnTo>
                    <a:pt x="770153" y="0"/>
                  </a:lnTo>
                  <a:cubicBezTo>
                    <a:pt x="781464" y="0"/>
                    <a:pt x="792311" y="4493"/>
                    <a:pt x="800309" y="12491"/>
                  </a:cubicBezTo>
                  <a:cubicBezTo>
                    <a:pt x="808307" y="20489"/>
                    <a:pt x="812800" y="31336"/>
                    <a:pt x="812800" y="42647"/>
                  </a:cubicBezTo>
                  <a:lnTo>
                    <a:pt x="812800" y="1205393"/>
                  </a:lnTo>
                  <a:cubicBezTo>
                    <a:pt x="812800" y="1216704"/>
                    <a:pt x="808307" y="1227551"/>
                    <a:pt x="800309" y="1235549"/>
                  </a:cubicBezTo>
                  <a:cubicBezTo>
                    <a:pt x="792311" y="1243547"/>
                    <a:pt x="781464" y="1248040"/>
                    <a:pt x="770153" y="1248040"/>
                  </a:cubicBezTo>
                  <a:lnTo>
                    <a:pt x="42647" y="1248040"/>
                  </a:lnTo>
                  <a:cubicBezTo>
                    <a:pt x="31336" y="1248040"/>
                    <a:pt x="20489" y="1243547"/>
                    <a:pt x="12491" y="1235549"/>
                  </a:cubicBezTo>
                  <a:cubicBezTo>
                    <a:pt x="4493" y="1227551"/>
                    <a:pt x="0" y="1216704"/>
                    <a:pt x="0" y="1205393"/>
                  </a:cubicBezTo>
                  <a:lnTo>
                    <a:pt x="0" y="42647"/>
                  </a:lnTo>
                  <a:cubicBezTo>
                    <a:pt x="0" y="31336"/>
                    <a:pt x="4493" y="20489"/>
                    <a:pt x="12491" y="12491"/>
                  </a:cubicBezTo>
                  <a:cubicBezTo>
                    <a:pt x="20489" y="4493"/>
                    <a:pt x="31336" y="0"/>
                    <a:pt x="42647" y="0"/>
                  </a:cubicBezTo>
                  <a:close/>
                </a:path>
              </a:pathLst>
            </a:custGeom>
            <a:solidFill>
              <a:srgbClr val="000000"/>
            </a:solidFill>
          </p:spPr>
        </p:sp>
        <p:sp>
          <p:nvSpPr>
            <p:cNvPr id="6" name="TextBox 6"/>
            <p:cNvSpPr txBox="1"/>
            <p:nvPr/>
          </p:nvSpPr>
          <p:spPr>
            <a:xfrm>
              <a:off x="0" y="-47625"/>
              <a:ext cx="812800" cy="1295665"/>
            </a:xfrm>
            <a:prstGeom prst="rect">
              <a:avLst/>
            </a:prstGeom>
          </p:spPr>
          <p:txBody>
            <a:bodyPr lIns="50800" tIns="50800" rIns="50800" bIns="50800" rtlCol="0" anchor="ctr"/>
            <a:lstStyle/>
            <a:p>
              <a:pPr algn="ctr">
                <a:lnSpc>
                  <a:spcPts val="3220"/>
                </a:lnSpc>
              </a:pPr>
              <a:r>
                <a:rPr lang="en-US" sz="2300" spc="62">
                  <a:solidFill>
                    <a:srgbClr val="FFFFFF"/>
                  </a:solidFill>
                  <a:latin typeface="Garet"/>
                  <a:ea typeface="Garet"/>
                  <a:cs typeface="Garet"/>
                  <a:sym typeface="Garet"/>
                </a:rPr>
                <a:t> The main user of Mekenet who manages daily transactions, checks financial summaries, records expenses, and tracks customers who owe money.</a:t>
              </a:r>
            </a:p>
          </p:txBody>
        </p:sp>
      </p:grpSp>
      <p:sp>
        <p:nvSpPr>
          <p:cNvPr id="7" name="AutoShape 7"/>
          <p:cNvSpPr/>
          <p:nvPr/>
        </p:nvSpPr>
        <p:spPr>
          <a:xfrm>
            <a:off x="4397840" y="9576665"/>
            <a:ext cx="10083166" cy="0"/>
          </a:xfrm>
          <a:prstGeom prst="line">
            <a:avLst/>
          </a:prstGeom>
          <a:ln w="19050" cap="flat">
            <a:solidFill>
              <a:srgbClr val="FCFCFC"/>
            </a:solidFill>
            <a:prstDash val="solid"/>
            <a:headEnd type="none" w="sm" len="sm"/>
            <a:tailEnd type="none" w="sm" len="sm"/>
          </a:ln>
        </p:spPr>
      </p:sp>
      <p:sp>
        <p:nvSpPr>
          <p:cNvPr id="8" name="TextBox 8"/>
          <p:cNvSpPr txBox="1"/>
          <p:nvPr/>
        </p:nvSpPr>
        <p:spPr>
          <a:xfrm>
            <a:off x="14966781" y="9144000"/>
            <a:ext cx="969619" cy="644525"/>
          </a:xfrm>
          <a:prstGeom prst="rect">
            <a:avLst/>
          </a:prstGeom>
        </p:spPr>
        <p:txBody>
          <a:bodyPr lIns="0" tIns="0" rIns="0" bIns="0" rtlCol="0" anchor="t">
            <a:spAutoFit/>
          </a:bodyPr>
          <a:lstStyle/>
          <a:p>
            <a:pPr algn="l">
              <a:lnSpc>
                <a:spcPts val="4900"/>
              </a:lnSpc>
            </a:pPr>
            <a:r>
              <a:rPr lang="en-US" sz="3500">
                <a:solidFill>
                  <a:srgbClr val="FFFFFF"/>
                </a:solidFill>
                <a:latin typeface="Horizon"/>
                <a:ea typeface="Horizon"/>
                <a:cs typeface="Horizon"/>
                <a:sym typeface="Horizon"/>
              </a:rPr>
              <a:t>05</a:t>
            </a:r>
          </a:p>
        </p:txBody>
      </p:sp>
      <p:grpSp>
        <p:nvGrpSpPr>
          <p:cNvPr id="9" name="Group 9"/>
          <p:cNvGrpSpPr/>
          <p:nvPr/>
        </p:nvGrpSpPr>
        <p:grpSpPr>
          <a:xfrm>
            <a:off x="4251156" y="3534404"/>
            <a:ext cx="3086100" cy="4738651"/>
            <a:chOff x="0" y="0"/>
            <a:chExt cx="812800" cy="1248040"/>
          </a:xfrm>
        </p:grpSpPr>
        <p:sp>
          <p:nvSpPr>
            <p:cNvPr id="10" name="Freeform 10"/>
            <p:cNvSpPr/>
            <p:nvPr/>
          </p:nvSpPr>
          <p:spPr>
            <a:xfrm>
              <a:off x="0" y="0"/>
              <a:ext cx="812800" cy="1248040"/>
            </a:xfrm>
            <a:custGeom>
              <a:avLst/>
              <a:gdLst/>
              <a:ahLst/>
              <a:cxnLst/>
              <a:rect l="l" t="t" r="r" b="b"/>
              <a:pathLst>
                <a:path w="812800" h="1248040">
                  <a:moveTo>
                    <a:pt x="42647" y="0"/>
                  </a:moveTo>
                  <a:lnTo>
                    <a:pt x="770153" y="0"/>
                  </a:lnTo>
                  <a:cubicBezTo>
                    <a:pt x="781464" y="0"/>
                    <a:pt x="792311" y="4493"/>
                    <a:pt x="800309" y="12491"/>
                  </a:cubicBezTo>
                  <a:cubicBezTo>
                    <a:pt x="808307" y="20489"/>
                    <a:pt x="812800" y="31336"/>
                    <a:pt x="812800" y="42647"/>
                  </a:cubicBezTo>
                  <a:lnTo>
                    <a:pt x="812800" y="1205393"/>
                  </a:lnTo>
                  <a:cubicBezTo>
                    <a:pt x="812800" y="1216704"/>
                    <a:pt x="808307" y="1227551"/>
                    <a:pt x="800309" y="1235549"/>
                  </a:cubicBezTo>
                  <a:cubicBezTo>
                    <a:pt x="792311" y="1243547"/>
                    <a:pt x="781464" y="1248040"/>
                    <a:pt x="770153" y="1248040"/>
                  </a:cubicBezTo>
                  <a:lnTo>
                    <a:pt x="42647" y="1248040"/>
                  </a:lnTo>
                  <a:cubicBezTo>
                    <a:pt x="31336" y="1248040"/>
                    <a:pt x="20489" y="1243547"/>
                    <a:pt x="12491" y="1235549"/>
                  </a:cubicBezTo>
                  <a:cubicBezTo>
                    <a:pt x="4493" y="1227551"/>
                    <a:pt x="0" y="1216704"/>
                    <a:pt x="0" y="1205393"/>
                  </a:cubicBezTo>
                  <a:lnTo>
                    <a:pt x="0" y="42647"/>
                  </a:lnTo>
                  <a:cubicBezTo>
                    <a:pt x="0" y="31336"/>
                    <a:pt x="4493" y="20489"/>
                    <a:pt x="12491" y="12491"/>
                  </a:cubicBezTo>
                  <a:cubicBezTo>
                    <a:pt x="20489" y="4493"/>
                    <a:pt x="31336" y="0"/>
                    <a:pt x="42647" y="0"/>
                  </a:cubicBezTo>
                  <a:close/>
                </a:path>
              </a:pathLst>
            </a:custGeom>
            <a:solidFill>
              <a:srgbClr val="3B3B3F"/>
            </a:solidFill>
          </p:spPr>
        </p:sp>
        <p:sp>
          <p:nvSpPr>
            <p:cNvPr id="11" name="TextBox 11"/>
            <p:cNvSpPr txBox="1"/>
            <p:nvPr/>
          </p:nvSpPr>
          <p:spPr>
            <a:xfrm>
              <a:off x="0" y="-47625"/>
              <a:ext cx="812800" cy="1295665"/>
            </a:xfrm>
            <a:prstGeom prst="rect">
              <a:avLst/>
            </a:prstGeom>
          </p:spPr>
          <p:txBody>
            <a:bodyPr lIns="50800" tIns="50800" rIns="50800" bIns="50800" rtlCol="0" anchor="ctr"/>
            <a:lstStyle/>
            <a:p>
              <a:pPr algn="ctr">
                <a:lnSpc>
                  <a:spcPts val="3220"/>
                </a:lnSpc>
              </a:pPr>
              <a:r>
                <a:rPr lang="en-US" sz="2300" spc="62">
                  <a:solidFill>
                    <a:srgbClr val="FFFFFF"/>
                  </a:solidFill>
                  <a:latin typeface="Garet"/>
                  <a:ea typeface="Garet"/>
                  <a:cs typeface="Garet"/>
                  <a:sym typeface="Garet"/>
                </a:rPr>
                <a:t>Provides Telebirr payment notifications to the application. Mekenet processes these messages automatically to identify transaction details.</a:t>
              </a:r>
            </a:p>
          </p:txBody>
        </p:sp>
      </p:grpSp>
      <p:grpSp>
        <p:nvGrpSpPr>
          <p:cNvPr id="12" name="Group 12"/>
          <p:cNvGrpSpPr/>
          <p:nvPr/>
        </p:nvGrpSpPr>
        <p:grpSpPr>
          <a:xfrm>
            <a:off x="7823031" y="3534404"/>
            <a:ext cx="3086100" cy="4723830"/>
            <a:chOff x="0" y="0"/>
            <a:chExt cx="812800" cy="1244136"/>
          </a:xfrm>
        </p:grpSpPr>
        <p:sp>
          <p:nvSpPr>
            <p:cNvPr id="13" name="Freeform 13"/>
            <p:cNvSpPr/>
            <p:nvPr/>
          </p:nvSpPr>
          <p:spPr>
            <a:xfrm>
              <a:off x="0" y="0"/>
              <a:ext cx="812800" cy="1244136"/>
            </a:xfrm>
            <a:custGeom>
              <a:avLst/>
              <a:gdLst/>
              <a:ahLst/>
              <a:cxnLst/>
              <a:rect l="l" t="t" r="r" b="b"/>
              <a:pathLst>
                <a:path w="812800" h="1244136">
                  <a:moveTo>
                    <a:pt x="42647" y="0"/>
                  </a:moveTo>
                  <a:lnTo>
                    <a:pt x="770153" y="0"/>
                  </a:lnTo>
                  <a:cubicBezTo>
                    <a:pt x="781464" y="0"/>
                    <a:pt x="792311" y="4493"/>
                    <a:pt x="800309" y="12491"/>
                  </a:cubicBezTo>
                  <a:cubicBezTo>
                    <a:pt x="808307" y="20489"/>
                    <a:pt x="812800" y="31336"/>
                    <a:pt x="812800" y="42647"/>
                  </a:cubicBezTo>
                  <a:lnTo>
                    <a:pt x="812800" y="1201489"/>
                  </a:lnTo>
                  <a:cubicBezTo>
                    <a:pt x="812800" y="1212800"/>
                    <a:pt x="808307" y="1223647"/>
                    <a:pt x="800309" y="1231645"/>
                  </a:cubicBezTo>
                  <a:cubicBezTo>
                    <a:pt x="792311" y="1239643"/>
                    <a:pt x="781464" y="1244136"/>
                    <a:pt x="770153" y="1244136"/>
                  </a:cubicBezTo>
                  <a:lnTo>
                    <a:pt x="42647" y="1244136"/>
                  </a:lnTo>
                  <a:cubicBezTo>
                    <a:pt x="19094" y="1244136"/>
                    <a:pt x="0" y="1225042"/>
                    <a:pt x="0" y="1201489"/>
                  </a:cubicBezTo>
                  <a:lnTo>
                    <a:pt x="0" y="42647"/>
                  </a:lnTo>
                  <a:cubicBezTo>
                    <a:pt x="0" y="31336"/>
                    <a:pt x="4493" y="20489"/>
                    <a:pt x="12491" y="12491"/>
                  </a:cubicBezTo>
                  <a:cubicBezTo>
                    <a:pt x="20489" y="4493"/>
                    <a:pt x="31336" y="0"/>
                    <a:pt x="42647" y="0"/>
                  </a:cubicBezTo>
                  <a:close/>
                </a:path>
              </a:pathLst>
            </a:custGeom>
            <a:solidFill>
              <a:srgbClr val="898A8F"/>
            </a:solidFill>
          </p:spPr>
        </p:sp>
        <p:sp>
          <p:nvSpPr>
            <p:cNvPr id="14" name="TextBox 14"/>
            <p:cNvSpPr txBox="1"/>
            <p:nvPr/>
          </p:nvSpPr>
          <p:spPr>
            <a:xfrm>
              <a:off x="0" y="-47625"/>
              <a:ext cx="812800" cy="1291761"/>
            </a:xfrm>
            <a:prstGeom prst="rect">
              <a:avLst/>
            </a:prstGeom>
          </p:spPr>
          <p:txBody>
            <a:bodyPr lIns="50800" tIns="50800" rIns="50800" bIns="50800" rtlCol="0" anchor="ctr"/>
            <a:lstStyle/>
            <a:p>
              <a:pPr algn="ctr">
                <a:lnSpc>
                  <a:spcPts val="3220"/>
                </a:lnSpc>
              </a:pPr>
              <a:r>
                <a:rPr lang="en-US" sz="2300" spc="62">
                  <a:solidFill>
                    <a:srgbClr val="FFFFFF"/>
                  </a:solidFill>
                  <a:latin typeface="Garet"/>
                  <a:ea typeface="Garet"/>
                  <a:cs typeface="Garet"/>
                  <a:sym typeface="Garet"/>
                </a:rPr>
                <a:t>The core system that receives and parses SMS messages, records transactions, calculates financial information, and presents it to the business owner.</a:t>
              </a:r>
            </a:p>
          </p:txBody>
        </p:sp>
      </p:grpSp>
      <p:grpSp>
        <p:nvGrpSpPr>
          <p:cNvPr id="15" name="Group 15"/>
          <p:cNvGrpSpPr/>
          <p:nvPr/>
        </p:nvGrpSpPr>
        <p:grpSpPr>
          <a:xfrm>
            <a:off x="11394906" y="3534404"/>
            <a:ext cx="3086100" cy="4723830"/>
            <a:chOff x="0" y="0"/>
            <a:chExt cx="812800" cy="1244136"/>
          </a:xfrm>
        </p:grpSpPr>
        <p:sp>
          <p:nvSpPr>
            <p:cNvPr id="16" name="Freeform 16"/>
            <p:cNvSpPr/>
            <p:nvPr/>
          </p:nvSpPr>
          <p:spPr>
            <a:xfrm>
              <a:off x="0" y="0"/>
              <a:ext cx="812800" cy="1244136"/>
            </a:xfrm>
            <a:custGeom>
              <a:avLst/>
              <a:gdLst/>
              <a:ahLst/>
              <a:cxnLst/>
              <a:rect l="l" t="t" r="r" b="b"/>
              <a:pathLst>
                <a:path w="812800" h="1244136">
                  <a:moveTo>
                    <a:pt x="42647" y="0"/>
                  </a:moveTo>
                  <a:lnTo>
                    <a:pt x="770153" y="0"/>
                  </a:lnTo>
                  <a:cubicBezTo>
                    <a:pt x="781464" y="0"/>
                    <a:pt x="792311" y="4493"/>
                    <a:pt x="800309" y="12491"/>
                  </a:cubicBezTo>
                  <a:cubicBezTo>
                    <a:pt x="808307" y="20489"/>
                    <a:pt x="812800" y="31336"/>
                    <a:pt x="812800" y="42647"/>
                  </a:cubicBezTo>
                  <a:lnTo>
                    <a:pt x="812800" y="1201489"/>
                  </a:lnTo>
                  <a:cubicBezTo>
                    <a:pt x="812800" y="1212800"/>
                    <a:pt x="808307" y="1223647"/>
                    <a:pt x="800309" y="1231645"/>
                  </a:cubicBezTo>
                  <a:cubicBezTo>
                    <a:pt x="792311" y="1239643"/>
                    <a:pt x="781464" y="1244136"/>
                    <a:pt x="770153" y="1244136"/>
                  </a:cubicBezTo>
                  <a:lnTo>
                    <a:pt x="42647" y="1244136"/>
                  </a:lnTo>
                  <a:cubicBezTo>
                    <a:pt x="19094" y="1244136"/>
                    <a:pt x="0" y="1225042"/>
                    <a:pt x="0" y="1201489"/>
                  </a:cubicBezTo>
                  <a:lnTo>
                    <a:pt x="0" y="42647"/>
                  </a:lnTo>
                  <a:cubicBezTo>
                    <a:pt x="0" y="31336"/>
                    <a:pt x="4493" y="20489"/>
                    <a:pt x="12491" y="12491"/>
                  </a:cubicBezTo>
                  <a:cubicBezTo>
                    <a:pt x="20489" y="4493"/>
                    <a:pt x="31336" y="0"/>
                    <a:pt x="42647" y="0"/>
                  </a:cubicBezTo>
                  <a:close/>
                </a:path>
              </a:pathLst>
            </a:custGeom>
            <a:solidFill>
              <a:srgbClr val="565554"/>
            </a:solidFill>
          </p:spPr>
        </p:sp>
        <p:sp>
          <p:nvSpPr>
            <p:cNvPr id="17" name="TextBox 17"/>
            <p:cNvSpPr txBox="1"/>
            <p:nvPr/>
          </p:nvSpPr>
          <p:spPr>
            <a:xfrm>
              <a:off x="0" y="-47625"/>
              <a:ext cx="812800" cy="1291761"/>
            </a:xfrm>
            <a:prstGeom prst="rect">
              <a:avLst/>
            </a:prstGeom>
          </p:spPr>
          <p:txBody>
            <a:bodyPr lIns="50800" tIns="50800" rIns="50800" bIns="50800" rtlCol="0" anchor="ctr"/>
            <a:lstStyle/>
            <a:p>
              <a:pPr algn="ctr">
                <a:lnSpc>
                  <a:spcPts val="3220"/>
                </a:lnSpc>
              </a:pPr>
              <a:r>
                <a:rPr lang="en-US" sz="2300" spc="62">
                  <a:solidFill>
                    <a:srgbClr val="FFFFFF"/>
                  </a:solidFill>
                  <a:latin typeface="Garet"/>
                  <a:ea typeface="Garet"/>
                  <a:cs typeface="Garet"/>
                  <a:sym typeface="Garet"/>
                </a:rPr>
                <a:t>Handles optional synchronization and generates reports when the user chooses to export their financial records.</a:t>
              </a:r>
            </a:p>
          </p:txBody>
        </p:sp>
      </p:grpSp>
      <p:grpSp>
        <p:nvGrpSpPr>
          <p:cNvPr id="18" name="Group 18"/>
          <p:cNvGrpSpPr/>
          <p:nvPr/>
        </p:nvGrpSpPr>
        <p:grpSpPr>
          <a:xfrm>
            <a:off x="14966781" y="3534404"/>
            <a:ext cx="3086100" cy="4723830"/>
            <a:chOff x="0" y="0"/>
            <a:chExt cx="812800" cy="1244136"/>
          </a:xfrm>
        </p:grpSpPr>
        <p:sp>
          <p:nvSpPr>
            <p:cNvPr id="19" name="Freeform 19"/>
            <p:cNvSpPr/>
            <p:nvPr/>
          </p:nvSpPr>
          <p:spPr>
            <a:xfrm>
              <a:off x="0" y="0"/>
              <a:ext cx="812800" cy="1244136"/>
            </a:xfrm>
            <a:custGeom>
              <a:avLst/>
              <a:gdLst/>
              <a:ahLst/>
              <a:cxnLst/>
              <a:rect l="l" t="t" r="r" b="b"/>
              <a:pathLst>
                <a:path w="812800" h="1244136">
                  <a:moveTo>
                    <a:pt x="42647" y="0"/>
                  </a:moveTo>
                  <a:lnTo>
                    <a:pt x="770153" y="0"/>
                  </a:lnTo>
                  <a:cubicBezTo>
                    <a:pt x="781464" y="0"/>
                    <a:pt x="792311" y="4493"/>
                    <a:pt x="800309" y="12491"/>
                  </a:cubicBezTo>
                  <a:cubicBezTo>
                    <a:pt x="808307" y="20489"/>
                    <a:pt x="812800" y="31336"/>
                    <a:pt x="812800" y="42647"/>
                  </a:cubicBezTo>
                  <a:lnTo>
                    <a:pt x="812800" y="1201489"/>
                  </a:lnTo>
                  <a:cubicBezTo>
                    <a:pt x="812800" y="1212800"/>
                    <a:pt x="808307" y="1223647"/>
                    <a:pt x="800309" y="1231645"/>
                  </a:cubicBezTo>
                  <a:cubicBezTo>
                    <a:pt x="792311" y="1239643"/>
                    <a:pt x="781464" y="1244136"/>
                    <a:pt x="770153" y="1244136"/>
                  </a:cubicBezTo>
                  <a:lnTo>
                    <a:pt x="42647" y="1244136"/>
                  </a:lnTo>
                  <a:cubicBezTo>
                    <a:pt x="19094" y="1244136"/>
                    <a:pt x="0" y="1225042"/>
                    <a:pt x="0" y="1201489"/>
                  </a:cubicBezTo>
                  <a:lnTo>
                    <a:pt x="0" y="42647"/>
                  </a:lnTo>
                  <a:cubicBezTo>
                    <a:pt x="0" y="31336"/>
                    <a:pt x="4493" y="20489"/>
                    <a:pt x="12491" y="12491"/>
                  </a:cubicBezTo>
                  <a:cubicBezTo>
                    <a:pt x="20489" y="4493"/>
                    <a:pt x="31336" y="0"/>
                    <a:pt x="42647" y="0"/>
                  </a:cubicBezTo>
                  <a:close/>
                </a:path>
              </a:pathLst>
            </a:custGeom>
            <a:solidFill>
              <a:srgbClr val="444E55"/>
            </a:solidFill>
          </p:spPr>
        </p:sp>
        <p:sp>
          <p:nvSpPr>
            <p:cNvPr id="20" name="TextBox 20"/>
            <p:cNvSpPr txBox="1"/>
            <p:nvPr/>
          </p:nvSpPr>
          <p:spPr>
            <a:xfrm>
              <a:off x="0" y="-47625"/>
              <a:ext cx="812800" cy="1291761"/>
            </a:xfrm>
            <a:prstGeom prst="rect">
              <a:avLst/>
            </a:prstGeom>
          </p:spPr>
          <p:txBody>
            <a:bodyPr lIns="50800" tIns="50800" rIns="50800" bIns="50800" rtlCol="0" anchor="ctr"/>
            <a:lstStyle/>
            <a:p>
              <a:pPr algn="ctr">
                <a:lnSpc>
                  <a:spcPts val="3220"/>
                </a:lnSpc>
              </a:pPr>
              <a:r>
                <a:rPr lang="en-US" sz="2300" spc="62">
                  <a:solidFill>
                    <a:srgbClr val="FFFFFF"/>
                  </a:solidFill>
                  <a:latin typeface="Garet"/>
                  <a:ea typeface="Garet"/>
                  <a:cs typeface="Garet"/>
                  <a:sym typeface="Garet"/>
                </a:rPr>
                <a:t> A potential external actor that can use the exported financial report when evaluating a business for loans or other financial services.</a:t>
              </a:r>
            </a:p>
          </p:txBody>
        </p:sp>
      </p:grpSp>
      <p:sp>
        <p:nvSpPr>
          <p:cNvPr id="21" name="TextBox 21"/>
          <p:cNvSpPr txBox="1"/>
          <p:nvPr/>
        </p:nvSpPr>
        <p:spPr>
          <a:xfrm>
            <a:off x="680247" y="2311715"/>
            <a:ext cx="3086100" cy="422275"/>
          </a:xfrm>
          <a:prstGeom prst="rect">
            <a:avLst/>
          </a:prstGeom>
        </p:spPr>
        <p:txBody>
          <a:bodyPr lIns="0" tIns="0" rIns="0" bIns="0" rtlCol="0" anchor="t">
            <a:spAutoFit/>
          </a:bodyPr>
          <a:lstStyle/>
          <a:p>
            <a:pPr algn="ctr">
              <a:lnSpc>
                <a:spcPts val="3499"/>
              </a:lnSpc>
            </a:pPr>
            <a:r>
              <a:rPr lang="en-US" sz="2499" spc="67">
                <a:solidFill>
                  <a:srgbClr val="FFFFFF"/>
                </a:solidFill>
                <a:latin typeface="Garet"/>
                <a:ea typeface="Garet"/>
                <a:cs typeface="Garet"/>
                <a:sym typeface="Garet"/>
              </a:rPr>
              <a:t>BUSINESS OWNER </a:t>
            </a:r>
          </a:p>
        </p:txBody>
      </p:sp>
      <p:sp>
        <p:nvSpPr>
          <p:cNvPr id="22" name="TextBox 22"/>
          <p:cNvSpPr txBox="1"/>
          <p:nvPr/>
        </p:nvSpPr>
        <p:spPr>
          <a:xfrm>
            <a:off x="4251156" y="2311715"/>
            <a:ext cx="3086100" cy="422275"/>
          </a:xfrm>
          <a:prstGeom prst="rect">
            <a:avLst/>
          </a:prstGeom>
        </p:spPr>
        <p:txBody>
          <a:bodyPr lIns="0" tIns="0" rIns="0" bIns="0" rtlCol="0" anchor="t">
            <a:spAutoFit/>
          </a:bodyPr>
          <a:lstStyle/>
          <a:p>
            <a:pPr algn="ctr">
              <a:lnSpc>
                <a:spcPts val="3499"/>
              </a:lnSpc>
            </a:pPr>
            <a:r>
              <a:rPr lang="en-US" sz="2499" spc="67">
                <a:solidFill>
                  <a:srgbClr val="FFFFFF"/>
                </a:solidFill>
                <a:latin typeface="Garet"/>
                <a:ea typeface="Garet"/>
                <a:cs typeface="Garet"/>
                <a:sym typeface="Garet"/>
              </a:rPr>
              <a:t>SMS SERVICE</a:t>
            </a:r>
          </a:p>
        </p:txBody>
      </p:sp>
      <p:sp>
        <p:nvSpPr>
          <p:cNvPr id="23" name="TextBox 23"/>
          <p:cNvSpPr txBox="1"/>
          <p:nvPr/>
        </p:nvSpPr>
        <p:spPr>
          <a:xfrm>
            <a:off x="7823031" y="2160267"/>
            <a:ext cx="3086100" cy="860425"/>
          </a:xfrm>
          <a:prstGeom prst="rect">
            <a:avLst/>
          </a:prstGeom>
        </p:spPr>
        <p:txBody>
          <a:bodyPr lIns="0" tIns="0" rIns="0" bIns="0" rtlCol="0" anchor="t">
            <a:spAutoFit/>
          </a:bodyPr>
          <a:lstStyle/>
          <a:p>
            <a:pPr algn="ctr">
              <a:lnSpc>
                <a:spcPts val="3499"/>
              </a:lnSpc>
            </a:pPr>
            <a:r>
              <a:rPr lang="en-US" sz="2499" spc="67">
                <a:solidFill>
                  <a:srgbClr val="FFFFFF"/>
                </a:solidFill>
                <a:latin typeface="Garet"/>
                <a:ea typeface="Garet"/>
                <a:cs typeface="Garet"/>
                <a:sym typeface="Garet"/>
              </a:rPr>
              <a:t>MEKENET APPLICATION</a:t>
            </a:r>
          </a:p>
        </p:txBody>
      </p:sp>
      <p:sp>
        <p:nvSpPr>
          <p:cNvPr id="24" name="TextBox 24"/>
          <p:cNvSpPr txBox="1"/>
          <p:nvPr/>
        </p:nvSpPr>
        <p:spPr>
          <a:xfrm>
            <a:off x="11394906" y="2192017"/>
            <a:ext cx="3086100" cy="422275"/>
          </a:xfrm>
          <a:prstGeom prst="rect">
            <a:avLst/>
          </a:prstGeom>
        </p:spPr>
        <p:txBody>
          <a:bodyPr lIns="0" tIns="0" rIns="0" bIns="0" rtlCol="0" anchor="t">
            <a:spAutoFit/>
          </a:bodyPr>
          <a:lstStyle/>
          <a:p>
            <a:pPr algn="ctr">
              <a:lnSpc>
                <a:spcPts val="3499"/>
              </a:lnSpc>
            </a:pPr>
            <a:r>
              <a:rPr lang="en-US" sz="2499" spc="67">
                <a:solidFill>
                  <a:srgbClr val="FFFFFF"/>
                </a:solidFill>
                <a:latin typeface="Garet"/>
                <a:ea typeface="Garet"/>
                <a:cs typeface="Garet"/>
                <a:sym typeface="Garet"/>
              </a:rPr>
              <a:t>BACKEND API</a:t>
            </a:r>
          </a:p>
        </p:txBody>
      </p:sp>
      <p:sp>
        <p:nvSpPr>
          <p:cNvPr id="25" name="TextBox 25"/>
          <p:cNvSpPr txBox="1"/>
          <p:nvPr/>
        </p:nvSpPr>
        <p:spPr>
          <a:xfrm>
            <a:off x="14966781" y="2018345"/>
            <a:ext cx="3086100" cy="1153795"/>
          </a:xfrm>
          <a:prstGeom prst="rect">
            <a:avLst/>
          </a:prstGeom>
        </p:spPr>
        <p:txBody>
          <a:bodyPr lIns="0" tIns="0" rIns="0" bIns="0" rtlCol="0" anchor="t">
            <a:spAutoFit/>
          </a:bodyPr>
          <a:lstStyle/>
          <a:p>
            <a:pPr algn="ctr">
              <a:lnSpc>
                <a:spcPts val="3080"/>
              </a:lnSpc>
            </a:pPr>
            <a:r>
              <a:rPr lang="en-US" sz="2200" spc="59">
                <a:solidFill>
                  <a:srgbClr val="FFFFFF"/>
                </a:solidFill>
                <a:latin typeface="Garet"/>
                <a:ea typeface="Garet"/>
                <a:cs typeface="Garet"/>
                <a:sym typeface="Garet"/>
              </a:rPr>
              <a:t>BANK / MICROFINANCE INSTITUTION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654544" y="2458327"/>
            <a:ext cx="9604756" cy="6534860"/>
          </a:xfrm>
          <a:prstGeom prst="rect">
            <a:avLst/>
          </a:prstGeom>
        </p:spPr>
        <p:txBody>
          <a:bodyPr lIns="0" tIns="0" rIns="0" bIns="0" rtlCol="0" anchor="t">
            <a:spAutoFit/>
          </a:bodyPr>
          <a:lstStyle/>
          <a:p>
            <a:pPr marL="475305" lvl="1" indent="-237652" algn="l">
              <a:lnSpc>
                <a:spcPts val="3236"/>
              </a:lnSpc>
              <a:buFont typeface="Arial"/>
              <a:buChar char="•"/>
            </a:pPr>
            <a:r>
              <a:rPr lang="en-US" sz="2201">
                <a:solidFill>
                  <a:srgbClr val="545454"/>
                </a:solidFill>
                <a:latin typeface="Garet"/>
                <a:ea typeface="Garet"/>
                <a:cs typeface="Garet"/>
                <a:sym typeface="Garet"/>
              </a:rPr>
              <a:t>The current MVP is designed specifically for Android devices.</a:t>
            </a:r>
          </a:p>
          <a:p>
            <a:pPr marL="475305" lvl="1" indent="-237652" algn="l">
              <a:lnSpc>
                <a:spcPts val="3236"/>
              </a:lnSpc>
              <a:buFont typeface="Arial"/>
              <a:buChar char="•"/>
            </a:pPr>
            <a:r>
              <a:rPr lang="en-US" sz="2201">
                <a:solidFill>
                  <a:srgbClr val="545454"/>
                </a:solidFill>
                <a:latin typeface="Garet"/>
                <a:ea typeface="Garet"/>
                <a:cs typeface="Garet"/>
                <a:sym typeface="Garet"/>
              </a:rPr>
              <a:t>The application currently supports Telebirr SMS, while CBE Birr integration is planned for future development.</a:t>
            </a:r>
          </a:p>
          <a:p>
            <a:pPr marL="475305" lvl="1" indent="-237652" algn="l">
              <a:lnSpc>
                <a:spcPts val="3236"/>
              </a:lnSpc>
              <a:buFont typeface="Arial"/>
              <a:buChar char="•"/>
            </a:pPr>
            <a:r>
              <a:rPr lang="en-US" sz="2201">
                <a:solidFill>
                  <a:srgbClr val="545454"/>
                </a:solidFill>
                <a:latin typeface="Garet"/>
                <a:ea typeface="Garet"/>
                <a:cs typeface="Garet"/>
                <a:sym typeface="Garet"/>
              </a:rPr>
              <a:t>Changes in Telebirr SMS formats may affect the accuracy of automatic transaction parsing.</a:t>
            </a:r>
          </a:p>
          <a:p>
            <a:pPr marL="475305" lvl="1" indent="-237652" algn="l">
              <a:lnSpc>
                <a:spcPts val="3236"/>
              </a:lnSpc>
              <a:buFont typeface="Arial"/>
              <a:buChar char="•"/>
            </a:pPr>
            <a:r>
              <a:rPr lang="en-US" sz="2201">
                <a:solidFill>
                  <a:srgbClr val="545454"/>
                </a:solidFill>
                <a:latin typeface="Garet"/>
                <a:ea typeface="Garet"/>
                <a:cs typeface="Garet"/>
                <a:sym typeface="Garet"/>
              </a:rPr>
              <a:t>Cash transactions cannot be detected automatically and need to be entered manually.</a:t>
            </a:r>
          </a:p>
          <a:p>
            <a:pPr marL="475305" lvl="1" indent="-237652" algn="l">
              <a:lnSpc>
                <a:spcPts val="3236"/>
              </a:lnSpc>
              <a:buFont typeface="Arial"/>
              <a:buChar char="•"/>
            </a:pPr>
            <a:r>
              <a:rPr lang="en-US" sz="2201">
                <a:solidFill>
                  <a:srgbClr val="545454"/>
                </a:solidFill>
                <a:latin typeface="Garet"/>
                <a:ea typeface="Garet"/>
                <a:cs typeface="Garet"/>
                <a:sym typeface="Garet"/>
              </a:rPr>
              <a:t>Customer debts must be added and updated manually by the user.</a:t>
            </a:r>
          </a:p>
          <a:p>
            <a:pPr marL="475305" lvl="1" indent="-237652" algn="l">
              <a:lnSpc>
                <a:spcPts val="3236"/>
              </a:lnSpc>
              <a:buFont typeface="Arial"/>
              <a:buChar char="•"/>
            </a:pPr>
            <a:r>
              <a:rPr lang="en-US" sz="2201">
                <a:solidFill>
                  <a:srgbClr val="545454"/>
                </a:solidFill>
                <a:latin typeface="Garet"/>
                <a:ea typeface="Garet"/>
                <a:cs typeface="Garet"/>
                <a:sym typeface="Garet"/>
              </a:rPr>
              <a:t>Detailed inventory tracking and stock alerts are not included in the current MVP.</a:t>
            </a:r>
          </a:p>
          <a:p>
            <a:pPr marL="475305" lvl="1" indent="-237652" algn="l">
              <a:lnSpc>
                <a:spcPts val="3236"/>
              </a:lnSpc>
              <a:buFont typeface="Arial"/>
              <a:buChar char="•"/>
            </a:pPr>
            <a:r>
              <a:rPr lang="en-US" sz="2201">
                <a:solidFill>
                  <a:srgbClr val="545454"/>
                </a:solidFill>
                <a:latin typeface="Garet"/>
                <a:ea typeface="Garet"/>
                <a:cs typeface="Garet"/>
                <a:sym typeface="Garet"/>
              </a:rPr>
              <a:t>Financial forecasting and AI-based advice are planned for future versions.</a:t>
            </a:r>
          </a:p>
          <a:p>
            <a:pPr marL="475305" lvl="1" indent="-237652" algn="l">
              <a:lnSpc>
                <a:spcPts val="3236"/>
              </a:lnSpc>
              <a:buFont typeface="Arial"/>
              <a:buChar char="•"/>
            </a:pPr>
            <a:r>
              <a:rPr lang="en-US" sz="2201">
                <a:solidFill>
                  <a:srgbClr val="545454"/>
                </a:solidFill>
                <a:latin typeface="Garet"/>
                <a:ea typeface="Garet"/>
                <a:cs typeface="Garet"/>
                <a:sym typeface="Garet"/>
              </a:rPr>
              <a:t>Data is stored locally by default, and synchronization only happens when the user chooses.</a:t>
            </a:r>
          </a:p>
          <a:p>
            <a:pPr algn="l">
              <a:lnSpc>
                <a:spcPts val="3236"/>
              </a:lnSpc>
            </a:pPr>
            <a:endParaRPr lang="en-US" sz="2201">
              <a:solidFill>
                <a:srgbClr val="545454"/>
              </a:solidFill>
              <a:latin typeface="Garet"/>
              <a:ea typeface="Garet"/>
              <a:cs typeface="Garet"/>
              <a:sym typeface="Garet"/>
            </a:endParaRPr>
          </a:p>
        </p:txBody>
      </p:sp>
      <p:sp>
        <p:nvSpPr>
          <p:cNvPr id="3" name="AutoShape 3"/>
          <p:cNvSpPr/>
          <p:nvPr/>
        </p:nvSpPr>
        <p:spPr>
          <a:xfrm>
            <a:off x="7398906" y="9267825"/>
            <a:ext cx="9069684" cy="9525"/>
          </a:xfrm>
          <a:prstGeom prst="line">
            <a:avLst/>
          </a:prstGeom>
          <a:ln w="19050" cap="flat">
            <a:solidFill>
              <a:srgbClr val="000000"/>
            </a:solidFill>
            <a:prstDash val="solid"/>
            <a:headEnd type="none" w="sm" len="sm"/>
            <a:tailEnd type="none" w="sm" len="sm"/>
          </a:ln>
        </p:spPr>
      </p:sp>
      <p:grpSp>
        <p:nvGrpSpPr>
          <p:cNvPr id="4" name="Group 4"/>
          <p:cNvGrpSpPr/>
          <p:nvPr/>
        </p:nvGrpSpPr>
        <p:grpSpPr>
          <a:xfrm rot="-10800000">
            <a:off x="0" y="-539082"/>
            <a:ext cx="7899100" cy="10826082"/>
            <a:chOff x="0" y="0"/>
            <a:chExt cx="8064493" cy="11052761"/>
          </a:xfrm>
        </p:grpSpPr>
        <p:sp>
          <p:nvSpPr>
            <p:cNvPr id="5" name="Freeform 5"/>
            <p:cNvSpPr/>
            <p:nvPr/>
          </p:nvSpPr>
          <p:spPr>
            <a:xfrm flipV="1">
              <a:off x="-119" y="-127"/>
              <a:ext cx="8064612" cy="11052887"/>
            </a:xfrm>
            <a:custGeom>
              <a:avLst/>
              <a:gdLst/>
              <a:ahLst/>
              <a:cxnLst/>
              <a:rect l="l" t="t" r="r" b="b"/>
              <a:pathLst>
                <a:path w="8064612" h="11052887">
                  <a:moveTo>
                    <a:pt x="8064612" y="38071"/>
                  </a:moveTo>
                  <a:cubicBezTo>
                    <a:pt x="8064612" y="2456"/>
                    <a:pt x="8054613" y="0"/>
                    <a:pt x="8028541" y="0"/>
                  </a:cubicBezTo>
                  <a:cubicBezTo>
                    <a:pt x="5352758" y="682"/>
                    <a:pt x="2677093" y="682"/>
                    <a:pt x="1310" y="682"/>
                  </a:cubicBezTo>
                  <a:cubicBezTo>
                    <a:pt x="-2675" y="15556"/>
                    <a:pt x="3452" y="29066"/>
                    <a:pt x="6190" y="42847"/>
                  </a:cubicBezTo>
                  <a:cubicBezTo>
                    <a:pt x="123807" y="646261"/>
                    <a:pt x="241543" y="1249539"/>
                    <a:pt x="359517" y="1852816"/>
                  </a:cubicBezTo>
                  <a:cubicBezTo>
                    <a:pt x="527728" y="2712906"/>
                    <a:pt x="696297" y="3572858"/>
                    <a:pt x="864389" y="4432948"/>
                  </a:cubicBezTo>
                  <a:cubicBezTo>
                    <a:pt x="1072004" y="5495131"/>
                    <a:pt x="1279143" y="6557314"/>
                    <a:pt x="1486639" y="7619361"/>
                  </a:cubicBezTo>
                  <a:cubicBezTo>
                    <a:pt x="1697468" y="8698328"/>
                    <a:pt x="1908417" y="9777158"/>
                    <a:pt x="2119842" y="10855989"/>
                  </a:cubicBezTo>
                  <a:cubicBezTo>
                    <a:pt x="2132699" y="10921625"/>
                    <a:pt x="2140913" y="10988762"/>
                    <a:pt x="2161746" y="11052214"/>
                  </a:cubicBezTo>
                  <a:cubicBezTo>
                    <a:pt x="4117424" y="11052214"/>
                    <a:pt x="6073102" y="11052214"/>
                    <a:pt x="8028779" y="11052887"/>
                  </a:cubicBezTo>
                  <a:cubicBezTo>
                    <a:pt x="8055327" y="11052887"/>
                    <a:pt x="8064374" y="11049212"/>
                    <a:pt x="8064374" y="11014416"/>
                  </a:cubicBezTo>
                  <a:cubicBezTo>
                    <a:pt x="8063660" y="7355589"/>
                    <a:pt x="8063660" y="3696762"/>
                    <a:pt x="8064612" y="38071"/>
                  </a:cubicBezTo>
                  <a:close/>
                </a:path>
              </a:pathLst>
            </a:custGeom>
            <a:blipFill>
              <a:blip r:embed="rId2"/>
              <a:stretch>
                <a:fillRect l="-51848" t="-1" r="-51848" b="-1"/>
              </a:stretch>
            </a:blipFill>
          </p:spPr>
        </p:sp>
      </p:grpSp>
      <p:sp>
        <p:nvSpPr>
          <p:cNvPr id="6" name="TextBox 6"/>
          <p:cNvSpPr txBox="1"/>
          <p:nvPr/>
        </p:nvSpPr>
        <p:spPr>
          <a:xfrm>
            <a:off x="8257630" y="866775"/>
            <a:ext cx="7918077" cy="937255"/>
          </a:xfrm>
          <a:prstGeom prst="rect">
            <a:avLst/>
          </a:prstGeom>
        </p:spPr>
        <p:txBody>
          <a:bodyPr lIns="0" tIns="0" rIns="0" bIns="0" rtlCol="0" anchor="t">
            <a:spAutoFit/>
          </a:bodyPr>
          <a:lstStyle/>
          <a:p>
            <a:pPr algn="l">
              <a:lnSpc>
                <a:spcPts val="7140"/>
              </a:lnSpc>
            </a:pPr>
            <a:r>
              <a:rPr lang="en-US" sz="5100">
                <a:solidFill>
                  <a:srgbClr val="444E55"/>
                </a:solidFill>
                <a:latin typeface="Horizon"/>
                <a:ea typeface="Horizon"/>
                <a:cs typeface="Horizon"/>
                <a:sym typeface="Horizon"/>
              </a:rPr>
              <a:t>LIMITATIONS</a:t>
            </a:r>
          </a:p>
        </p:txBody>
      </p:sp>
      <p:sp>
        <p:nvSpPr>
          <p:cNvPr id="7" name="TextBox 7"/>
          <p:cNvSpPr txBox="1"/>
          <p:nvPr/>
        </p:nvSpPr>
        <p:spPr>
          <a:xfrm>
            <a:off x="5809474" y="8897938"/>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sp>
      <p:sp>
        <p:nvSpPr>
          <p:cNvPr id="3" name="TextBox 3"/>
          <p:cNvSpPr txBox="1"/>
          <p:nvPr/>
        </p:nvSpPr>
        <p:spPr>
          <a:xfrm>
            <a:off x="15035824" y="8878888"/>
            <a:ext cx="969619" cy="644525"/>
          </a:xfrm>
          <a:prstGeom prst="rect">
            <a:avLst/>
          </a:prstGeom>
        </p:spPr>
        <p:txBody>
          <a:bodyPr lIns="0" tIns="0" rIns="0" bIns="0" rtlCol="0" anchor="t">
            <a:spAutoFit/>
          </a:bodyPr>
          <a:lstStyle/>
          <a:p>
            <a:pPr algn="l">
              <a:lnSpc>
                <a:spcPts val="4900"/>
              </a:lnSpc>
            </a:pPr>
            <a:r>
              <a:rPr lang="en-US" sz="3500">
                <a:solidFill>
                  <a:srgbClr val="FFFFFF"/>
                </a:solidFill>
                <a:latin typeface="Horizon"/>
                <a:ea typeface="Horizon"/>
                <a:cs typeface="Horizon"/>
                <a:sym typeface="Horizon"/>
              </a:rPr>
              <a:t>07</a:t>
            </a:r>
          </a:p>
        </p:txBody>
      </p:sp>
      <p:grpSp>
        <p:nvGrpSpPr>
          <p:cNvPr id="4" name="Group 4"/>
          <p:cNvGrpSpPr/>
          <p:nvPr/>
        </p:nvGrpSpPr>
        <p:grpSpPr>
          <a:xfrm>
            <a:off x="10837691" y="0"/>
            <a:ext cx="7899100" cy="10287000"/>
            <a:chOff x="0" y="0"/>
            <a:chExt cx="8064493" cy="10502391"/>
          </a:xfrm>
        </p:grpSpPr>
        <p:sp>
          <p:nvSpPr>
            <p:cNvPr id="5" name="Freeform 5"/>
            <p:cNvSpPr/>
            <p:nvPr/>
          </p:nvSpPr>
          <p:spPr>
            <a:xfrm>
              <a:off x="-119" y="-127"/>
              <a:ext cx="8064612" cy="10502518"/>
            </a:xfrm>
            <a:custGeom>
              <a:avLst/>
              <a:gdLst/>
              <a:ahLst/>
              <a:cxnLst/>
              <a:rect l="l" t="t" r="r" b="b"/>
              <a:pathLst>
                <a:path w="8064612" h="10502518">
                  <a:moveTo>
                    <a:pt x="8064612" y="10466342"/>
                  </a:moveTo>
                  <a:cubicBezTo>
                    <a:pt x="8064612" y="10500185"/>
                    <a:pt x="8054613" y="10502519"/>
                    <a:pt x="8028541" y="10502519"/>
                  </a:cubicBezTo>
                  <a:cubicBezTo>
                    <a:pt x="5352758" y="10501870"/>
                    <a:pt x="2677093" y="10501870"/>
                    <a:pt x="1310" y="10501870"/>
                  </a:cubicBezTo>
                  <a:cubicBezTo>
                    <a:pt x="-2675" y="10487737"/>
                    <a:pt x="3452" y="10474900"/>
                    <a:pt x="6190" y="10461805"/>
                  </a:cubicBezTo>
                  <a:cubicBezTo>
                    <a:pt x="123807" y="9888437"/>
                    <a:pt x="241543" y="9315200"/>
                    <a:pt x="359517" y="8741963"/>
                  </a:cubicBezTo>
                  <a:cubicBezTo>
                    <a:pt x="527728" y="7924701"/>
                    <a:pt x="696297" y="7107569"/>
                    <a:pt x="864389" y="6290307"/>
                  </a:cubicBezTo>
                  <a:cubicBezTo>
                    <a:pt x="1072004" y="5281016"/>
                    <a:pt x="1279143" y="4271724"/>
                    <a:pt x="1486639" y="3262562"/>
                  </a:cubicBezTo>
                  <a:cubicBezTo>
                    <a:pt x="1697468" y="2237321"/>
                    <a:pt x="1908417" y="1212211"/>
                    <a:pt x="2119842" y="187100"/>
                  </a:cubicBezTo>
                  <a:cubicBezTo>
                    <a:pt x="2132699" y="124733"/>
                    <a:pt x="2140913" y="60939"/>
                    <a:pt x="2161746" y="646"/>
                  </a:cubicBezTo>
                  <a:cubicBezTo>
                    <a:pt x="4117424" y="646"/>
                    <a:pt x="6073102" y="646"/>
                    <a:pt x="8028779" y="0"/>
                  </a:cubicBezTo>
                  <a:cubicBezTo>
                    <a:pt x="8055327" y="0"/>
                    <a:pt x="8064374" y="3498"/>
                    <a:pt x="8064374" y="36562"/>
                  </a:cubicBezTo>
                  <a:cubicBezTo>
                    <a:pt x="8063660" y="3513199"/>
                    <a:pt x="8063660" y="6989836"/>
                    <a:pt x="8064612" y="10466342"/>
                  </a:cubicBezTo>
                  <a:close/>
                </a:path>
              </a:pathLst>
            </a:custGeom>
            <a:blipFill>
              <a:blip r:embed="rId3"/>
              <a:stretch>
                <a:fillRect l="-15114" r="-15114"/>
              </a:stretch>
            </a:blipFill>
          </p:spPr>
        </p:sp>
      </p:grpSp>
      <p:sp>
        <p:nvSpPr>
          <p:cNvPr id="6" name="AutoShape 6"/>
          <p:cNvSpPr/>
          <p:nvPr/>
        </p:nvSpPr>
        <p:spPr>
          <a:xfrm>
            <a:off x="1767996" y="9532937"/>
            <a:ext cx="9069684" cy="9525"/>
          </a:xfrm>
          <a:prstGeom prst="line">
            <a:avLst/>
          </a:prstGeom>
          <a:ln w="19050" cap="flat">
            <a:solidFill>
              <a:srgbClr val="000000"/>
            </a:solidFill>
            <a:prstDash val="solid"/>
            <a:headEnd type="none" w="sm" len="sm"/>
            <a:tailEnd type="none" w="sm" len="sm"/>
          </a:ln>
        </p:spPr>
      </p:sp>
      <p:sp>
        <p:nvSpPr>
          <p:cNvPr id="7" name="TextBox 7"/>
          <p:cNvSpPr txBox="1"/>
          <p:nvPr/>
        </p:nvSpPr>
        <p:spPr>
          <a:xfrm>
            <a:off x="2016928" y="479110"/>
            <a:ext cx="7918077" cy="937255"/>
          </a:xfrm>
          <a:prstGeom prst="rect">
            <a:avLst/>
          </a:prstGeom>
        </p:spPr>
        <p:txBody>
          <a:bodyPr lIns="0" tIns="0" rIns="0" bIns="0" rtlCol="0" anchor="t">
            <a:spAutoFit/>
          </a:bodyPr>
          <a:lstStyle/>
          <a:p>
            <a:pPr algn="l">
              <a:lnSpc>
                <a:spcPts val="7140"/>
              </a:lnSpc>
            </a:pPr>
            <a:r>
              <a:rPr lang="en-US" sz="5100">
                <a:solidFill>
                  <a:srgbClr val="444E55"/>
                </a:solidFill>
                <a:latin typeface="Horizon"/>
                <a:ea typeface="Horizon"/>
                <a:cs typeface="Horizon"/>
                <a:sym typeface="Horizon"/>
              </a:rPr>
              <a:t>methodology</a:t>
            </a:r>
          </a:p>
        </p:txBody>
      </p:sp>
      <p:sp>
        <p:nvSpPr>
          <p:cNvPr id="8" name="TextBox 8"/>
          <p:cNvSpPr txBox="1"/>
          <p:nvPr/>
        </p:nvSpPr>
        <p:spPr>
          <a:xfrm>
            <a:off x="1028700" y="1836999"/>
            <a:ext cx="9199067" cy="7421301"/>
          </a:xfrm>
          <a:prstGeom prst="rect">
            <a:avLst/>
          </a:prstGeom>
        </p:spPr>
        <p:txBody>
          <a:bodyPr lIns="0" tIns="0" rIns="0" bIns="0" rtlCol="0" anchor="t">
            <a:spAutoFit/>
          </a:bodyPr>
          <a:lstStyle/>
          <a:p>
            <a:pPr marL="475305" lvl="1" indent="-237652" algn="just">
              <a:lnSpc>
                <a:spcPts val="3456"/>
              </a:lnSpc>
              <a:buFont typeface="Arial"/>
              <a:buChar char="•"/>
            </a:pPr>
            <a:r>
              <a:rPr lang="en-US" sz="2201">
                <a:solidFill>
                  <a:srgbClr val="545454"/>
                </a:solidFill>
                <a:latin typeface="Garet"/>
                <a:ea typeface="Garet"/>
                <a:cs typeface="Garet"/>
                <a:sym typeface="Garet"/>
              </a:rPr>
              <a:t>The project follows an Agile and iterative development approach.</a:t>
            </a:r>
          </a:p>
          <a:p>
            <a:pPr marL="475305" lvl="1" indent="-237652" algn="just">
              <a:lnSpc>
                <a:spcPts val="3456"/>
              </a:lnSpc>
              <a:buFont typeface="Arial"/>
              <a:buChar char="•"/>
            </a:pPr>
            <a:r>
              <a:rPr lang="en-US" sz="2201">
                <a:solidFill>
                  <a:srgbClr val="545454"/>
                </a:solidFill>
                <a:latin typeface="Garet"/>
                <a:ea typeface="Garet"/>
                <a:cs typeface="Garet"/>
                <a:sym typeface="Garet"/>
              </a:rPr>
              <a:t>The system is developed using a modular and offline-first architecture.</a:t>
            </a:r>
          </a:p>
          <a:p>
            <a:pPr marL="475305" lvl="1" indent="-237652" algn="just">
              <a:lnSpc>
                <a:spcPts val="3456"/>
              </a:lnSpc>
              <a:buFont typeface="Arial"/>
              <a:buChar char="•"/>
            </a:pPr>
            <a:r>
              <a:rPr lang="en-US" sz="2201">
                <a:solidFill>
                  <a:srgbClr val="545454"/>
                </a:solidFill>
                <a:latin typeface="Garet"/>
                <a:ea typeface="Garet"/>
                <a:cs typeface="Garet"/>
                <a:sym typeface="Garet"/>
              </a:rPr>
              <a:t>Development is divided among team members based on specific responsibilities.</a:t>
            </a:r>
          </a:p>
          <a:p>
            <a:pPr marL="475305" lvl="1" indent="-237652" algn="just">
              <a:lnSpc>
                <a:spcPts val="3456"/>
              </a:lnSpc>
              <a:buFont typeface="Arial"/>
              <a:buChar char="•"/>
            </a:pPr>
            <a:r>
              <a:rPr lang="en-US" sz="2201">
                <a:solidFill>
                  <a:srgbClr val="545454"/>
                </a:solidFill>
                <a:latin typeface="Garet"/>
                <a:ea typeface="Garet"/>
                <a:cs typeface="Garet"/>
                <a:sym typeface="Garet"/>
              </a:rPr>
              <a:t>The SMS parser is developed as a pure, testable function.</a:t>
            </a:r>
          </a:p>
          <a:p>
            <a:pPr marL="475305" lvl="1" indent="-237652" algn="just">
              <a:lnSpc>
                <a:spcPts val="3456"/>
              </a:lnSpc>
              <a:buFont typeface="Arial"/>
              <a:buChar char="•"/>
            </a:pPr>
            <a:r>
              <a:rPr lang="en-US" sz="2201">
                <a:solidFill>
                  <a:srgbClr val="545454"/>
                </a:solidFill>
                <a:latin typeface="Garet"/>
                <a:ea typeface="Garet"/>
                <a:cs typeface="Garet"/>
                <a:sym typeface="Garet"/>
              </a:rPr>
              <a:t>Features are tested continuously through unit, widget, and integration testing.</a:t>
            </a:r>
          </a:p>
          <a:p>
            <a:pPr marL="475305" lvl="1" indent="-237652" algn="just">
              <a:lnSpc>
                <a:spcPts val="3456"/>
              </a:lnSpc>
              <a:buFont typeface="Arial"/>
              <a:buChar char="•"/>
            </a:pPr>
            <a:r>
              <a:rPr lang="en-US" sz="2201">
                <a:solidFill>
                  <a:srgbClr val="545454"/>
                </a:solidFill>
                <a:latin typeface="Garet"/>
                <a:ea typeface="Garet"/>
                <a:cs typeface="Garet"/>
                <a:sym typeface="Garet"/>
              </a:rPr>
              <a:t>The core flow is validated on a real Android device.</a:t>
            </a:r>
          </a:p>
          <a:p>
            <a:pPr marL="475305" lvl="1" indent="-237652" algn="just">
              <a:lnSpc>
                <a:spcPts val="3456"/>
              </a:lnSpc>
              <a:buFont typeface="Arial"/>
              <a:buChar char="•"/>
            </a:pPr>
            <a:r>
              <a:rPr lang="en-US" sz="2201">
                <a:solidFill>
                  <a:srgbClr val="545454"/>
                </a:solidFill>
                <a:latin typeface="Garet"/>
                <a:ea typeface="Garet"/>
                <a:cs typeface="Garet"/>
                <a:sym typeface="Garet"/>
              </a:rPr>
              <a:t>Real, anonymized Telebirr SMS samples are used to evaluate parser accuracy.</a:t>
            </a:r>
          </a:p>
          <a:p>
            <a:pPr marL="475305" lvl="1" indent="-237652" algn="just">
              <a:lnSpc>
                <a:spcPts val="3456"/>
              </a:lnSpc>
              <a:buFont typeface="Arial"/>
              <a:buChar char="•"/>
            </a:pPr>
            <a:r>
              <a:rPr lang="en-US" sz="2201">
                <a:solidFill>
                  <a:srgbClr val="545454"/>
                </a:solidFill>
                <a:latin typeface="Garet"/>
                <a:ea typeface="Garet"/>
                <a:cs typeface="Garet"/>
                <a:sym typeface="Garet"/>
              </a:rPr>
              <a:t>The complete flow is tested from SMS → Parser → Transaction → SQLite → Financial Summary.</a:t>
            </a:r>
          </a:p>
          <a:p>
            <a:pPr marL="475305" lvl="1" indent="-237652" algn="just">
              <a:lnSpc>
                <a:spcPts val="3456"/>
              </a:lnSpc>
              <a:buFont typeface="Arial"/>
              <a:buChar char="•"/>
            </a:pPr>
            <a:r>
              <a:rPr lang="en-US" sz="2201">
                <a:solidFill>
                  <a:srgbClr val="545454"/>
                </a:solidFill>
                <a:latin typeface="Garet"/>
                <a:ea typeface="Garet"/>
                <a:cs typeface="Garet"/>
                <a:sym typeface="Garet"/>
              </a:rPr>
              <a:t>The final stage includes accuracy measurement, bug fixing, and demo evaluation.</a:t>
            </a:r>
          </a:p>
          <a:p>
            <a:pPr algn="just">
              <a:lnSpc>
                <a:spcPts val="3456"/>
              </a:lnSpc>
            </a:pPr>
            <a:endParaRPr lang="en-US" sz="2201">
              <a:solidFill>
                <a:srgbClr val="545454"/>
              </a:solidFill>
              <a:latin typeface="Garet"/>
              <a:ea typeface="Garet"/>
              <a:cs typeface="Garet"/>
              <a:sym typeface="Garet"/>
            </a:endParaRPr>
          </a:p>
        </p:txBody>
      </p:sp>
      <p:sp>
        <p:nvSpPr>
          <p:cNvPr id="9" name="TextBox 9"/>
          <p:cNvSpPr txBox="1"/>
          <p:nvPr/>
        </p:nvSpPr>
        <p:spPr>
          <a:xfrm>
            <a:off x="11460142" y="9163050"/>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6666" b="-16666"/>
            </a:stretch>
          </a:blipFill>
        </p:spPr>
      </p:sp>
      <p:sp>
        <p:nvSpPr>
          <p:cNvPr id="3" name="TextBox 3"/>
          <p:cNvSpPr txBox="1"/>
          <p:nvPr/>
        </p:nvSpPr>
        <p:spPr>
          <a:xfrm>
            <a:off x="2834176" y="8878888"/>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08</a:t>
            </a:r>
          </a:p>
        </p:txBody>
      </p:sp>
      <p:sp>
        <p:nvSpPr>
          <p:cNvPr id="4" name="AutoShape 4"/>
          <p:cNvSpPr/>
          <p:nvPr/>
        </p:nvSpPr>
        <p:spPr>
          <a:xfrm>
            <a:off x="4514763" y="9248775"/>
            <a:ext cx="11893353" cy="0"/>
          </a:xfrm>
          <a:prstGeom prst="line">
            <a:avLst/>
          </a:prstGeom>
          <a:ln w="19050" cap="flat">
            <a:solidFill>
              <a:srgbClr val="0D0D0D"/>
            </a:solidFill>
            <a:prstDash val="solid"/>
            <a:headEnd type="none" w="sm" len="sm"/>
            <a:tailEnd type="none" w="sm" len="sm"/>
          </a:ln>
        </p:spPr>
      </p:sp>
      <p:sp>
        <p:nvSpPr>
          <p:cNvPr id="5" name="TextBox 5"/>
          <p:cNvSpPr txBox="1"/>
          <p:nvPr/>
        </p:nvSpPr>
        <p:spPr>
          <a:xfrm>
            <a:off x="1588131" y="507685"/>
            <a:ext cx="13302075" cy="786124"/>
          </a:xfrm>
          <a:prstGeom prst="rect">
            <a:avLst/>
          </a:prstGeom>
        </p:spPr>
        <p:txBody>
          <a:bodyPr lIns="0" tIns="0" rIns="0" bIns="0" rtlCol="0" anchor="t">
            <a:spAutoFit/>
          </a:bodyPr>
          <a:lstStyle/>
          <a:p>
            <a:pPr algn="l">
              <a:lnSpc>
                <a:spcPts val="6020"/>
              </a:lnSpc>
            </a:pPr>
            <a:r>
              <a:rPr lang="en-US" sz="4300">
                <a:solidFill>
                  <a:srgbClr val="444E55"/>
                </a:solidFill>
                <a:latin typeface="Horizon"/>
                <a:ea typeface="Horizon"/>
                <a:cs typeface="Horizon"/>
                <a:sym typeface="Horizon"/>
              </a:rPr>
              <a:t>functional requirements</a:t>
            </a:r>
          </a:p>
        </p:txBody>
      </p:sp>
      <p:sp>
        <p:nvSpPr>
          <p:cNvPr id="6" name="TextBox 6"/>
          <p:cNvSpPr txBox="1"/>
          <p:nvPr/>
        </p:nvSpPr>
        <p:spPr>
          <a:xfrm>
            <a:off x="1588131" y="1831275"/>
            <a:ext cx="10754509" cy="6538725"/>
          </a:xfrm>
          <a:prstGeom prst="rect">
            <a:avLst/>
          </a:prstGeom>
        </p:spPr>
        <p:txBody>
          <a:bodyPr lIns="0" tIns="0" rIns="0" bIns="0" rtlCol="0" anchor="t">
            <a:spAutoFit/>
          </a:bodyPr>
          <a:lstStyle/>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receive incoming Telebirr SMS messages.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extract transaction details such as amount, direction, and counterparty.</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automatically record income and expenses from SMS transactions.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store transactions securely in the local database.</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prevent duplicate transaction records.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match transaction amounts with registered items.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learn from user-confirmed or corrected matches.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allow users to manually add cash expenses.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allow users to add and manage customer debts.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display daily, weekly, and monthly financial summaries.</a:t>
            </a:r>
          </a:p>
          <a:p>
            <a:pPr marL="460740" lvl="1" indent="-230370" algn="just">
              <a:lnSpc>
                <a:spcPts val="3499"/>
              </a:lnSpc>
              <a:buFont typeface="Arial"/>
              <a:buChar char="•"/>
            </a:pPr>
            <a:r>
              <a:rPr lang="en-US" sz="2134">
                <a:solidFill>
                  <a:srgbClr val="545454"/>
                </a:solidFill>
                <a:latin typeface="Garet"/>
                <a:ea typeface="Garet"/>
                <a:cs typeface="Garet"/>
                <a:sym typeface="Garet"/>
              </a:rPr>
              <a:t>The system shall allow users to export or synchronize their records when requested.</a:t>
            </a:r>
          </a:p>
          <a:p>
            <a:pPr algn="just">
              <a:lnSpc>
                <a:spcPts val="3499"/>
              </a:lnSpc>
            </a:pPr>
            <a:endParaRPr lang="en-US" sz="2134">
              <a:solidFill>
                <a:srgbClr val="545454"/>
              </a:solidFill>
              <a:latin typeface="Garet"/>
              <a:ea typeface="Garet"/>
              <a:cs typeface="Garet"/>
              <a:sym typeface="Gare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sp>
      <p:sp>
        <p:nvSpPr>
          <p:cNvPr id="3" name="AutoShape 3"/>
          <p:cNvSpPr/>
          <p:nvPr/>
        </p:nvSpPr>
        <p:spPr>
          <a:xfrm>
            <a:off x="3727053" y="9248775"/>
            <a:ext cx="10270277" cy="0"/>
          </a:xfrm>
          <a:prstGeom prst="line">
            <a:avLst/>
          </a:prstGeom>
          <a:ln w="19050" cap="flat">
            <a:solidFill>
              <a:srgbClr val="0D0D0D"/>
            </a:solidFill>
            <a:prstDash val="solid"/>
            <a:headEnd type="none" w="sm" len="sm"/>
            <a:tailEnd type="none" w="sm" len="sm"/>
          </a:ln>
        </p:spPr>
      </p:sp>
      <p:sp>
        <p:nvSpPr>
          <p:cNvPr id="4" name="TextBox 4"/>
          <p:cNvSpPr txBox="1"/>
          <p:nvPr/>
        </p:nvSpPr>
        <p:spPr>
          <a:xfrm>
            <a:off x="15093051" y="8830469"/>
            <a:ext cx="969619" cy="644525"/>
          </a:xfrm>
          <a:prstGeom prst="rect">
            <a:avLst/>
          </a:prstGeom>
        </p:spPr>
        <p:txBody>
          <a:bodyPr lIns="0" tIns="0" rIns="0" bIns="0" rtlCol="0" anchor="t">
            <a:spAutoFit/>
          </a:bodyPr>
          <a:lstStyle/>
          <a:p>
            <a:pPr algn="l">
              <a:lnSpc>
                <a:spcPts val="4900"/>
              </a:lnSpc>
            </a:pPr>
            <a:r>
              <a:rPr lang="en-US" sz="3500">
                <a:solidFill>
                  <a:srgbClr val="0D0D0D"/>
                </a:solidFill>
                <a:latin typeface="Horizon"/>
                <a:ea typeface="Horizon"/>
                <a:cs typeface="Horizon"/>
                <a:sym typeface="Horizon"/>
              </a:rPr>
              <a:t>09</a:t>
            </a:r>
          </a:p>
        </p:txBody>
      </p:sp>
      <p:sp>
        <p:nvSpPr>
          <p:cNvPr id="5" name="TextBox 5"/>
          <p:cNvSpPr txBox="1"/>
          <p:nvPr/>
        </p:nvSpPr>
        <p:spPr>
          <a:xfrm>
            <a:off x="1028700" y="478672"/>
            <a:ext cx="15243587" cy="1903725"/>
          </a:xfrm>
          <a:prstGeom prst="rect">
            <a:avLst/>
          </a:prstGeom>
        </p:spPr>
        <p:txBody>
          <a:bodyPr lIns="0" tIns="0" rIns="0" bIns="0" rtlCol="0" anchor="t">
            <a:spAutoFit/>
          </a:bodyPr>
          <a:lstStyle/>
          <a:p>
            <a:pPr algn="l">
              <a:lnSpc>
                <a:spcPts val="7420"/>
              </a:lnSpc>
            </a:pPr>
            <a:r>
              <a:rPr lang="en-US" sz="5300">
                <a:solidFill>
                  <a:srgbClr val="444E55"/>
                </a:solidFill>
                <a:latin typeface="Horizon"/>
                <a:ea typeface="Horizon"/>
                <a:cs typeface="Horizon"/>
                <a:sym typeface="Horizon"/>
              </a:rPr>
              <a:t>non-functional requirements</a:t>
            </a:r>
          </a:p>
        </p:txBody>
      </p:sp>
      <p:sp>
        <p:nvSpPr>
          <p:cNvPr id="6" name="TextBox 6"/>
          <p:cNvSpPr txBox="1"/>
          <p:nvPr/>
        </p:nvSpPr>
        <p:spPr>
          <a:xfrm>
            <a:off x="1028700" y="3043956"/>
            <a:ext cx="14064351" cy="5661169"/>
          </a:xfrm>
          <a:prstGeom prst="rect">
            <a:avLst/>
          </a:prstGeom>
        </p:spPr>
        <p:txBody>
          <a:bodyPr lIns="0" tIns="0" rIns="0" bIns="0" rtlCol="0" anchor="t">
            <a:spAutoFit/>
          </a:bodyPr>
          <a:lstStyle/>
          <a:p>
            <a:pPr marL="503919" lvl="1" indent="-251959" algn="just">
              <a:lnSpc>
                <a:spcPts val="4574"/>
              </a:lnSpc>
              <a:buFont typeface="Arial"/>
              <a:buChar char="•"/>
            </a:pPr>
            <a:r>
              <a:rPr lang="en-US" sz="2334">
                <a:solidFill>
                  <a:srgbClr val="F3F3F3"/>
                </a:solidFill>
                <a:latin typeface="Garet"/>
                <a:ea typeface="Garet"/>
                <a:cs typeface="Garet"/>
                <a:sym typeface="Garet"/>
              </a:rPr>
              <a:t>The application must protect financial data using encrypted local storage.</a:t>
            </a:r>
          </a:p>
          <a:p>
            <a:pPr marL="503919" lvl="1" indent="-251959" algn="just">
              <a:lnSpc>
                <a:spcPts val="4574"/>
              </a:lnSpc>
              <a:buFont typeface="Arial"/>
              <a:buChar char="•"/>
            </a:pPr>
            <a:r>
              <a:rPr lang="en-US" sz="2334">
                <a:solidFill>
                  <a:srgbClr val="F3F3F3"/>
                </a:solidFill>
                <a:latin typeface="Garet"/>
                <a:ea typeface="Garet"/>
                <a:cs typeface="Garet"/>
                <a:sym typeface="Garet"/>
              </a:rPr>
              <a:t>The application must keep raw SMS content private and must not transmit it.</a:t>
            </a:r>
          </a:p>
          <a:p>
            <a:pPr marL="503919" lvl="1" indent="-251959" algn="just">
              <a:lnSpc>
                <a:spcPts val="4574"/>
              </a:lnSpc>
              <a:buFont typeface="Arial"/>
              <a:buChar char="•"/>
            </a:pPr>
            <a:r>
              <a:rPr lang="en-US" sz="2334">
                <a:solidFill>
                  <a:srgbClr val="F3F3F3"/>
                </a:solidFill>
                <a:latin typeface="Garet"/>
                <a:ea typeface="Garet"/>
                <a:cs typeface="Garet"/>
                <a:sym typeface="Garet"/>
              </a:rPr>
              <a:t>The core features must work without an internet connection.</a:t>
            </a:r>
          </a:p>
          <a:p>
            <a:pPr marL="503919" lvl="1" indent="-251959" algn="just">
              <a:lnSpc>
                <a:spcPts val="4574"/>
              </a:lnSpc>
              <a:buFont typeface="Arial"/>
              <a:buChar char="•"/>
            </a:pPr>
            <a:r>
              <a:rPr lang="en-US" sz="2334">
                <a:solidFill>
                  <a:srgbClr val="F3F3F3"/>
                </a:solidFill>
                <a:latin typeface="Garet"/>
                <a:ea typeface="Garet"/>
                <a:cs typeface="Garet"/>
                <a:sym typeface="Garet"/>
              </a:rPr>
              <a:t>The application should run efficiently on low-end Android devices.</a:t>
            </a:r>
          </a:p>
          <a:p>
            <a:pPr marL="503919" lvl="1" indent="-251959" algn="just">
              <a:lnSpc>
                <a:spcPts val="4574"/>
              </a:lnSpc>
              <a:buFont typeface="Arial"/>
              <a:buChar char="•"/>
            </a:pPr>
            <a:r>
              <a:rPr lang="en-US" sz="2334">
                <a:solidFill>
                  <a:srgbClr val="F3F3F3"/>
                </a:solidFill>
                <a:latin typeface="Garet"/>
                <a:ea typeface="Garet"/>
                <a:cs typeface="Garet"/>
                <a:sym typeface="Garet"/>
              </a:rPr>
              <a:t>The system should process transactions quickly and update the financial view without unnecessary delays.</a:t>
            </a:r>
          </a:p>
          <a:p>
            <a:pPr marL="503919" lvl="1" indent="-251959" algn="just">
              <a:lnSpc>
                <a:spcPts val="4574"/>
              </a:lnSpc>
              <a:buFont typeface="Arial"/>
              <a:buChar char="•"/>
            </a:pPr>
            <a:r>
              <a:rPr lang="en-US" sz="2334">
                <a:solidFill>
                  <a:srgbClr val="F3F3F3"/>
                </a:solidFill>
                <a:latin typeface="Garet"/>
                <a:ea typeface="Garet"/>
                <a:cs typeface="Garet"/>
                <a:sym typeface="Garet"/>
              </a:rPr>
              <a:t>The application must handle unrecognized SMS formats gracefully without crashing.</a:t>
            </a:r>
          </a:p>
          <a:p>
            <a:pPr marL="503919" lvl="1" indent="-251959" algn="just">
              <a:lnSpc>
                <a:spcPts val="4574"/>
              </a:lnSpc>
              <a:buFont typeface="Arial"/>
              <a:buChar char="•"/>
            </a:pPr>
            <a:r>
              <a:rPr lang="en-US" sz="2334">
                <a:solidFill>
                  <a:srgbClr val="F3F3F3"/>
                </a:solidFill>
                <a:latin typeface="Garet"/>
                <a:ea typeface="Garet"/>
                <a:cs typeface="Garet"/>
                <a:sym typeface="Garet"/>
              </a:rPr>
              <a:t>The parser should achieve a target accuracy of at least 90%.</a:t>
            </a:r>
          </a:p>
          <a:p>
            <a:pPr marL="503919" lvl="1" indent="-251959" algn="just">
              <a:lnSpc>
                <a:spcPts val="4574"/>
              </a:lnSpc>
              <a:buFont typeface="Arial"/>
              <a:buChar char="•"/>
            </a:pPr>
            <a:r>
              <a:rPr lang="en-US" sz="2334">
                <a:solidFill>
                  <a:srgbClr val="F3F3F3"/>
                </a:solidFill>
                <a:latin typeface="Garet"/>
                <a:ea typeface="Garet"/>
                <a:cs typeface="Garet"/>
                <a:sym typeface="Garet"/>
              </a:rPr>
              <a:t>Data synchronization must occur only when explicitly requested by the user.</a:t>
            </a:r>
          </a:p>
          <a:p>
            <a:pPr algn="just">
              <a:lnSpc>
                <a:spcPts val="4574"/>
              </a:lnSpc>
            </a:pPr>
            <a:endParaRPr lang="en-US" sz="2334">
              <a:solidFill>
                <a:srgbClr val="F3F3F3"/>
              </a:solidFill>
              <a:latin typeface="Garet"/>
              <a:ea typeface="Garet"/>
              <a:cs typeface="Garet"/>
              <a:sym typeface="Gare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97989A"/>
        </a:solidFill>
        <a:effectLst/>
      </p:bgPr>
    </p:bg>
    <p:spTree>
      <p:nvGrpSpPr>
        <p:cNvPr id="1" name=""/>
        <p:cNvGrpSpPr/>
        <p:nvPr/>
      </p:nvGrpSpPr>
      <p:grpSpPr>
        <a:xfrm>
          <a:off x="0" y="0"/>
          <a:ext cx="0" cy="0"/>
          <a:chOff x="0" y="0"/>
          <a:chExt cx="0" cy="0"/>
        </a:xfrm>
      </p:grpSpPr>
      <p:sp>
        <p:nvSpPr>
          <p:cNvPr id="2" name="TextBox 2"/>
          <p:cNvSpPr txBox="1"/>
          <p:nvPr/>
        </p:nvSpPr>
        <p:spPr>
          <a:xfrm>
            <a:off x="6972161" y="311375"/>
            <a:ext cx="9970496" cy="1680844"/>
          </a:xfrm>
          <a:prstGeom prst="rect">
            <a:avLst/>
          </a:prstGeom>
        </p:spPr>
        <p:txBody>
          <a:bodyPr lIns="0" tIns="0" rIns="0" bIns="0" rtlCol="0" anchor="t">
            <a:spAutoFit/>
          </a:bodyPr>
          <a:lstStyle/>
          <a:p>
            <a:pPr algn="ctr">
              <a:lnSpc>
                <a:spcPts val="6580"/>
              </a:lnSpc>
            </a:pPr>
            <a:r>
              <a:rPr lang="en-US" sz="4700">
                <a:solidFill>
                  <a:srgbClr val="444E55"/>
                </a:solidFill>
                <a:latin typeface="Horizon"/>
                <a:ea typeface="Horizon"/>
                <a:cs typeface="Horizon"/>
                <a:sym typeface="Horizon"/>
              </a:rPr>
              <a:t>testing and evaluation</a:t>
            </a:r>
          </a:p>
        </p:txBody>
      </p:sp>
      <p:sp>
        <p:nvSpPr>
          <p:cNvPr id="3" name="TextBox 3"/>
          <p:cNvSpPr txBox="1"/>
          <p:nvPr/>
        </p:nvSpPr>
        <p:spPr>
          <a:xfrm>
            <a:off x="8075639" y="2756434"/>
            <a:ext cx="8557132" cy="5987391"/>
          </a:xfrm>
          <a:prstGeom prst="rect">
            <a:avLst/>
          </a:prstGeom>
        </p:spPr>
        <p:txBody>
          <a:bodyPr lIns="0" tIns="0" rIns="0" bIns="0" rtlCol="0" anchor="t">
            <a:spAutoFit/>
          </a:bodyPr>
          <a:lstStyle/>
          <a:p>
            <a:pPr marL="503919" lvl="1" indent="-251959" algn="just">
              <a:lnSpc>
                <a:spcPts val="3431"/>
              </a:lnSpc>
              <a:buFont typeface="Arial"/>
              <a:buChar char="•"/>
            </a:pPr>
            <a:r>
              <a:rPr lang="en-US" sz="2334">
                <a:solidFill>
                  <a:srgbClr val="545454"/>
                </a:solidFill>
                <a:latin typeface="Garet"/>
                <a:ea typeface="Garet"/>
                <a:cs typeface="Garet"/>
                <a:sym typeface="Garet"/>
              </a:rPr>
              <a:t>Unit testing is used to test individual components such as the parser and matcher.</a:t>
            </a:r>
          </a:p>
          <a:p>
            <a:pPr marL="503919" lvl="1" indent="-251959" algn="just">
              <a:lnSpc>
                <a:spcPts val="3431"/>
              </a:lnSpc>
              <a:buFont typeface="Arial"/>
              <a:buChar char="•"/>
            </a:pPr>
            <a:r>
              <a:rPr lang="en-US" sz="2334">
                <a:solidFill>
                  <a:srgbClr val="545454"/>
                </a:solidFill>
                <a:latin typeface="Garet"/>
                <a:ea typeface="Garet"/>
                <a:cs typeface="Garet"/>
                <a:sym typeface="Garet"/>
              </a:rPr>
              <a:t>Widget testing is used to verify the application's user interface.</a:t>
            </a:r>
          </a:p>
          <a:p>
            <a:pPr marL="503919" lvl="1" indent="-251959" algn="just">
              <a:lnSpc>
                <a:spcPts val="3431"/>
              </a:lnSpc>
              <a:buFont typeface="Arial"/>
              <a:buChar char="•"/>
            </a:pPr>
            <a:r>
              <a:rPr lang="en-US" sz="2334">
                <a:solidFill>
                  <a:srgbClr val="545454"/>
                </a:solidFill>
                <a:latin typeface="Garet"/>
                <a:ea typeface="Garet"/>
                <a:cs typeface="Garet"/>
                <a:sym typeface="Garet"/>
              </a:rPr>
              <a:t>Integration testing checks the complete system workflow.</a:t>
            </a:r>
          </a:p>
          <a:p>
            <a:pPr marL="503919" lvl="1" indent="-251959" algn="just">
              <a:lnSpc>
                <a:spcPts val="3431"/>
              </a:lnSpc>
              <a:buFont typeface="Arial"/>
              <a:buChar char="•"/>
            </a:pPr>
            <a:r>
              <a:rPr lang="en-US" sz="2334">
                <a:solidFill>
                  <a:srgbClr val="545454"/>
                </a:solidFill>
                <a:latin typeface="Garet"/>
                <a:ea typeface="Garet"/>
                <a:cs typeface="Garet"/>
                <a:sym typeface="Garet"/>
              </a:rPr>
              <a:t>Real Android devices are used to test SMS processing and application behavior.</a:t>
            </a:r>
          </a:p>
          <a:p>
            <a:pPr marL="503919" lvl="1" indent="-251959" algn="just">
              <a:lnSpc>
                <a:spcPts val="3431"/>
              </a:lnSpc>
              <a:buFont typeface="Arial"/>
              <a:buChar char="•"/>
            </a:pPr>
            <a:r>
              <a:rPr lang="en-US" sz="2334">
                <a:solidFill>
                  <a:srgbClr val="545454"/>
                </a:solidFill>
                <a:latin typeface="Garet"/>
                <a:ea typeface="Garet"/>
                <a:cs typeface="Garet"/>
                <a:sym typeface="Garet"/>
              </a:rPr>
              <a:t>The system is tested through the complete flow: SMS → Parser → Transaction → SQLite → Financial Summary.</a:t>
            </a:r>
          </a:p>
          <a:p>
            <a:pPr marL="503919" lvl="1" indent="-251959" algn="just">
              <a:lnSpc>
                <a:spcPts val="3431"/>
              </a:lnSpc>
              <a:buFont typeface="Arial"/>
              <a:buChar char="•"/>
            </a:pPr>
            <a:r>
              <a:rPr lang="en-US" sz="2334">
                <a:solidFill>
                  <a:srgbClr val="545454"/>
                </a:solidFill>
                <a:latin typeface="Garet"/>
                <a:ea typeface="Garet"/>
                <a:cs typeface="Garet"/>
                <a:sym typeface="Garet"/>
              </a:rPr>
              <a:t>Testing also identifies unsupported SMS formats and potential system failures.</a:t>
            </a:r>
          </a:p>
          <a:p>
            <a:pPr algn="just">
              <a:lnSpc>
                <a:spcPts val="3431"/>
              </a:lnSpc>
            </a:pPr>
            <a:endParaRPr lang="en-US" sz="2334">
              <a:solidFill>
                <a:srgbClr val="545454"/>
              </a:solidFill>
              <a:latin typeface="Garet"/>
              <a:ea typeface="Garet"/>
              <a:cs typeface="Garet"/>
              <a:sym typeface="Garet"/>
            </a:endParaRPr>
          </a:p>
        </p:txBody>
      </p:sp>
      <p:grpSp>
        <p:nvGrpSpPr>
          <p:cNvPr id="4" name="Group 4"/>
          <p:cNvGrpSpPr/>
          <p:nvPr/>
        </p:nvGrpSpPr>
        <p:grpSpPr>
          <a:xfrm>
            <a:off x="0" y="0"/>
            <a:ext cx="7683205" cy="10287000"/>
            <a:chOff x="0" y="0"/>
            <a:chExt cx="812800" cy="1088253"/>
          </a:xfrm>
        </p:grpSpPr>
        <p:sp>
          <p:nvSpPr>
            <p:cNvPr id="5" name="Freeform 5"/>
            <p:cNvSpPr/>
            <p:nvPr/>
          </p:nvSpPr>
          <p:spPr>
            <a:xfrm>
              <a:off x="0" y="0"/>
              <a:ext cx="812800" cy="1088253"/>
            </a:xfrm>
            <a:custGeom>
              <a:avLst/>
              <a:gdLst/>
              <a:ahLst/>
              <a:cxnLst/>
              <a:rect l="l" t="t" r="r" b="b"/>
              <a:pathLst>
                <a:path w="812800" h="1088253">
                  <a:moveTo>
                    <a:pt x="0" y="0"/>
                  </a:moveTo>
                  <a:lnTo>
                    <a:pt x="812800" y="0"/>
                  </a:lnTo>
                  <a:lnTo>
                    <a:pt x="812800" y="1088253"/>
                  </a:lnTo>
                  <a:lnTo>
                    <a:pt x="0" y="1088253"/>
                  </a:lnTo>
                  <a:close/>
                </a:path>
              </a:pathLst>
            </a:custGeom>
            <a:blipFill>
              <a:blip r:embed="rId2"/>
              <a:stretch>
                <a:fillRect l="-10080" r="-10080"/>
              </a:stretch>
            </a:blipFill>
          </p:spPr>
        </p:sp>
      </p:grpSp>
      <p:sp>
        <p:nvSpPr>
          <p:cNvPr id="6" name="TextBox 6"/>
          <p:cNvSpPr txBox="1"/>
          <p:nvPr/>
        </p:nvSpPr>
        <p:spPr>
          <a:xfrm>
            <a:off x="2583727" y="8878888"/>
            <a:ext cx="969619" cy="644525"/>
          </a:xfrm>
          <a:prstGeom prst="rect">
            <a:avLst/>
          </a:prstGeom>
        </p:spPr>
        <p:txBody>
          <a:bodyPr lIns="0" tIns="0" rIns="0" bIns="0" rtlCol="0" anchor="t">
            <a:spAutoFit/>
          </a:bodyPr>
          <a:lstStyle/>
          <a:p>
            <a:pPr algn="l">
              <a:lnSpc>
                <a:spcPts val="4900"/>
              </a:lnSpc>
            </a:pPr>
            <a:r>
              <a:rPr lang="en-US" sz="3500">
                <a:solidFill>
                  <a:srgbClr val="FFFFFF"/>
                </a:solidFill>
                <a:latin typeface="Horizon"/>
                <a:ea typeface="Horizon"/>
                <a:cs typeface="Horizon"/>
                <a:sym typeface="Horizon"/>
              </a:rPr>
              <a:t>10</a:t>
            </a:r>
          </a:p>
        </p:txBody>
      </p:sp>
      <p:sp>
        <p:nvSpPr>
          <p:cNvPr id="7" name="AutoShape 7"/>
          <p:cNvSpPr/>
          <p:nvPr/>
        </p:nvSpPr>
        <p:spPr>
          <a:xfrm>
            <a:off x="4313976" y="9267825"/>
            <a:ext cx="10270277" cy="0"/>
          </a:xfrm>
          <a:prstGeom prst="line">
            <a:avLst/>
          </a:prstGeom>
          <a:ln w="19050" cap="flat">
            <a:solidFill>
              <a:srgbClr val="FFFFFF"/>
            </a:solidFill>
            <a:prstDash val="solid"/>
            <a:headEnd type="none" w="sm" len="sm"/>
            <a:tailEnd type="none" w="sm" len="sm"/>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sp>
      <p:sp>
        <p:nvSpPr>
          <p:cNvPr id="3" name="AutoShape 3"/>
          <p:cNvSpPr/>
          <p:nvPr/>
        </p:nvSpPr>
        <p:spPr>
          <a:xfrm>
            <a:off x="1464656" y="9577056"/>
            <a:ext cx="8087264" cy="0"/>
          </a:xfrm>
          <a:prstGeom prst="line">
            <a:avLst/>
          </a:prstGeom>
          <a:ln w="19050" cap="flat">
            <a:solidFill>
              <a:srgbClr val="0D0D0D"/>
            </a:solidFill>
            <a:prstDash val="solid"/>
            <a:headEnd type="none" w="sm" len="sm"/>
            <a:tailEnd type="none" w="sm" len="sm"/>
          </a:ln>
        </p:spPr>
      </p:sp>
      <p:grpSp>
        <p:nvGrpSpPr>
          <p:cNvPr id="4" name="Group 4"/>
          <p:cNvGrpSpPr/>
          <p:nvPr/>
        </p:nvGrpSpPr>
        <p:grpSpPr>
          <a:xfrm>
            <a:off x="11259508" y="0"/>
            <a:ext cx="7028492" cy="10287000"/>
            <a:chOff x="0" y="0"/>
            <a:chExt cx="1088897" cy="1593725"/>
          </a:xfrm>
        </p:grpSpPr>
        <p:sp>
          <p:nvSpPr>
            <p:cNvPr id="5" name="Freeform 5"/>
            <p:cNvSpPr/>
            <p:nvPr/>
          </p:nvSpPr>
          <p:spPr>
            <a:xfrm>
              <a:off x="0" y="0"/>
              <a:ext cx="1088897" cy="1593725"/>
            </a:xfrm>
            <a:custGeom>
              <a:avLst/>
              <a:gdLst/>
              <a:ahLst/>
              <a:cxnLst/>
              <a:rect l="l" t="t" r="r" b="b"/>
              <a:pathLst>
                <a:path w="1088897" h="1593725">
                  <a:moveTo>
                    <a:pt x="0" y="0"/>
                  </a:moveTo>
                  <a:lnTo>
                    <a:pt x="1088897" y="0"/>
                  </a:lnTo>
                  <a:lnTo>
                    <a:pt x="1088897" y="1593725"/>
                  </a:lnTo>
                  <a:lnTo>
                    <a:pt x="0" y="1593725"/>
                  </a:lnTo>
                  <a:close/>
                </a:path>
              </a:pathLst>
            </a:custGeom>
            <a:blipFill>
              <a:blip r:embed="rId3"/>
              <a:stretch>
                <a:fillRect l="-4671" r="-4671"/>
              </a:stretch>
            </a:blipFill>
          </p:spPr>
        </p:sp>
      </p:grpSp>
      <p:sp>
        <p:nvSpPr>
          <p:cNvPr id="6" name="TextBox 6"/>
          <p:cNvSpPr txBox="1"/>
          <p:nvPr/>
        </p:nvSpPr>
        <p:spPr>
          <a:xfrm>
            <a:off x="518778" y="352459"/>
            <a:ext cx="8826092" cy="1832229"/>
          </a:xfrm>
          <a:prstGeom prst="rect">
            <a:avLst/>
          </a:prstGeom>
        </p:spPr>
        <p:txBody>
          <a:bodyPr lIns="0" tIns="0" rIns="0" bIns="0" rtlCol="0" anchor="t">
            <a:spAutoFit/>
          </a:bodyPr>
          <a:lstStyle/>
          <a:p>
            <a:pPr algn="ctr">
              <a:lnSpc>
                <a:spcPts val="6903"/>
              </a:lnSpc>
            </a:pPr>
            <a:r>
              <a:rPr lang="en-US" sz="5900">
                <a:solidFill>
                  <a:srgbClr val="444E55"/>
                </a:solidFill>
                <a:latin typeface="Horizon"/>
                <a:ea typeface="Horizon"/>
                <a:cs typeface="Horizon"/>
                <a:sym typeface="Horizon"/>
              </a:rPr>
              <a:t>future enhancment</a:t>
            </a:r>
          </a:p>
        </p:txBody>
      </p:sp>
      <p:sp>
        <p:nvSpPr>
          <p:cNvPr id="7" name="TextBox 7"/>
          <p:cNvSpPr txBox="1"/>
          <p:nvPr/>
        </p:nvSpPr>
        <p:spPr>
          <a:xfrm>
            <a:off x="825856" y="2555183"/>
            <a:ext cx="8726064" cy="6275473"/>
          </a:xfrm>
          <a:prstGeom prst="rect">
            <a:avLst/>
          </a:prstGeom>
        </p:spPr>
        <p:txBody>
          <a:bodyPr lIns="0" tIns="0" rIns="0" bIns="0" rtlCol="0" anchor="t">
            <a:spAutoFit/>
          </a:bodyPr>
          <a:lstStyle/>
          <a:p>
            <a:pPr marL="503919" lvl="1" indent="-251959" algn="just">
              <a:lnSpc>
                <a:spcPts val="3337"/>
              </a:lnSpc>
              <a:buFont typeface="Arial"/>
              <a:buChar char="•"/>
            </a:pPr>
            <a:r>
              <a:rPr lang="en-US" sz="2334">
                <a:solidFill>
                  <a:srgbClr val="2F2D2A"/>
                </a:solidFill>
                <a:latin typeface="Garet"/>
                <a:ea typeface="Garet"/>
                <a:cs typeface="Garet"/>
                <a:sym typeface="Garet"/>
              </a:rPr>
              <a:t>Support CBE Birr and other mobile-money payment platforms.</a:t>
            </a:r>
          </a:p>
          <a:p>
            <a:pPr marL="503919" lvl="1" indent="-251959" algn="just">
              <a:lnSpc>
                <a:spcPts val="3337"/>
              </a:lnSpc>
              <a:buFont typeface="Arial"/>
              <a:buChar char="•"/>
            </a:pPr>
            <a:r>
              <a:rPr lang="en-US" sz="2334">
                <a:solidFill>
                  <a:srgbClr val="2F2D2A"/>
                </a:solidFill>
                <a:latin typeface="Garet"/>
                <a:ea typeface="Garet"/>
                <a:cs typeface="Garet"/>
                <a:sym typeface="Garet"/>
              </a:rPr>
              <a:t>Add inventory management with stock tracking and alerts.</a:t>
            </a:r>
          </a:p>
          <a:p>
            <a:pPr marL="503919" lvl="1" indent="-251959" algn="just">
              <a:lnSpc>
                <a:spcPts val="3337"/>
              </a:lnSpc>
              <a:buFont typeface="Arial"/>
              <a:buChar char="•"/>
            </a:pPr>
            <a:r>
              <a:rPr lang="en-US" sz="2334">
                <a:solidFill>
                  <a:srgbClr val="2F2D2A"/>
                </a:solidFill>
                <a:latin typeface="Garet"/>
                <a:ea typeface="Garet"/>
                <a:cs typeface="Garet"/>
                <a:sym typeface="Garet"/>
              </a:rPr>
              <a:t>Introduce financial forecasting to help businesses plan ahead.</a:t>
            </a:r>
          </a:p>
          <a:p>
            <a:pPr marL="503919" lvl="1" indent="-251959" algn="just">
              <a:lnSpc>
                <a:spcPts val="3337"/>
              </a:lnSpc>
              <a:buFont typeface="Arial"/>
              <a:buChar char="•"/>
            </a:pPr>
            <a:r>
              <a:rPr lang="en-US" sz="2334">
                <a:solidFill>
                  <a:srgbClr val="2F2D2A"/>
                </a:solidFill>
                <a:latin typeface="Garet"/>
                <a:ea typeface="Garet"/>
                <a:cs typeface="Garet"/>
                <a:sym typeface="Garet"/>
              </a:rPr>
              <a:t>Add AI-powered financial insights and recommendations.</a:t>
            </a:r>
          </a:p>
          <a:p>
            <a:pPr marL="503919" lvl="1" indent="-251959" algn="just">
              <a:lnSpc>
                <a:spcPts val="3337"/>
              </a:lnSpc>
              <a:buFont typeface="Arial"/>
              <a:buChar char="•"/>
            </a:pPr>
            <a:r>
              <a:rPr lang="en-US" sz="2334">
                <a:solidFill>
                  <a:srgbClr val="2F2D2A"/>
                </a:solidFill>
                <a:latin typeface="Garet"/>
                <a:ea typeface="Garet"/>
                <a:cs typeface="Garet"/>
                <a:sym typeface="Garet"/>
              </a:rPr>
              <a:t>Improve bank-ready reports and export features for loan applications.</a:t>
            </a:r>
          </a:p>
          <a:p>
            <a:pPr marL="503919" lvl="1" indent="-251959" algn="just">
              <a:lnSpc>
                <a:spcPts val="3337"/>
              </a:lnSpc>
              <a:buFont typeface="Arial"/>
              <a:buChar char="•"/>
            </a:pPr>
            <a:r>
              <a:rPr lang="en-US" sz="2334">
                <a:solidFill>
                  <a:srgbClr val="2F2D2A"/>
                </a:solidFill>
                <a:latin typeface="Garet"/>
                <a:ea typeface="Garet"/>
                <a:cs typeface="Garet"/>
                <a:sym typeface="Garet"/>
              </a:rPr>
              <a:t>Add voice input to make recording expenses faster and easier.</a:t>
            </a:r>
          </a:p>
          <a:p>
            <a:pPr marL="503919" lvl="1" indent="-251959" algn="just">
              <a:lnSpc>
                <a:spcPts val="3337"/>
              </a:lnSpc>
              <a:buFont typeface="Arial"/>
              <a:buChar char="•"/>
            </a:pPr>
            <a:r>
              <a:rPr lang="en-US" sz="2334">
                <a:solidFill>
                  <a:srgbClr val="2F2D2A"/>
                </a:solidFill>
                <a:latin typeface="Garet"/>
                <a:ea typeface="Garet"/>
                <a:cs typeface="Garet"/>
                <a:sym typeface="Garet"/>
              </a:rPr>
              <a:t>Expand the application to support more types of small businesses.</a:t>
            </a:r>
          </a:p>
          <a:p>
            <a:pPr algn="just">
              <a:lnSpc>
                <a:spcPts val="3337"/>
              </a:lnSpc>
            </a:pPr>
            <a:endParaRPr lang="en-US" sz="2334">
              <a:solidFill>
                <a:srgbClr val="2F2D2A"/>
              </a:solidFill>
              <a:latin typeface="Garet"/>
              <a:ea typeface="Garet"/>
              <a:cs typeface="Garet"/>
              <a:sym typeface="Garet"/>
            </a:endParaRPr>
          </a:p>
        </p:txBody>
      </p:sp>
      <p:sp>
        <p:nvSpPr>
          <p:cNvPr id="8" name="TextBox 8"/>
          <p:cNvSpPr txBox="1"/>
          <p:nvPr/>
        </p:nvSpPr>
        <p:spPr>
          <a:xfrm>
            <a:off x="10289889" y="9188118"/>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6666" b="-16666"/>
            </a:stretch>
          </a:blipFill>
        </p:spPr>
      </p:sp>
      <p:grpSp>
        <p:nvGrpSpPr>
          <p:cNvPr id="3" name="Group 3"/>
          <p:cNvGrpSpPr/>
          <p:nvPr/>
        </p:nvGrpSpPr>
        <p:grpSpPr>
          <a:xfrm>
            <a:off x="641544" y="1918330"/>
            <a:ext cx="2642594" cy="6737985"/>
            <a:chOff x="0" y="0"/>
            <a:chExt cx="409407" cy="1043890"/>
          </a:xfrm>
        </p:grpSpPr>
        <p:sp>
          <p:nvSpPr>
            <p:cNvPr id="4" name="Freeform 4"/>
            <p:cNvSpPr/>
            <p:nvPr/>
          </p:nvSpPr>
          <p:spPr>
            <a:xfrm>
              <a:off x="0" y="0"/>
              <a:ext cx="409407" cy="1043890"/>
            </a:xfrm>
            <a:custGeom>
              <a:avLst/>
              <a:gdLst/>
              <a:ahLst/>
              <a:cxnLst/>
              <a:rect l="l" t="t" r="r" b="b"/>
              <a:pathLst>
                <a:path w="409407" h="1043890">
                  <a:moveTo>
                    <a:pt x="0" y="0"/>
                  </a:moveTo>
                  <a:lnTo>
                    <a:pt x="409407" y="0"/>
                  </a:lnTo>
                  <a:lnTo>
                    <a:pt x="409407" y="1043890"/>
                  </a:lnTo>
                  <a:lnTo>
                    <a:pt x="0" y="1043890"/>
                  </a:lnTo>
                  <a:close/>
                </a:path>
              </a:pathLst>
            </a:custGeom>
            <a:blipFill>
              <a:blip r:embed="rId3"/>
              <a:stretch>
                <a:fillRect l="-7369" r="-7369"/>
              </a:stretch>
            </a:blipFill>
          </p:spPr>
        </p:sp>
      </p:grpSp>
      <p:grpSp>
        <p:nvGrpSpPr>
          <p:cNvPr id="5" name="Group 5"/>
          <p:cNvGrpSpPr/>
          <p:nvPr/>
        </p:nvGrpSpPr>
        <p:grpSpPr>
          <a:xfrm>
            <a:off x="3731813" y="1948374"/>
            <a:ext cx="2909492" cy="6737985"/>
            <a:chOff x="0" y="0"/>
            <a:chExt cx="518856" cy="1201600"/>
          </a:xfrm>
        </p:grpSpPr>
        <p:sp>
          <p:nvSpPr>
            <p:cNvPr id="6" name="Freeform 6"/>
            <p:cNvSpPr/>
            <p:nvPr/>
          </p:nvSpPr>
          <p:spPr>
            <a:xfrm>
              <a:off x="0" y="0"/>
              <a:ext cx="518856" cy="1201600"/>
            </a:xfrm>
            <a:custGeom>
              <a:avLst/>
              <a:gdLst/>
              <a:ahLst/>
              <a:cxnLst/>
              <a:rect l="l" t="t" r="r" b="b"/>
              <a:pathLst>
                <a:path w="518856" h="1201600">
                  <a:moveTo>
                    <a:pt x="0" y="0"/>
                  </a:moveTo>
                  <a:lnTo>
                    <a:pt x="518856" y="0"/>
                  </a:lnTo>
                  <a:lnTo>
                    <a:pt x="518856" y="1201600"/>
                  </a:lnTo>
                  <a:lnTo>
                    <a:pt x="0" y="1201600"/>
                  </a:lnTo>
                  <a:close/>
                </a:path>
              </a:pathLst>
            </a:custGeom>
            <a:blipFill>
              <a:blip r:embed="rId4"/>
              <a:stretch>
                <a:fillRect l="-2106" r="-2106"/>
              </a:stretch>
            </a:blipFill>
          </p:spPr>
        </p:sp>
      </p:grpSp>
      <p:grpSp>
        <p:nvGrpSpPr>
          <p:cNvPr id="7" name="Group 7"/>
          <p:cNvGrpSpPr/>
          <p:nvPr/>
        </p:nvGrpSpPr>
        <p:grpSpPr>
          <a:xfrm>
            <a:off x="10623031" y="1918330"/>
            <a:ext cx="3044059" cy="6737985"/>
            <a:chOff x="0" y="0"/>
            <a:chExt cx="471604" cy="1043890"/>
          </a:xfrm>
        </p:grpSpPr>
        <p:sp>
          <p:nvSpPr>
            <p:cNvPr id="8" name="Freeform 8"/>
            <p:cNvSpPr/>
            <p:nvPr/>
          </p:nvSpPr>
          <p:spPr>
            <a:xfrm>
              <a:off x="0" y="0"/>
              <a:ext cx="471604" cy="1043890"/>
            </a:xfrm>
            <a:custGeom>
              <a:avLst/>
              <a:gdLst/>
              <a:ahLst/>
              <a:cxnLst/>
              <a:rect l="l" t="t" r="r" b="b"/>
              <a:pathLst>
                <a:path w="471604" h="1043890">
                  <a:moveTo>
                    <a:pt x="0" y="0"/>
                  </a:moveTo>
                  <a:lnTo>
                    <a:pt x="471604" y="0"/>
                  </a:lnTo>
                  <a:lnTo>
                    <a:pt x="471604" y="1043890"/>
                  </a:lnTo>
                  <a:lnTo>
                    <a:pt x="0" y="1043890"/>
                  </a:lnTo>
                  <a:close/>
                </a:path>
              </a:pathLst>
            </a:custGeom>
            <a:blipFill>
              <a:blip r:embed="rId5"/>
              <a:stretch>
                <a:fillRect t="-197" b="-197"/>
              </a:stretch>
            </a:blipFill>
          </p:spPr>
        </p:sp>
      </p:grpSp>
      <p:grpSp>
        <p:nvGrpSpPr>
          <p:cNvPr id="9" name="Group 9"/>
          <p:cNvGrpSpPr/>
          <p:nvPr/>
        </p:nvGrpSpPr>
        <p:grpSpPr>
          <a:xfrm>
            <a:off x="7265864" y="1948374"/>
            <a:ext cx="2909492" cy="6737985"/>
            <a:chOff x="0" y="0"/>
            <a:chExt cx="518856" cy="1201600"/>
          </a:xfrm>
        </p:grpSpPr>
        <p:sp>
          <p:nvSpPr>
            <p:cNvPr id="10" name="Freeform 10"/>
            <p:cNvSpPr/>
            <p:nvPr/>
          </p:nvSpPr>
          <p:spPr>
            <a:xfrm>
              <a:off x="0" y="0"/>
              <a:ext cx="518856" cy="1201600"/>
            </a:xfrm>
            <a:custGeom>
              <a:avLst/>
              <a:gdLst/>
              <a:ahLst/>
              <a:cxnLst/>
              <a:rect l="l" t="t" r="r" b="b"/>
              <a:pathLst>
                <a:path w="518856" h="1201600">
                  <a:moveTo>
                    <a:pt x="0" y="0"/>
                  </a:moveTo>
                  <a:lnTo>
                    <a:pt x="518856" y="0"/>
                  </a:lnTo>
                  <a:lnTo>
                    <a:pt x="518856" y="1201600"/>
                  </a:lnTo>
                  <a:lnTo>
                    <a:pt x="0" y="1201600"/>
                  </a:lnTo>
                  <a:close/>
                </a:path>
              </a:pathLst>
            </a:custGeom>
            <a:blipFill>
              <a:blip r:embed="rId6"/>
              <a:stretch>
                <a:fillRect l="-2106" r="-2106"/>
              </a:stretch>
            </a:blipFill>
          </p:spPr>
        </p:sp>
      </p:grpSp>
      <p:sp>
        <p:nvSpPr>
          <p:cNvPr id="11" name="TextBox 11"/>
          <p:cNvSpPr txBox="1"/>
          <p:nvPr/>
        </p:nvSpPr>
        <p:spPr>
          <a:xfrm>
            <a:off x="576734" y="439392"/>
            <a:ext cx="16447249" cy="955929"/>
          </a:xfrm>
          <a:prstGeom prst="rect">
            <a:avLst/>
          </a:prstGeom>
        </p:spPr>
        <p:txBody>
          <a:bodyPr lIns="0" tIns="0" rIns="0" bIns="0" rtlCol="0" anchor="t">
            <a:spAutoFit/>
          </a:bodyPr>
          <a:lstStyle/>
          <a:p>
            <a:pPr algn="ctr">
              <a:lnSpc>
                <a:spcPts val="6903"/>
              </a:lnSpc>
            </a:pPr>
            <a:r>
              <a:rPr lang="en-US" sz="5900">
                <a:solidFill>
                  <a:srgbClr val="444E55"/>
                </a:solidFill>
                <a:latin typeface="Horizon"/>
                <a:ea typeface="Horizon"/>
                <a:cs typeface="Horizon"/>
                <a:sym typeface="Horizon"/>
              </a:rPr>
              <a:t>UI OF OUR APPLICATION</a:t>
            </a:r>
          </a:p>
        </p:txBody>
      </p:sp>
      <p:grpSp>
        <p:nvGrpSpPr>
          <p:cNvPr id="12" name="Group 12"/>
          <p:cNvGrpSpPr/>
          <p:nvPr/>
        </p:nvGrpSpPr>
        <p:grpSpPr>
          <a:xfrm>
            <a:off x="14114491" y="1918330"/>
            <a:ext cx="2909492" cy="6737985"/>
            <a:chOff x="0" y="0"/>
            <a:chExt cx="518856" cy="1201600"/>
          </a:xfrm>
        </p:grpSpPr>
        <p:sp>
          <p:nvSpPr>
            <p:cNvPr id="13" name="Freeform 13"/>
            <p:cNvSpPr/>
            <p:nvPr/>
          </p:nvSpPr>
          <p:spPr>
            <a:xfrm>
              <a:off x="0" y="0"/>
              <a:ext cx="518856" cy="1201600"/>
            </a:xfrm>
            <a:custGeom>
              <a:avLst/>
              <a:gdLst/>
              <a:ahLst/>
              <a:cxnLst/>
              <a:rect l="l" t="t" r="r" b="b"/>
              <a:pathLst>
                <a:path w="518856" h="1201600">
                  <a:moveTo>
                    <a:pt x="0" y="0"/>
                  </a:moveTo>
                  <a:lnTo>
                    <a:pt x="518856" y="0"/>
                  </a:lnTo>
                  <a:lnTo>
                    <a:pt x="518856" y="1201600"/>
                  </a:lnTo>
                  <a:lnTo>
                    <a:pt x="0" y="1201600"/>
                  </a:lnTo>
                  <a:close/>
                </a:path>
              </a:pathLst>
            </a:custGeom>
            <a:blipFill>
              <a:blip r:embed="rId6"/>
              <a:stretch>
                <a:fillRect l="-2106" r="-2106"/>
              </a:stretch>
            </a:blipFill>
          </p:spPr>
        </p:sp>
      </p:grpSp>
      <p:sp>
        <p:nvSpPr>
          <p:cNvPr id="14" name="AutoShape 14"/>
          <p:cNvSpPr/>
          <p:nvPr/>
        </p:nvSpPr>
        <p:spPr>
          <a:xfrm>
            <a:off x="4201427" y="9445302"/>
            <a:ext cx="9611442" cy="39569"/>
          </a:xfrm>
          <a:prstGeom prst="line">
            <a:avLst/>
          </a:prstGeom>
          <a:ln w="19050" cap="flat">
            <a:solidFill>
              <a:srgbClr val="0D0D0D"/>
            </a:solidFill>
            <a:prstDash val="solid"/>
            <a:headEnd type="none" w="sm" len="sm"/>
            <a:tailEnd type="none" w="sm" len="sm"/>
          </a:ln>
        </p:spPr>
      </p:sp>
      <p:sp>
        <p:nvSpPr>
          <p:cNvPr id="15" name="TextBox 15"/>
          <p:cNvSpPr txBox="1"/>
          <p:nvPr/>
        </p:nvSpPr>
        <p:spPr>
          <a:xfrm>
            <a:off x="2582994" y="9065890"/>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6666" b="-16666"/>
            </a:stretch>
          </a:blipFill>
        </p:spPr>
      </p:sp>
      <p:sp>
        <p:nvSpPr>
          <p:cNvPr id="3" name="TextBox 3"/>
          <p:cNvSpPr txBox="1"/>
          <p:nvPr/>
        </p:nvSpPr>
        <p:spPr>
          <a:xfrm>
            <a:off x="-669311" y="838200"/>
            <a:ext cx="14534716" cy="1104899"/>
          </a:xfrm>
          <a:prstGeom prst="rect">
            <a:avLst/>
          </a:prstGeom>
        </p:spPr>
        <p:txBody>
          <a:bodyPr lIns="0" tIns="0" rIns="0" bIns="0" rtlCol="0" anchor="t">
            <a:spAutoFit/>
          </a:bodyPr>
          <a:lstStyle/>
          <a:p>
            <a:pPr algn="ctr">
              <a:lnSpc>
                <a:spcPts val="8400"/>
              </a:lnSpc>
            </a:pPr>
            <a:r>
              <a:rPr lang="en-US" sz="6000">
                <a:solidFill>
                  <a:srgbClr val="444E55"/>
                </a:solidFill>
                <a:latin typeface="Horizon"/>
                <a:ea typeface="Horizon"/>
                <a:cs typeface="Horizon"/>
                <a:sym typeface="Horizon"/>
              </a:rPr>
              <a:t>conclusion</a:t>
            </a:r>
          </a:p>
        </p:txBody>
      </p:sp>
      <p:sp>
        <p:nvSpPr>
          <p:cNvPr id="4" name="TextBox 4"/>
          <p:cNvSpPr txBox="1"/>
          <p:nvPr/>
        </p:nvSpPr>
        <p:spPr>
          <a:xfrm>
            <a:off x="1480974" y="2280326"/>
            <a:ext cx="13953436" cy="6134958"/>
          </a:xfrm>
          <a:prstGeom prst="rect">
            <a:avLst/>
          </a:prstGeom>
        </p:spPr>
        <p:txBody>
          <a:bodyPr lIns="0" tIns="0" rIns="0" bIns="0" rtlCol="0" anchor="t">
            <a:spAutoFit/>
          </a:bodyPr>
          <a:lstStyle/>
          <a:p>
            <a:pPr algn="just">
              <a:lnSpc>
                <a:spcPts val="4447"/>
              </a:lnSpc>
            </a:pPr>
            <a:r>
              <a:rPr lang="en-US" sz="2711">
                <a:solidFill>
                  <a:srgbClr val="2F2D2A"/>
                </a:solidFill>
                <a:latin typeface="Garet"/>
                <a:ea typeface="Garet"/>
                <a:cs typeface="Garet"/>
                <a:sym typeface="Garet"/>
              </a:rPr>
              <a:t>Mekenet provides a practical solution for improving financial record management for small businesses. It reduces the effort of daily bookkeeping by organizing transactions in a simple way. The application is designed to remain useful even without an internet connection. It also focuses on keeping business information secure and under the user's control. The system demonstrates how mobile technology can solve real financial management challenges. Its modular design makes it easier to improve and expand in the future. With additional features and wider payment support, Mekenet can serve more types of businesses. Overall, the project provides a strong foundation for smarter and more organized small-business financial management.</a:t>
            </a:r>
          </a:p>
        </p:txBody>
      </p:sp>
      <p:sp>
        <p:nvSpPr>
          <p:cNvPr id="5" name="AutoShape 5"/>
          <p:cNvSpPr/>
          <p:nvPr/>
        </p:nvSpPr>
        <p:spPr>
          <a:xfrm>
            <a:off x="3884887" y="9248775"/>
            <a:ext cx="10270277" cy="0"/>
          </a:xfrm>
          <a:prstGeom prst="line">
            <a:avLst/>
          </a:prstGeom>
          <a:ln w="19050" cap="flat">
            <a:solidFill>
              <a:srgbClr val="0D0D0D"/>
            </a:solidFill>
            <a:prstDash val="solid"/>
            <a:headEnd type="none" w="sm" len="sm"/>
            <a:tailEnd type="none" w="sm" len="sm"/>
          </a:ln>
        </p:spPr>
      </p:sp>
      <p:sp>
        <p:nvSpPr>
          <p:cNvPr id="6" name="TextBox 6"/>
          <p:cNvSpPr txBox="1"/>
          <p:nvPr/>
        </p:nvSpPr>
        <p:spPr>
          <a:xfrm>
            <a:off x="15434410" y="8869363"/>
            <a:ext cx="969619" cy="644525"/>
          </a:xfrm>
          <a:prstGeom prst="rect">
            <a:avLst/>
          </a:prstGeom>
        </p:spPr>
        <p:txBody>
          <a:bodyPr lIns="0" tIns="0" rIns="0" bIns="0" rtlCol="0" anchor="t">
            <a:spAutoFit/>
          </a:bodyPr>
          <a:lstStyle/>
          <a:p>
            <a:pPr algn="l">
              <a:lnSpc>
                <a:spcPts val="4900"/>
              </a:lnSpc>
            </a:pPr>
            <a:r>
              <a:rPr lang="en-US" sz="3500">
                <a:solidFill>
                  <a:srgbClr val="444E55"/>
                </a:solidFill>
                <a:latin typeface="Horizon"/>
                <a:ea typeface="Horizon"/>
                <a:cs typeface="Horizon"/>
                <a:sym typeface="Horizon"/>
              </a:rPr>
              <a:t>13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sp>
      <p:grpSp>
        <p:nvGrpSpPr>
          <p:cNvPr id="3" name="Group 3"/>
          <p:cNvGrpSpPr/>
          <p:nvPr/>
        </p:nvGrpSpPr>
        <p:grpSpPr>
          <a:xfrm>
            <a:off x="3806875" y="2897168"/>
            <a:ext cx="3288317" cy="3288317"/>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id="5" name="TextBox 5"/>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6" name="Group 6"/>
          <p:cNvGrpSpPr/>
          <p:nvPr/>
        </p:nvGrpSpPr>
        <p:grpSpPr>
          <a:xfrm>
            <a:off x="10851921" y="2840830"/>
            <a:ext cx="3288317" cy="3288317"/>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9" name="Group 9"/>
          <p:cNvGrpSpPr/>
          <p:nvPr/>
        </p:nvGrpSpPr>
        <p:grpSpPr>
          <a:xfrm>
            <a:off x="3935639" y="3044515"/>
            <a:ext cx="3030789" cy="3030789"/>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t="-16666" b="-16666"/>
              </a:stretch>
            </a:blipFill>
          </p:spPr>
        </p:sp>
      </p:grpSp>
      <p:grpSp>
        <p:nvGrpSpPr>
          <p:cNvPr id="11" name="Group 11"/>
          <p:cNvGrpSpPr/>
          <p:nvPr/>
        </p:nvGrpSpPr>
        <p:grpSpPr>
          <a:xfrm>
            <a:off x="10963778" y="2877728"/>
            <a:ext cx="3030789" cy="3030789"/>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t="-16666" b="-16666"/>
              </a:stretch>
            </a:blipFill>
          </p:spPr>
        </p:sp>
      </p:grpSp>
      <p:sp>
        <p:nvSpPr>
          <p:cNvPr id="13" name="AutoShape 13"/>
          <p:cNvSpPr/>
          <p:nvPr/>
        </p:nvSpPr>
        <p:spPr>
          <a:xfrm flipV="1">
            <a:off x="4278148" y="9600406"/>
            <a:ext cx="12013493" cy="149225"/>
          </a:xfrm>
          <a:prstGeom prst="line">
            <a:avLst/>
          </a:prstGeom>
          <a:ln w="19050" cap="flat">
            <a:solidFill>
              <a:srgbClr val="FFFFFF"/>
            </a:solidFill>
            <a:prstDash val="solid"/>
            <a:headEnd type="none" w="sm" len="sm"/>
            <a:tailEnd type="none" w="sm" len="sm"/>
          </a:ln>
        </p:spPr>
      </p:sp>
      <p:grpSp>
        <p:nvGrpSpPr>
          <p:cNvPr id="14" name="Group 14"/>
          <p:cNvGrpSpPr/>
          <p:nvPr/>
        </p:nvGrpSpPr>
        <p:grpSpPr>
          <a:xfrm>
            <a:off x="7304742" y="2945605"/>
            <a:ext cx="3288317" cy="3288317"/>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id="16" name="TextBox 1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7" name="Group 17"/>
          <p:cNvGrpSpPr/>
          <p:nvPr/>
        </p:nvGrpSpPr>
        <p:grpSpPr>
          <a:xfrm>
            <a:off x="7421755" y="3065211"/>
            <a:ext cx="3030789" cy="3030789"/>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t="-61062" b="-61062"/>
              </a:stretch>
            </a:blipFill>
          </p:spPr>
        </p:sp>
      </p:grpSp>
      <p:grpSp>
        <p:nvGrpSpPr>
          <p:cNvPr id="19" name="Group 19"/>
          <p:cNvGrpSpPr/>
          <p:nvPr/>
        </p:nvGrpSpPr>
        <p:grpSpPr>
          <a:xfrm>
            <a:off x="14349788" y="2951412"/>
            <a:ext cx="3288317" cy="3288317"/>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22" name="Group 22"/>
          <p:cNvGrpSpPr/>
          <p:nvPr/>
        </p:nvGrpSpPr>
        <p:grpSpPr>
          <a:xfrm>
            <a:off x="14466801" y="3071018"/>
            <a:ext cx="3030789" cy="3030789"/>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t="-25029" b="-25029"/>
              </a:stretch>
            </a:blipFill>
          </p:spPr>
        </p:sp>
      </p:grpSp>
      <p:grpSp>
        <p:nvGrpSpPr>
          <p:cNvPr id="24" name="Group 24"/>
          <p:cNvGrpSpPr/>
          <p:nvPr/>
        </p:nvGrpSpPr>
        <p:grpSpPr>
          <a:xfrm>
            <a:off x="307322" y="2840830"/>
            <a:ext cx="3288317" cy="3288317"/>
            <a:chOff x="0" y="0"/>
            <a:chExt cx="812800" cy="812800"/>
          </a:xfrm>
        </p:grpSpPr>
        <p:sp>
          <p:nvSpPr>
            <p:cNvPr id="25"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id="26" name="TextBox 26"/>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27" name="Group 27"/>
          <p:cNvGrpSpPr/>
          <p:nvPr/>
        </p:nvGrpSpPr>
        <p:grpSpPr>
          <a:xfrm>
            <a:off x="436086" y="2959235"/>
            <a:ext cx="3030789" cy="3030789"/>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t="-16964" b="-16964"/>
              </a:stretch>
            </a:blipFill>
          </p:spPr>
        </p:sp>
      </p:grpSp>
      <p:sp>
        <p:nvSpPr>
          <p:cNvPr id="29" name="TextBox 29"/>
          <p:cNvSpPr txBox="1"/>
          <p:nvPr/>
        </p:nvSpPr>
        <p:spPr>
          <a:xfrm>
            <a:off x="2946618" y="1227930"/>
            <a:ext cx="12394764" cy="1270000"/>
          </a:xfrm>
          <a:prstGeom prst="rect">
            <a:avLst/>
          </a:prstGeom>
        </p:spPr>
        <p:txBody>
          <a:bodyPr lIns="0" tIns="0" rIns="0" bIns="0" rtlCol="0" anchor="t">
            <a:spAutoFit/>
          </a:bodyPr>
          <a:lstStyle/>
          <a:p>
            <a:pPr algn="ctr">
              <a:lnSpc>
                <a:spcPts val="9799"/>
              </a:lnSpc>
            </a:pPr>
            <a:r>
              <a:rPr lang="en-US" sz="6999">
                <a:solidFill>
                  <a:srgbClr val="FFFFFF"/>
                </a:solidFill>
                <a:latin typeface="Horizon"/>
                <a:ea typeface="Horizon"/>
                <a:cs typeface="Horizon"/>
                <a:sym typeface="Horizon"/>
              </a:rPr>
              <a:t>team members</a:t>
            </a:r>
          </a:p>
        </p:txBody>
      </p:sp>
      <p:sp>
        <p:nvSpPr>
          <p:cNvPr id="30" name="TextBox 30"/>
          <p:cNvSpPr txBox="1"/>
          <p:nvPr/>
        </p:nvSpPr>
        <p:spPr>
          <a:xfrm>
            <a:off x="6526771" y="277644"/>
            <a:ext cx="5790200" cy="713447"/>
          </a:xfrm>
          <a:prstGeom prst="rect">
            <a:avLst/>
          </a:prstGeom>
        </p:spPr>
        <p:txBody>
          <a:bodyPr lIns="0" tIns="0" rIns="0" bIns="0" rtlCol="0" anchor="t">
            <a:spAutoFit/>
          </a:bodyPr>
          <a:lstStyle/>
          <a:p>
            <a:pPr algn="ctr">
              <a:lnSpc>
                <a:spcPts val="5826"/>
              </a:lnSpc>
            </a:pPr>
            <a:r>
              <a:rPr lang="en-US" sz="4161" spc="753">
                <a:solidFill>
                  <a:srgbClr val="FFFFFF"/>
                </a:solidFill>
                <a:latin typeface="Cy Grotesk V3 Grand"/>
                <a:ea typeface="Cy Grotesk V3 Grand"/>
                <a:cs typeface="Cy Grotesk V3 Grand"/>
                <a:sym typeface="Cy Grotesk V3 Grand"/>
              </a:rPr>
              <a:t>MEET OUR</a:t>
            </a:r>
          </a:p>
        </p:txBody>
      </p:sp>
      <p:sp>
        <p:nvSpPr>
          <p:cNvPr id="31" name="TextBox 31"/>
          <p:cNvSpPr txBox="1"/>
          <p:nvPr/>
        </p:nvSpPr>
        <p:spPr>
          <a:xfrm>
            <a:off x="4327459" y="6286038"/>
            <a:ext cx="2248624" cy="721896"/>
          </a:xfrm>
          <a:prstGeom prst="rect">
            <a:avLst/>
          </a:prstGeom>
        </p:spPr>
        <p:txBody>
          <a:bodyPr lIns="0" tIns="0" rIns="0" bIns="0" rtlCol="0" anchor="t">
            <a:spAutoFit/>
          </a:bodyPr>
          <a:lstStyle/>
          <a:p>
            <a:pPr algn="ctr">
              <a:lnSpc>
                <a:spcPts val="2903"/>
              </a:lnSpc>
            </a:pPr>
            <a:r>
              <a:rPr lang="en-US" sz="2073" spc="55">
                <a:solidFill>
                  <a:srgbClr val="FFFFFF"/>
                </a:solidFill>
                <a:latin typeface="Garet"/>
                <a:ea typeface="Garet"/>
                <a:cs typeface="Garet"/>
                <a:sym typeface="Garet"/>
              </a:rPr>
              <a:t>LOMBAMME LEMMA </a:t>
            </a:r>
          </a:p>
        </p:txBody>
      </p:sp>
      <p:sp>
        <p:nvSpPr>
          <p:cNvPr id="32" name="TextBox 32"/>
          <p:cNvSpPr txBox="1"/>
          <p:nvPr/>
        </p:nvSpPr>
        <p:spPr>
          <a:xfrm>
            <a:off x="2578821" y="9363906"/>
            <a:ext cx="969619" cy="644525"/>
          </a:xfrm>
          <a:prstGeom prst="rect">
            <a:avLst/>
          </a:prstGeom>
        </p:spPr>
        <p:txBody>
          <a:bodyPr lIns="0" tIns="0" rIns="0" bIns="0" rtlCol="0" anchor="t">
            <a:spAutoFit/>
          </a:bodyPr>
          <a:lstStyle/>
          <a:p>
            <a:pPr algn="l">
              <a:lnSpc>
                <a:spcPts val="4900"/>
              </a:lnSpc>
            </a:pPr>
            <a:r>
              <a:rPr lang="en-US" sz="3500">
                <a:solidFill>
                  <a:srgbClr val="FFFFFF"/>
                </a:solidFill>
                <a:latin typeface="Horizon"/>
                <a:ea typeface="Horizon"/>
                <a:cs typeface="Horizon"/>
                <a:sym typeface="Horizon"/>
              </a:rPr>
              <a:t>14</a:t>
            </a:r>
          </a:p>
        </p:txBody>
      </p:sp>
      <p:sp>
        <p:nvSpPr>
          <p:cNvPr id="33" name="TextBox 33"/>
          <p:cNvSpPr txBox="1"/>
          <p:nvPr/>
        </p:nvSpPr>
        <p:spPr>
          <a:xfrm>
            <a:off x="11465549" y="6269548"/>
            <a:ext cx="2248624" cy="721896"/>
          </a:xfrm>
          <a:prstGeom prst="rect">
            <a:avLst/>
          </a:prstGeom>
        </p:spPr>
        <p:txBody>
          <a:bodyPr lIns="0" tIns="0" rIns="0" bIns="0" rtlCol="0" anchor="t">
            <a:spAutoFit/>
          </a:bodyPr>
          <a:lstStyle/>
          <a:p>
            <a:pPr algn="ctr">
              <a:lnSpc>
                <a:spcPts val="2903"/>
              </a:lnSpc>
            </a:pPr>
            <a:r>
              <a:rPr lang="en-US" sz="2073" spc="55">
                <a:solidFill>
                  <a:srgbClr val="FFFFFF"/>
                </a:solidFill>
                <a:latin typeface="Garet"/>
                <a:ea typeface="Garet"/>
                <a:cs typeface="Garet"/>
                <a:sym typeface="Garet"/>
              </a:rPr>
              <a:t>KENAWAK BERHANU</a:t>
            </a:r>
          </a:p>
        </p:txBody>
      </p:sp>
      <p:sp>
        <p:nvSpPr>
          <p:cNvPr id="34" name="TextBox 34"/>
          <p:cNvSpPr txBox="1"/>
          <p:nvPr/>
        </p:nvSpPr>
        <p:spPr>
          <a:xfrm>
            <a:off x="8043606" y="6424422"/>
            <a:ext cx="2248624" cy="358422"/>
          </a:xfrm>
          <a:prstGeom prst="rect">
            <a:avLst/>
          </a:prstGeom>
        </p:spPr>
        <p:txBody>
          <a:bodyPr lIns="0" tIns="0" rIns="0" bIns="0" rtlCol="0" anchor="t">
            <a:spAutoFit/>
          </a:bodyPr>
          <a:lstStyle/>
          <a:p>
            <a:pPr algn="ctr">
              <a:lnSpc>
                <a:spcPts val="2903"/>
              </a:lnSpc>
            </a:pPr>
            <a:r>
              <a:rPr lang="en-US" sz="2073" spc="55">
                <a:solidFill>
                  <a:srgbClr val="FFFFFF"/>
                </a:solidFill>
                <a:latin typeface="Garet"/>
                <a:ea typeface="Garet"/>
                <a:cs typeface="Garet"/>
                <a:sym typeface="Garet"/>
              </a:rPr>
              <a:t>HELEN TESFAYE</a:t>
            </a:r>
          </a:p>
        </p:txBody>
      </p:sp>
      <p:sp>
        <p:nvSpPr>
          <p:cNvPr id="35" name="TextBox 35"/>
          <p:cNvSpPr txBox="1"/>
          <p:nvPr/>
        </p:nvSpPr>
        <p:spPr>
          <a:xfrm>
            <a:off x="11343764" y="7775797"/>
            <a:ext cx="2650803" cy="1443609"/>
          </a:xfrm>
          <a:prstGeom prst="rect">
            <a:avLst/>
          </a:prstGeom>
        </p:spPr>
        <p:txBody>
          <a:bodyPr lIns="0" tIns="0" rIns="0" bIns="0" rtlCol="0" anchor="t">
            <a:spAutoFit/>
          </a:bodyPr>
          <a:lstStyle/>
          <a:p>
            <a:pPr algn="ctr">
              <a:lnSpc>
                <a:spcPts val="2855"/>
              </a:lnSpc>
            </a:pPr>
            <a:r>
              <a:rPr lang="en-US" sz="2039" b="1" spc="55">
                <a:solidFill>
                  <a:srgbClr val="FFFFFF"/>
                </a:solidFill>
                <a:latin typeface="Garet Bold"/>
                <a:ea typeface="Garet Bold"/>
                <a:cs typeface="Garet Bold"/>
                <a:sym typeface="Garet Bold"/>
              </a:rPr>
              <a:t>Transaction Parsing &amp; Matching Developer</a:t>
            </a:r>
          </a:p>
        </p:txBody>
      </p:sp>
      <p:sp>
        <p:nvSpPr>
          <p:cNvPr id="36" name="TextBox 36"/>
          <p:cNvSpPr txBox="1"/>
          <p:nvPr/>
        </p:nvSpPr>
        <p:spPr>
          <a:xfrm>
            <a:off x="7663309" y="7940586"/>
            <a:ext cx="2789235" cy="1081584"/>
          </a:xfrm>
          <a:prstGeom prst="rect">
            <a:avLst/>
          </a:prstGeom>
        </p:spPr>
        <p:txBody>
          <a:bodyPr lIns="0" tIns="0" rIns="0" bIns="0" rtlCol="0" anchor="t">
            <a:spAutoFit/>
          </a:bodyPr>
          <a:lstStyle/>
          <a:p>
            <a:pPr algn="ctr">
              <a:lnSpc>
                <a:spcPts val="2860"/>
              </a:lnSpc>
            </a:pPr>
            <a:r>
              <a:rPr lang="en-US" sz="2042" b="1" spc="55">
                <a:solidFill>
                  <a:srgbClr val="FFFFFF"/>
                </a:solidFill>
                <a:latin typeface="Garet Bold"/>
                <a:ea typeface="Garet Bold"/>
                <a:cs typeface="Garet Bold"/>
                <a:sym typeface="Garet Bold"/>
              </a:rPr>
              <a:t>SMS Integration &amp; Local Storage Developer</a:t>
            </a:r>
          </a:p>
        </p:txBody>
      </p:sp>
      <p:sp>
        <p:nvSpPr>
          <p:cNvPr id="37" name="TextBox 37"/>
          <p:cNvSpPr txBox="1"/>
          <p:nvPr/>
        </p:nvSpPr>
        <p:spPr>
          <a:xfrm>
            <a:off x="4327459" y="7093659"/>
            <a:ext cx="2248624" cy="356898"/>
          </a:xfrm>
          <a:prstGeom prst="rect">
            <a:avLst/>
          </a:prstGeom>
        </p:spPr>
        <p:txBody>
          <a:bodyPr lIns="0" tIns="0" rIns="0" bIns="0" rtlCol="0" anchor="t">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CTC-888-26</a:t>
            </a:r>
          </a:p>
        </p:txBody>
      </p:sp>
      <p:sp>
        <p:nvSpPr>
          <p:cNvPr id="38" name="TextBox 38"/>
          <p:cNvSpPr txBox="1"/>
          <p:nvPr/>
        </p:nvSpPr>
        <p:spPr>
          <a:xfrm>
            <a:off x="11442395" y="7067644"/>
            <a:ext cx="2248624" cy="356898"/>
          </a:xfrm>
          <a:prstGeom prst="rect">
            <a:avLst/>
          </a:prstGeom>
        </p:spPr>
        <p:txBody>
          <a:bodyPr lIns="0" tIns="0" rIns="0" bIns="0" rtlCol="0" anchor="t">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CTC-6591-26</a:t>
            </a:r>
          </a:p>
        </p:txBody>
      </p:sp>
      <p:sp>
        <p:nvSpPr>
          <p:cNvPr id="39" name="TextBox 39"/>
          <p:cNvSpPr txBox="1"/>
          <p:nvPr/>
        </p:nvSpPr>
        <p:spPr>
          <a:xfrm>
            <a:off x="7962258" y="7105198"/>
            <a:ext cx="2248624" cy="356898"/>
          </a:xfrm>
          <a:prstGeom prst="rect">
            <a:avLst/>
          </a:prstGeom>
        </p:spPr>
        <p:txBody>
          <a:bodyPr lIns="0" tIns="0" rIns="0" bIns="0" rtlCol="0" anchor="t">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CTC-1586-26</a:t>
            </a:r>
          </a:p>
        </p:txBody>
      </p:sp>
      <p:sp>
        <p:nvSpPr>
          <p:cNvPr id="40" name="TextBox 40"/>
          <p:cNvSpPr txBox="1"/>
          <p:nvPr/>
        </p:nvSpPr>
        <p:spPr>
          <a:xfrm>
            <a:off x="4125632" y="8109985"/>
            <a:ext cx="2650803" cy="1081659"/>
          </a:xfrm>
          <a:prstGeom prst="rect">
            <a:avLst/>
          </a:prstGeom>
        </p:spPr>
        <p:txBody>
          <a:bodyPr lIns="0" tIns="0" rIns="0" bIns="0" rtlCol="0" anchor="t">
            <a:spAutoFit/>
          </a:bodyPr>
          <a:lstStyle/>
          <a:p>
            <a:pPr algn="ctr">
              <a:lnSpc>
                <a:spcPts val="2855"/>
              </a:lnSpc>
            </a:pPr>
            <a:r>
              <a:rPr lang="en-US" sz="2039" b="1" spc="55">
                <a:solidFill>
                  <a:srgbClr val="FFFFFF"/>
                </a:solidFill>
                <a:latin typeface="Garet Bold"/>
                <a:ea typeface="Garet Bold"/>
                <a:cs typeface="Garet Bold"/>
                <a:sym typeface="Garet Bold"/>
              </a:rPr>
              <a:t>Backend API &amp; Data Services Developer</a:t>
            </a:r>
          </a:p>
        </p:txBody>
      </p:sp>
      <p:sp>
        <p:nvSpPr>
          <p:cNvPr id="41" name="TextBox 41"/>
          <p:cNvSpPr txBox="1"/>
          <p:nvPr/>
        </p:nvSpPr>
        <p:spPr>
          <a:xfrm>
            <a:off x="14466801" y="8145914"/>
            <a:ext cx="2650803" cy="729302"/>
          </a:xfrm>
          <a:prstGeom prst="rect">
            <a:avLst/>
          </a:prstGeom>
        </p:spPr>
        <p:txBody>
          <a:bodyPr lIns="0" tIns="0" rIns="0" bIns="0" rtlCol="0" anchor="t">
            <a:spAutoFit/>
          </a:bodyPr>
          <a:lstStyle/>
          <a:p>
            <a:pPr algn="ctr">
              <a:lnSpc>
                <a:spcPts val="2855"/>
              </a:lnSpc>
            </a:pPr>
            <a:r>
              <a:rPr lang="en-US" sz="2039" b="1" spc="55" dirty="0">
                <a:solidFill>
                  <a:srgbClr val="FFFFFF"/>
                </a:solidFill>
                <a:latin typeface="Garet Bold"/>
                <a:ea typeface="Garet Bold"/>
                <a:cs typeface="Garet Bold"/>
                <a:sym typeface="Garet Bold"/>
              </a:rPr>
              <a:t>Frontend UI</a:t>
            </a:r>
          </a:p>
          <a:p>
            <a:pPr algn="ctr">
              <a:lnSpc>
                <a:spcPts val="2855"/>
              </a:lnSpc>
            </a:pPr>
            <a:r>
              <a:rPr lang="en-US" sz="2039" b="1" spc="55" dirty="0">
                <a:solidFill>
                  <a:srgbClr val="FFFFFF"/>
                </a:solidFill>
                <a:latin typeface="Garet Bold"/>
                <a:ea typeface="Garet Bold"/>
                <a:cs typeface="Garet Bold"/>
                <a:sym typeface="Garet Bold"/>
              </a:rPr>
              <a:t> Developer</a:t>
            </a:r>
          </a:p>
        </p:txBody>
      </p:sp>
      <p:sp>
        <p:nvSpPr>
          <p:cNvPr id="42" name="TextBox 42"/>
          <p:cNvSpPr txBox="1"/>
          <p:nvPr/>
        </p:nvSpPr>
        <p:spPr>
          <a:xfrm>
            <a:off x="14645222" y="6321967"/>
            <a:ext cx="2248624" cy="721896"/>
          </a:xfrm>
          <a:prstGeom prst="rect">
            <a:avLst/>
          </a:prstGeom>
        </p:spPr>
        <p:txBody>
          <a:bodyPr lIns="0" tIns="0" rIns="0" bIns="0" rtlCol="0" anchor="t">
            <a:spAutoFit/>
          </a:bodyPr>
          <a:lstStyle/>
          <a:p>
            <a:pPr algn="ctr">
              <a:lnSpc>
                <a:spcPts val="2903"/>
              </a:lnSpc>
            </a:pPr>
            <a:r>
              <a:rPr lang="en-US" sz="2073" spc="55">
                <a:solidFill>
                  <a:srgbClr val="FFFFFF"/>
                </a:solidFill>
                <a:latin typeface="Garet"/>
                <a:ea typeface="Garet"/>
                <a:cs typeface="Garet"/>
                <a:sym typeface="Garet"/>
              </a:rPr>
              <a:t>MEKDES TESFAYE</a:t>
            </a:r>
          </a:p>
        </p:txBody>
      </p:sp>
      <p:sp>
        <p:nvSpPr>
          <p:cNvPr id="43" name="TextBox 43"/>
          <p:cNvSpPr txBox="1"/>
          <p:nvPr/>
        </p:nvSpPr>
        <p:spPr>
          <a:xfrm>
            <a:off x="14751967" y="7129588"/>
            <a:ext cx="2248624" cy="356898"/>
          </a:xfrm>
          <a:prstGeom prst="rect">
            <a:avLst/>
          </a:prstGeom>
        </p:spPr>
        <p:txBody>
          <a:bodyPr lIns="0" tIns="0" rIns="0" bIns="0" rtlCol="0" anchor="t">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CTC-1711-26</a:t>
            </a:r>
          </a:p>
        </p:txBody>
      </p:sp>
      <p:sp>
        <p:nvSpPr>
          <p:cNvPr id="44" name="TextBox 44"/>
          <p:cNvSpPr txBox="1"/>
          <p:nvPr/>
        </p:nvSpPr>
        <p:spPr>
          <a:xfrm>
            <a:off x="1013564" y="6281547"/>
            <a:ext cx="2248624" cy="358422"/>
          </a:xfrm>
          <a:prstGeom prst="rect">
            <a:avLst/>
          </a:prstGeom>
        </p:spPr>
        <p:txBody>
          <a:bodyPr lIns="0" tIns="0" rIns="0" bIns="0" rtlCol="0" anchor="t">
            <a:spAutoFit/>
          </a:bodyPr>
          <a:lstStyle/>
          <a:p>
            <a:pPr algn="ctr">
              <a:lnSpc>
                <a:spcPts val="2903"/>
              </a:lnSpc>
            </a:pPr>
            <a:r>
              <a:rPr lang="en-US" sz="2073" spc="55">
                <a:solidFill>
                  <a:srgbClr val="FFFFFF"/>
                </a:solidFill>
                <a:latin typeface="Garet"/>
                <a:ea typeface="Garet"/>
                <a:cs typeface="Garet"/>
                <a:sym typeface="Garet"/>
              </a:rPr>
              <a:t>LEWI KIBRU</a:t>
            </a:r>
          </a:p>
        </p:txBody>
      </p:sp>
      <p:sp>
        <p:nvSpPr>
          <p:cNvPr id="45" name="TextBox 45"/>
          <p:cNvSpPr txBox="1"/>
          <p:nvPr/>
        </p:nvSpPr>
        <p:spPr>
          <a:xfrm>
            <a:off x="867117" y="7834610"/>
            <a:ext cx="2650803" cy="1513967"/>
          </a:xfrm>
          <a:prstGeom prst="rect">
            <a:avLst/>
          </a:prstGeom>
        </p:spPr>
        <p:txBody>
          <a:bodyPr lIns="0" tIns="0" rIns="0" bIns="0" rtlCol="0" anchor="t">
            <a:spAutoFit/>
          </a:bodyPr>
          <a:lstStyle/>
          <a:p>
            <a:pPr algn="ctr">
              <a:lnSpc>
                <a:spcPts val="3499"/>
              </a:lnSpc>
            </a:pPr>
            <a:r>
              <a:rPr lang="en-US" sz="2499" b="1" spc="67">
                <a:solidFill>
                  <a:srgbClr val="FFFFFF"/>
                </a:solidFill>
                <a:latin typeface="Garet Bold"/>
                <a:ea typeface="Garet Bold"/>
                <a:cs typeface="Garet Bold"/>
                <a:sym typeface="Garet Bold"/>
              </a:rPr>
              <a:t>leader</a:t>
            </a:r>
          </a:p>
          <a:p>
            <a:pPr algn="ctr">
              <a:lnSpc>
                <a:spcPts val="2855"/>
              </a:lnSpc>
            </a:pPr>
            <a:r>
              <a:rPr lang="en-US" sz="2039" b="1" spc="55">
                <a:solidFill>
                  <a:srgbClr val="FFFFFF"/>
                </a:solidFill>
                <a:latin typeface="Garet Bold"/>
                <a:ea typeface="Garet Bold"/>
                <a:cs typeface="Garet Bold"/>
                <a:sym typeface="Garet Bold"/>
              </a:rPr>
              <a:t>Backend API &amp; Database Developer</a:t>
            </a:r>
          </a:p>
        </p:txBody>
      </p:sp>
      <p:sp>
        <p:nvSpPr>
          <p:cNvPr id="46" name="TextBox 46"/>
          <p:cNvSpPr txBox="1"/>
          <p:nvPr/>
        </p:nvSpPr>
        <p:spPr>
          <a:xfrm>
            <a:off x="908789" y="6999221"/>
            <a:ext cx="2248624" cy="356898"/>
          </a:xfrm>
          <a:prstGeom prst="rect">
            <a:avLst/>
          </a:prstGeom>
        </p:spPr>
        <p:txBody>
          <a:bodyPr lIns="0" tIns="0" rIns="0" bIns="0" rtlCol="0" anchor="t">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CTC-6064-26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851" b="-15851"/>
            </a:stretch>
          </a:blipFill>
        </p:spPr>
      </p:sp>
      <p:sp>
        <p:nvSpPr>
          <p:cNvPr id="3" name="TextBox 3"/>
          <p:cNvSpPr txBox="1"/>
          <p:nvPr/>
        </p:nvSpPr>
        <p:spPr>
          <a:xfrm>
            <a:off x="5681334" y="3892550"/>
            <a:ext cx="6925331" cy="2359025"/>
          </a:xfrm>
          <a:prstGeom prst="rect">
            <a:avLst/>
          </a:prstGeom>
        </p:spPr>
        <p:txBody>
          <a:bodyPr lIns="0" tIns="0" rIns="0" bIns="0" rtlCol="0" anchor="t">
            <a:spAutoFit/>
          </a:bodyPr>
          <a:lstStyle/>
          <a:p>
            <a:pPr algn="ctr">
              <a:lnSpc>
                <a:spcPts val="9099"/>
              </a:lnSpc>
            </a:pPr>
            <a:r>
              <a:rPr lang="en-US" sz="6999">
                <a:solidFill>
                  <a:srgbClr val="FFFFFF"/>
                </a:solidFill>
                <a:latin typeface="Horizon"/>
                <a:ea typeface="Horizon"/>
                <a:cs typeface="Horizon"/>
                <a:sym typeface="Horizon"/>
              </a:rPr>
              <a:t>Thank You</a:t>
            </a:r>
          </a:p>
        </p:txBody>
      </p:sp>
      <p:grpSp>
        <p:nvGrpSpPr>
          <p:cNvPr id="4" name="Group 4"/>
          <p:cNvGrpSpPr/>
          <p:nvPr/>
        </p:nvGrpSpPr>
        <p:grpSpPr>
          <a:xfrm>
            <a:off x="6154811" y="8415034"/>
            <a:ext cx="6066557" cy="634718"/>
            <a:chOff x="0" y="0"/>
            <a:chExt cx="1597776" cy="167169"/>
          </a:xfrm>
        </p:grpSpPr>
        <p:sp>
          <p:nvSpPr>
            <p:cNvPr id="5" name="Freeform 5"/>
            <p:cNvSpPr/>
            <p:nvPr/>
          </p:nvSpPr>
          <p:spPr>
            <a:xfrm>
              <a:off x="0" y="0"/>
              <a:ext cx="1597776" cy="167169"/>
            </a:xfrm>
            <a:custGeom>
              <a:avLst/>
              <a:gdLst/>
              <a:ahLst/>
              <a:cxnLst/>
              <a:rect l="l" t="t" r="r" b="b"/>
              <a:pathLst>
                <a:path w="1597776" h="167169">
                  <a:moveTo>
                    <a:pt x="83584" y="0"/>
                  </a:moveTo>
                  <a:lnTo>
                    <a:pt x="1514192" y="0"/>
                  </a:lnTo>
                  <a:cubicBezTo>
                    <a:pt x="1536360" y="0"/>
                    <a:pt x="1557620" y="8806"/>
                    <a:pt x="1573295" y="24481"/>
                  </a:cubicBezTo>
                  <a:cubicBezTo>
                    <a:pt x="1588970" y="40156"/>
                    <a:pt x="1597776" y="61416"/>
                    <a:pt x="1597776" y="83584"/>
                  </a:cubicBezTo>
                  <a:lnTo>
                    <a:pt x="1597776" y="83584"/>
                  </a:lnTo>
                  <a:cubicBezTo>
                    <a:pt x="1597776" y="129747"/>
                    <a:pt x="1560354" y="167169"/>
                    <a:pt x="1514192" y="167169"/>
                  </a:cubicBezTo>
                  <a:lnTo>
                    <a:pt x="83584" y="167169"/>
                  </a:lnTo>
                  <a:cubicBezTo>
                    <a:pt x="37422" y="167169"/>
                    <a:pt x="0" y="129747"/>
                    <a:pt x="0" y="83584"/>
                  </a:cubicBezTo>
                  <a:lnTo>
                    <a:pt x="0" y="83584"/>
                  </a:lnTo>
                  <a:cubicBezTo>
                    <a:pt x="0" y="37422"/>
                    <a:pt x="37422" y="0"/>
                    <a:pt x="83584" y="0"/>
                  </a:cubicBezTo>
                  <a:close/>
                </a:path>
              </a:pathLst>
            </a:custGeom>
            <a:ln w="19050" cap="rnd">
              <a:solidFill>
                <a:srgbClr val="FFFFFF"/>
              </a:solidFill>
              <a:prstDash val="solid"/>
              <a:round/>
            </a:ln>
          </p:spPr>
        </p:sp>
        <p:sp>
          <p:nvSpPr>
            <p:cNvPr id="6" name="TextBox 6"/>
            <p:cNvSpPr txBox="1"/>
            <p:nvPr/>
          </p:nvSpPr>
          <p:spPr>
            <a:xfrm>
              <a:off x="0" y="-47625"/>
              <a:ext cx="1597776" cy="214794"/>
            </a:xfrm>
            <a:prstGeom prst="rect">
              <a:avLst/>
            </a:prstGeom>
          </p:spPr>
          <p:txBody>
            <a:bodyPr lIns="50800" tIns="50800" rIns="50800" bIns="50800" rtlCol="0" anchor="ctr"/>
            <a:lstStyle/>
            <a:p>
              <a:pPr algn="ctr">
                <a:lnSpc>
                  <a:spcPts val="3499"/>
                </a:lnSpc>
              </a:pPr>
              <a:endParaRPr/>
            </a:p>
          </p:txBody>
        </p:sp>
      </p:grpSp>
      <p:sp>
        <p:nvSpPr>
          <p:cNvPr id="7" name="TextBox 7"/>
          <p:cNvSpPr txBox="1"/>
          <p:nvPr/>
        </p:nvSpPr>
        <p:spPr>
          <a:xfrm>
            <a:off x="6357738" y="8552360"/>
            <a:ext cx="5572523" cy="353223"/>
          </a:xfrm>
          <a:prstGeom prst="rect">
            <a:avLst/>
          </a:prstGeom>
        </p:spPr>
        <p:txBody>
          <a:bodyPr lIns="0" tIns="0" rIns="0" bIns="0" rtlCol="0" anchor="t">
            <a:spAutoFit/>
          </a:bodyPr>
          <a:lstStyle/>
          <a:p>
            <a:pPr algn="ctr">
              <a:lnSpc>
                <a:spcPts val="2897"/>
              </a:lnSpc>
            </a:pPr>
            <a:r>
              <a:rPr lang="en-US" sz="2069" spc="374">
                <a:solidFill>
                  <a:srgbClr val="FFFFFF"/>
                </a:solidFill>
                <a:latin typeface="Cy Grotesk V3 Grand"/>
                <a:ea typeface="Cy Grotesk V3 Grand"/>
                <a:cs typeface="Cy Grotesk V3 Grand"/>
                <a:sym typeface="Cy Grotesk V3 Grand"/>
              </a:rPr>
              <a:t>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1511</Words>
  <Application>Microsoft Office PowerPoint</Application>
  <PresentationFormat>Custom</PresentationFormat>
  <Paragraphs>153</Paragraphs>
  <Slides>17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Cy Grotesk V3 Grand Bold</vt:lpstr>
      <vt:lpstr>Cy Grotesk V3 Grand</vt:lpstr>
      <vt:lpstr>Garet</vt:lpstr>
      <vt:lpstr>Calibri</vt:lpstr>
      <vt:lpstr>Garet Bold</vt:lpstr>
      <vt:lpstr>Arial</vt:lpstr>
      <vt:lpstr>Horizon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መቀነት (Mekenet)</dc:title>
  <cp:lastModifiedBy>helentesfaye9421@gmail.com</cp:lastModifiedBy>
  <cp:revision>2</cp:revision>
  <dcterms:created xsi:type="dcterms:W3CDTF">2006-08-16T00:00:00Z</dcterms:created>
  <dcterms:modified xsi:type="dcterms:W3CDTF">2026-08-21T21:41:46Z</dcterms:modified>
  <dc:identifier>DAHSzCSmVF4</dc:identifier>
</cp:coreProperties>
</file>