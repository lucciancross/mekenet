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EED0E89-0E1E-4ADD-B99C-543E4BDD15F3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E4BF4D-5662-439E-9EF1-6355EDD1ED2D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1BCCD45-245C-44F0-8B26-F0E014B53F93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7E3538-1F16-422E-950E-47BB3FEEA981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460C5B2-39A9-4F5D-B302-6F8852973305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EB8D058-07BE-4A3A-9EB8-0915FE63C6F0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03BF959-9BD0-43D5-A1D6-9E411BAB19C0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2E2DDF5-89FE-4EDB-A228-4092C653759B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9ADB770-B44A-4008-908B-2FBE802002E9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B5404D-38E8-4050-8F8A-23B0E9A017E7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06A765A-C9CD-461B-86C5-372E53897E9B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6DF7BE-0648-4BAB-A954-61C1C738DC0B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067C961-109F-4A24-8257-18842EC2735F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3C0BE49-009D-43B2-942C-F7487A34F7C6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AE8CD19-B07B-408D-B4DC-B25560F5D566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F4A7DDC-6258-4AEE-BDBD-E71EC6FBAF6F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7605F87-8E41-464B-A21E-FB7DEF4316C1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8CA65E4-A634-46F0-A0B6-2BBCAC3D5CCD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6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0.png"/><Relationship Id="rId3" Type="http://schemas.openxmlformats.org/officeDocument/2006/relationships/image" Target="../media/image10.png"/><Relationship Id="rId4" Type="http://schemas.openxmlformats.org/officeDocument/2006/relationships/image" Target="../media/image10.png"/><Relationship Id="rId5" Type="http://schemas.openxmlformats.org/officeDocument/2006/relationships/image" Target="../media/image10.png"/><Relationship Id="rId6" Type="http://schemas.openxmlformats.org/officeDocument/2006/relationships/image" Target="../media/image10.png"/><Relationship Id="rId7" Type="http://schemas.openxmlformats.org/officeDocument/2006/relationships/image" Target="../media/image10.png"/><Relationship Id="rId8" Type="http://schemas.openxmlformats.org/officeDocument/2006/relationships/image" Target="../media/image10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1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4.png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1.png"/><Relationship Id="rId7" Type="http://schemas.openxmlformats.org/officeDocument/2006/relationships/image" Target="../media/image3.png"/><Relationship Id="rId8" Type="http://schemas.openxmlformats.org/officeDocument/2006/relationships/image" Target="../media/image10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12.png"/><Relationship Id="rId5" Type="http://schemas.openxmlformats.org/officeDocument/2006/relationships/image" Target="../media/image2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a2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9052560" y="-914400"/>
            <a:ext cx="3291120" cy="3291120"/>
          </a:xfrm>
          <a:prstGeom prst="roundRect">
            <a:avLst>
              <a:gd name="adj" fmla="val 28000"/>
            </a:avLst>
          </a:prstGeom>
          <a:solidFill>
            <a:srgbClr val="b85042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10607040" y="4023360"/>
            <a:ext cx="2193840" cy="2193840"/>
          </a:xfrm>
          <a:prstGeom prst="roundRect">
            <a:avLst>
              <a:gd name="adj" fmla="val 28000"/>
            </a:avLst>
          </a:prstGeom>
          <a:solidFill>
            <a:srgbClr val="d4a017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-914400" y="4754880"/>
            <a:ext cx="2559600" cy="2559600"/>
          </a:xfrm>
          <a:prstGeom prst="roundRect">
            <a:avLst>
              <a:gd name="adj" fmla="val 28000"/>
            </a:avLst>
          </a:prstGeom>
          <a:solidFill>
            <a:srgbClr val="7a8b6f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822960" y="77724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300" strike="noStrike" u="none">
                <a:solidFill>
                  <a:srgbClr val="d4a017"/>
                </a:solidFill>
                <a:uFillTx/>
                <a:latin typeface="Calibri"/>
                <a:ea typeface="Calibri"/>
              </a:rPr>
              <a:t>SOFTWARE ENGINEERING PROJECT DOCUMENTATION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822960" y="1783080"/>
            <a:ext cx="7314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hi-IN" sz="2400" strike="noStrike" u="none">
                <a:solidFill>
                  <a:srgbClr val="e7b96b"/>
                </a:solidFill>
                <a:uFillTx/>
                <a:latin typeface="Bookman Old Style"/>
                <a:cs typeface="Bookman Old Style"/>
              </a:rPr>
              <a:t>መቀነት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777240" y="2194560"/>
            <a:ext cx="914328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800" strike="noStrike" u="none">
                <a:solidFill>
                  <a:srgbClr val="ffffff"/>
                </a:solidFill>
                <a:uFillTx/>
                <a:latin typeface="Bookman Old Style"/>
                <a:ea typeface="Bookman Old Style"/>
              </a:rPr>
              <a:t>Mekenet</a:t>
            </a:r>
            <a:endParaRPr b="0" lang="en-US" sz="6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841320" y="3401640"/>
            <a:ext cx="3931200" cy="456480"/>
          </a:xfrm>
          <a:prstGeom prst="roundRect">
            <a:avLst>
              <a:gd name="adj" fmla="val 16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841320" y="3401640"/>
            <a:ext cx="3931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5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hold your money together</a:t>
            </a: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822960" y="4069080"/>
            <a:ext cx="7771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Turns mobile-money SMS into a daily money record — automatically.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0" y="5989320"/>
            <a:ext cx="12188160" cy="867960"/>
          </a:xfrm>
          <a:prstGeom prst="rect">
            <a:avLst/>
          </a:prstGeom>
          <a:solidFill>
            <a:srgbClr val="2c1a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548640" y="603504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01" strike="noStrike" u="none">
                <a:solidFill>
                  <a:srgbClr val="d4a017"/>
                </a:solidFill>
                <a:uFillTx/>
                <a:latin typeface="Calibri"/>
                <a:ea typeface="Calibri"/>
              </a:rPr>
              <a:t>TEAM  ·  CLASSROOM R3004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548640" y="6327720"/>
            <a:ext cx="11154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Lewi Kibru (Lead)    |    Lombame Lemma    |    Helen Tesfaye    |    Mekdes Tesfaye    |    Kenawak Berhanu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a2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548640" y="41148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300" strike="noStrike" u="none">
                <a:solidFill>
                  <a:srgbClr val="d4a017"/>
                </a:solidFill>
                <a:uFillTx/>
                <a:latin typeface="Calibri"/>
                <a:ea typeface="Calibri"/>
              </a:rPr>
              <a:t>OUR VISION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548640" y="713160"/>
            <a:ext cx="9600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uFillTx/>
                <a:latin typeface="Bookman Old Style"/>
                <a:ea typeface="Bookman Old Style"/>
              </a:rPr>
              <a:t>Why This Matters</a:t>
            </a:r>
            <a:endParaRPr b="0" lang="en-US" sz="3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11430000" y="6236280"/>
            <a:ext cx="438120" cy="438120"/>
          </a:xfrm>
          <a:prstGeom prst="roundRect">
            <a:avLst>
              <a:gd name="adj" fmla="val 20833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11430000" y="623628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a2418"/>
                </a:solidFill>
                <a:uFillTx/>
                <a:latin typeface="Calibri"/>
                <a:ea typeface="Calibri"/>
              </a:rPr>
              <a:t>02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548640" y="1600200"/>
            <a:ext cx="110635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599"/>
              </a:lnSpc>
              <a:tabLst>
                <a:tab algn="l" pos="0"/>
              </a:tabLst>
            </a:pPr>
            <a:r>
              <a:rPr b="0" i="1" lang="en-US" sz="19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Financial literacy and digitalization for every small business — starting with the shop next door.</a:t>
            </a:r>
            <a:endParaRPr b="0" lang="en-US" sz="1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548640" y="2880360"/>
            <a:ext cx="3565440" cy="2833920"/>
          </a:xfrm>
          <a:prstGeom prst="roundRect">
            <a:avLst>
              <a:gd name="adj" fmla="val 4516"/>
            </a:avLst>
          </a:prstGeom>
          <a:solidFill>
            <a:srgbClr val="4a3222"/>
          </a:solidFill>
          <a:ln w="1905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" name="Shape 6"/>
          <p:cNvSpPr/>
          <p:nvPr/>
        </p:nvSpPr>
        <p:spPr>
          <a:xfrm>
            <a:off x="1920240" y="3246120"/>
            <a:ext cx="822240" cy="822240"/>
          </a:xfrm>
          <a:prstGeom prst="roundRect">
            <a:avLst>
              <a:gd name="adj" fmla="val 28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7" name="Image 0" descr="../mekenet/icons/insights.png"/>
          <p:cNvPicPr/>
          <p:nvPr/>
        </p:nvPicPr>
        <p:blipFill>
          <a:blip r:embed="rId1"/>
          <a:stretch/>
        </p:blipFill>
        <p:spPr>
          <a:xfrm>
            <a:off x="2027160" y="3353040"/>
            <a:ext cx="608400" cy="60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 7"/>
          <p:cNvSpPr/>
          <p:nvPr/>
        </p:nvSpPr>
        <p:spPr>
          <a:xfrm>
            <a:off x="731520" y="4251960"/>
            <a:ext cx="3199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Financial Literacy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9" name="Text 8"/>
          <p:cNvSpPr/>
          <p:nvPr/>
        </p:nvSpPr>
        <p:spPr>
          <a:xfrm>
            <a:off x="822960" y="4800600"/>
            <a:ext cx="3016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Numbers every owner can understand — no jargon.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" name="Shape 9"/>
          <p:cNvSpPr/>
          <p:nvPr/>
        </p:nvSpPr>
        <p:spPr>
          <a:xfrm>
            <a:off x="4316040" y="2880360"/>
            <a:ext cx="3565440" cy="2833920"/>
          </a:xfrm>
          <a:prstGeom prst="roundRect">
            <a:avLst>
              <a:gd name="adj" fmla="val 4516"/>
            </a:avLst>
          </a:prstGeom>
          <a:solidFill>
            <a:srgbClr val="4a3222"/>
          </a:solidFill>
          <a:ln w="19050">
            <a:solidFill>
              <a:srgbClr val="d4a0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5687640" y="3246120"/>
            <a:ext cx="822240" cy="822240"/>
          </a:xfrm>
          <a:prstGeom prst="roundRect">
            <a:avLst>
              <a:gd name="adj" fmla="val 28000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2" name="Image 1" descr="../mekenet/icons/phone.png"/>
          <p:cNvPicPr/>
          <p:nvPr/>
        </p:nvPicPr>
        <p:blipFill>
          <a:blip r:embed="rId2"/>
          <a:stretch/>
        </p:blipFill>
        <p:spPr>
          <a:xfrm>
            <a:off x="5794560" y="3353040"/>
            <a:ext cx="608400" cy="60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 11"/>
          <p:cNvSpPr/>
          <p:nvPr/>
        </p:nvSpPr>
        <p:spPr>
          <a:xfrm>
            <a:off x="4498920" y="4251960"/>
            <a:ext cx="3199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Digital by Default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4" name="Text 12"/>
          <p:cNvSpPr/>
          <p:nvPr/>
        </p:nvSpPr>
        <p:spPr>
          <a:xfrm>
            <a:off x="4590360" y="4800600"/>
            <a:ext cx="3016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Modern tools built for everyday shops, not enterprises.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5" name="Shape 13"/>
          <p:cNvSpPr/>
          <p:nvPr/>
        </p:nvSpPr>
        <p:spPr>
          <a:xfrm>
            <a:off x="8083440" y="2880360"/>
            <a:ext cx="3565440" cy="2833920"/>
          </a:xfrm>
          <a:prstGeom prst="roundRect">
            <a:avLst>
              <a:gd name="adj" fmla="val 4516"/>
            </a:avLst>
          </a:prstGeom>
          <a:solidFill>
            <a:srgbClr val="4a3222"/>
          </a:solidFill>
          <a:ln w="19050">
            <a:solidFill>
              <a:srgbClr val="7a8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" name="Shape 14"/>
          <p:cNvSpPr/>
          <p:nvPr/>
        </p:nvSpPr>
        <p:spPr>
          <a:xfrm>
            <a:off x="9455040" y="3246120"/>
            <a:ext cx="822240" cy="822240"/>
          </a:xfrm>
          <a:prstGeom prst="roundRect">
            <a:avLst>
              <a:gd name="adj" fmla="val 28000"/>
            </a:avLst>
          </a:prstGeom>
          <a:solidFill>
            <a:srgbClr val="7a8b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7" name="Image 2" descr="../mekenet/icons/trust.png"/>
          <p:cNvPicPr/>
          <p:nvPr/>
        </p:nvPicPr>
        <p:blipFill>
          <a:blip r:embed="rId3"/>
          <a:stretch/>
        </p:blipFill>
        <p:spPr>
          <a:xfrm>
            <a:off x="9561960" y="3353040"/>
            <a:ext cx="608400" cy="60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Text 15"/>
          <p:cNvSpPr/>
          <p:nvPr/>
        </p:nvSpPr>
        <p:spPr>
          <a:xfrm>
            <a:off x="8266320" y="4251960"/>
            <a:ext cx="3199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Trust First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9" name="Text 16"/>
          <p:cNvSpPr/>
          <p:nvPr/>
        </p:nvSpPr>
        <p:spPr>
          <a:xfrm>
            <a:off x="8357760" y="4800600"/>
            <a:ext cx="3016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Adoption starts with confidence, not compliance.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/>
          <p:nvPr/>
        </p:nvSpPr>
        <p:spPr>
          <a:xfrm>
            <a:off x="548640" y="41148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300" strike="noStrike" u="none">
                <a:solidFill>
                  <a:srgbClr val="b85042"/>
                </a:solidFill>
                <a:uFillTx/>
                <a:latin typeface="Calibri"/>
                <a:ea typeface="Calibri"/>
              </a:rPr>
              <a:t>OVERVIEW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548640" y="713160"/>
            <a:ext cx="9600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a1f18"/>
                </a:solidFill>
                <a:uFillTx/>
                <a:latin typeface="Bookman Old Style"/>
                <a:ea typeface="Bookman Old Style"/>
              </a:rPr>
              <a:t>Introduction</a:t>
            </a:r>
            <a:endParaRPr b="0" lang="en-US" sz="3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Shape 2"/>
          <p:cNvSpPr/>
          <p:nvPr/>
        </p:nvSpPr>
        <p:spPr>
          <a:xfrm>
            <a:off x="11430000" y="6236280"/>
            <a:ext cx="438120" cy="438120"/>
          </a:xfrm>
          <a:prstGeom prst="roundRect">
            <a:avLst>
              <a:gd name="adj" fmla="val 20833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Text 3"/>
          <p:cNvSpPr/>
          <p:nvPr/>
        </p:nvSpPr>
        <p:spPr>
          <a:xfrm>
            <a:off x="11430000" y="623628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a2418"/>
                </a:solidFill>
                <a:uFillTx/>
                <a:latin typeface="Calibri"/>
                <a:ea typeface="Calibri"/>
              </a:rPr>
              <a:t>03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Text 4"/>
          <p:cNvSpPr/>
          <p:nvPr/>
        </p:nvSpPr>
        <p:spPr>
          <a:xfrm>
            <a:off x="548640" y="1783080"/>
            <a:ext cx="63086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Turns mobile-money SMS into a daily money record — automatically.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Text 5"/>
          <p:cNvSpPr/>
          <p:nvPr/>
        </p:nvSpPr>
        <p:spPr>
          <a:xfrm>
            <a:off x="548640" y="2697480"/>
            <a:ext cx="63086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Built for Addis Ababa shop owners who can't see real profit or who owes them.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Shape 6"/>
          <p:cNvSpPr/>
          <p:nvPr/>
        </p:nvSpPr>
        <p:spPr>
          <a:xfrm>
            <a:off x="548640" y="3794760"/>
            <a:ext cx="6308640" cy="1370880"/>
          </a:xfrm>
          <a:prstGeom prst="roundRect">
            <a:avLst>
              <a:gd name="adj" fmla="val 8000"/>
            </a:avLst>
          </a:prstGeom>
          <a:solidFill>
            <a:srgbClr val="fb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Text 7"/>
          <p:cNvSpPr/>
          <p:nvPr/>
        </p:nvSpPr>
        <p:spPr>
          <a:xfrm>
            <a:off x="822960" y="3794760"/>
            <a:ext cx="576000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i="1" lang="en-US" sz="2000" strike="noStrike" u="none">
                <a:solidFill>
                  <a:srgbClr val="b85042"/>
                </a:solidFill>
                <a:uFillTx/>
                <a:latin typeface="Calibri"/>
                <a:ea typeface="Calibri"/>
              </a:rPr>
              <a:t>Trust matters more than tracking — many owners fear digital records.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Shape 8"/>
          <p:cNvSpPr/>
          <p:nvPr/>
        </p:nvSpPr>
        <p:spPr>
          <a:xfrm>
            <a:off x="7406640" y="1783080"/>
            <a:ext cx="776520" cy="776520"/>
          </a:xfrm>
          <a:prstGeom prst="roundRect">
            <a:avLst>
              <a:gd name="adj" fmla="val 28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9" name="Image 0" descr="../mekenet/icons/sms.png"/>
          <p:cNvPicPr/>
          <p:nvPr/>
        </p:nvPicPr>
        <p:blipFill>
          <a:blip r:embed="rId1"/>
          <a:stretch/>
        </p:blipFill>
        <p:spPr>
          <a:xfrm>
            <a:off x="7507800" y="1884240"/>
            <a:ext cx="574560" cy="57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Text 9"/>
          <p:cNvSpPr/>
          <p:nvPr/>
        </p:nvSpPr>
        <p:spPr>
          <a:xfrm>
            <a:off x="8366760" y="1737360"/>
            <a:ext cx="3474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Reads SMS automatically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Text 10"/>
          <p:cNvSpPr/>
          <p:nvPr/>
        </p:nvSpPr>
        <p:spPr>
          <a:xfrm>
            <a:off x="8366760" y="2112120"/>
            <a:ext cx="35197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8a7565"/>
                </a:solidFill>
                <a:uFillTx/>
                <a:latin typeface="Calibri"/>
                <a:ea typeface="Calibri"/>
              </a:rPr>
              <a:t>Turns telebirr alerts into transactions</a:t>
            </a:r>
            <a:r>
              <a:rPr b="0" lang="en-US" sz="1800" strike="noStrike" u="none">
                <a:solidFill>
                  <a:srgbClr val="8a7565"/>
                </a:solidFill>
                <a:uFillTx/>
                <a:latin typeface="Calibri"/>
                <a:ea typeface="Calibri"/>
              </a:rPr>
              <a:t>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Shape 11"/>
          <p:cNvSpPr/>
          <p:nvPr/>
        </p:nvSpPr>
        <p:spPr>
          <a:xfrm>
            <a:off x="7406640" y="3200400"/>
            <a:ext cx="776520" cy="776520"/>
          </a:xfrm>
          <a:prstGeom prst="roundRect">
            <a:avLst>
              <a:gd name="adj" fmla="val 28000"/>
            </a:avLst>
          </a:prstGeom>
          <a:solidFill>
            <a:srgbClr val="7a8b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53" name="Image 1" descr="../mekenet/icons/offline.png"/>
          <p:cNvPicPr/>
          <p:nvPr/>
        </p:nvPicPr>
        <p:blipFill>
          <a:blip r:embed="rId2"/>
          <a:stretch/>
        </p:blipFill>
        <p:spPr>
          <a:xfrm>
            <a:off x="7507800" y="3301560"/>
            <a:ext cx="574560" cy="57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Text 12"/>
          <p:cNvSpPr/>
          <p:nvPr/>
        </p:nvSpPr>
        <p:spPr>
          <a:xfrm>
            <a:off x="8366760" y="3154680"/>
            <a:ext cx="3474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Works without internet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Text 13"/>
          <p:cNvSpPr/>
          <p:nvPr/>
        </p:nvSpPr>
        <p:spPr>
          <a:xfrm>
            <a:off x="8366760" y="3529440"/>
            <a:ext cx="35197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8a7565"/>
                </a:solidFill>
                <a:uFillTx/>
                <a:latin typeface="Calibri"/>
                <a:ea typeface="Calibri"/>
              </a:rPr>
              <a:t>Offline-first; syncs on your terms.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Shape 14"/>
          <p:cNvSpPr/>
          <p:nvPr/>
        </p:nvSpPr>
        <p:spPr>
          <a:xfrm>
            <a:off x="7406640" y="4617720"/>
            <a:ext cx="776520" cy="776520"/>
          </a:xfrm>
          <a:prstGeom prst="roundRect">
            <a:avLst>
              <a:gd name="adj" fmla="val 28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57" name="Image 2" descr="../mekenet/icons/insights.png"/>
          <p:cNvPicPr/>
          <p:nvPr/>
        </p:nvPicPr>
        <p:blipFill>
          <a:blip r:embed="rId3"/>
          <a:stretch/>
        </p:blipFill>
        <p:spPr>
          <a:xfrm>
            <a:off x="7507800" y="4718880"/>
            <a:ext cx="574560" cy="57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Text 15"/>
          <p:cNvSpPr/>
          <p:nvPr/>
        </p:nvSpPr>
        <p:spPr>
          <a:xfrm>
            <a:off x="8366760" y="4572000"/>
            <a:ext cx="3474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Plain-language insights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Text 16"/>
          <p:cNvSpPr/>
          <p:nvPr/>
        </p:nvSpPr>
        <p:spPr>
          <a:xfrm>
            <a:off x="8366760" y="4946760"/>
            <a:ext cx="35197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8a7565"/>
                </a:solidFill>
                <a:uFillTx/>
                <a:latin typeface="Calibri"/>
                <a:ea typeface="Calibri"/>
              </a:rPr>
              <a:t>“</a:t>
            </a:r>
            <a:r>
              <a:rPr b="0" lang="en-US" sz="1800" strike="noStrike" u="none">
                <a:solidFill>
                  <a:srgbClr val="8a7565"/>
                </a:solidFill>
                <a:uFillTx/>
                <a:latin typeface="Calibri"/>
                <a:ea typeface="Calibri"/>
              </a:rPr>
              <a:t>You made X birr this week.”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/>
          <p:nvPr/>
        </p:nvSpPr>
        <p:spPr>
          <a:xfrm>
            <a:off x="548640" y="41148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300" strike="noStrike" u="none">
                <a:solidFill>
                  <a:srgbClr val="b85042"/>
                </a:solidFill>
                <a:uFillTx/>
                <a:latin typeface="Calibri"/>
                <a:ea typeface="Calibri"/>
              </a:rPr>
              <a:t>GOALS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548640" y="713160"/>
            <a:ext cx="9600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a1f18"/>
                </a:solidFill>
                <a:uFillTx/>
                <a:latin typeface="Bookman Old Style"/>
                <a:ea typeface="Bookman Old Style"/>
              </a:rPr>
              <a:t>Objectives</a:t>
            </a:r>
            <a:endParaRPr b="0" lang="en-US" sz="3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Shape 2"/>
          <p:cNvSpPr/>
          <p:nvPr/>
        </p:nvSpPr>
        <p:spPr>
          <a:xfrm>
            <a:off x="11430000" y="6236280"/>
            <a:ext cx="438120" cy="438120"/>
          </a:xfrm>
          <a:prstGeom prst="roundRect">
            <a:avLst>
              <a:gd name="adj" fmla="val 20833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Text 3"/>
          <p:cNvSpPr/>
          <p:nvPr/>
        </p:nvSpPr>
        <p:spPr>
          <a:xfrm>
            <a:off x="11430000" y="623628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a2418"/>
                </a:solidFill>
                <a:uFillTx/>
                <a:latin typeface="Calibri"/>
                <a:ea typeface="Calibri"/>
              </a:rPr>
              <a:t>05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Shape 4"/>
          <p:cNvSpPr/>
          <p:nvPr/>
        </p:nvSpPr>
        <p:spPr>
          <a:xfrm>
            <a:off x="548640" y="1691640"/>
            <a:ext cx="11063520" cy="1050840"/>
          </a:xfrm>
          <a:prstGeom prst="roundRect">
            <a:avLst>
              <a:gd name="adj" fmla="val 10435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5" name="Text 5"/>
          <p:cNvSpPr/>
          <p:nvPr/>
        </p:nvSpPr>
        <p:spPr>
          <a:xfrm>
            <a:off x="914400" y="182880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d4a017"/>
                </a:solidFill>
                <a:uFillTx/>
                <a:latin typeface="Calibri"/>
                <a:ea typeface="Calibri"/>
              </a:rPr>
              <a:t>GENERAL OBJECTIVE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Text 6"/>
          <p:cNvSpPr/>
          <p:nvPr/>
        </p:nvSpPr>
        <p:spPr>
          <a:xfrm>
            <a:off x="914400" y="2148840"/>
            <a:ext cx="10332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Build a trust-first app that turns SMS into a daily money record — automatically.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Text 7"/>
          <p:cNvSpPr/>
          <p:nvPr/>
        </p:nvSpPr>
        <p:spPr>
          <a:xfrm>
            <a:off x="548640" y="301752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01" strike="noStrike" u="none">
                <a:solidFill>
                  <a:srgbClr val="b85042"/>
                </a:solidFill>
                <a:uFillTx/>
                <a:latin typeface="Calibri"/>
                <a:ea typeface="Calibri"/>
              </a:rPr>
              <a:t>SPECIFIC OBJECTIVES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Shape 8"/>
          <p:cNvSpPr/>
          <p:nvPr/>
        </p:nvSpPr>
        <p:spPr>
          <a:xfrm>
            <a:off x="548640" y="3502080"/>
            <a:ext cx="310320" cy="310320"/>
          </a:xfrm>
          <a:prstGeom prst="roundRect">
            <a:avLst>
              <a:gd name="adj" fmla="val 23529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Text 9"/>
          <p:cNvSpPr/>
          <p:nvPr/>
        </p:nvSpPr>
        <p:spPr>
          <a:xfrm>
            <a:off x="548640" y="350208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3a2418"/>
                </a:solidFill>
                <a:uFillTx/>
                <a:latin typeface="Calibri"/>
                <a:ea typeface="Calibri"/>
              </a:rPr>
              <a:t>1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Text 10"/>
          <p:cNvSpPr/>
          <p:nvPr/>
        </p:nvSpPr>
        <p:spPr>
          <a:xfrm>
            <a:off x="1005840" y="3474720"/>
            <a:ext cx="49370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Auto-parse telebirr SMS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Shape 11"/>
          <p:cNvSpPr/>
          <p:nvPr/>
        </p:nvSpPr>
        <p:spPr>
          <a:xfrm>
            <a:off x="6263640" y="3502080"/>
            <a:ext cx="310320" cy="310320"/>
          </a:xfrm>
          <a:prstGeom prst="roundRect">
            <a:avLst>
              <a:gd name="adj" fmla="val 23529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Text 12"/>
          <p:cNvSpPr/>
          <p:nvPr/>
        </p:nvSpPr>
        <p:spPr>
          <a:xfrm>
            <a:off x="6263640" y="350208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3a2418"/>
                </a:solidFill>
                <a:uFillTx/>
                <a:latin typeface="Calibri"/>
                <a:ea typeface="Calibri"/>
              </a:rPr>
              <a:t>2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Text 13"/>
          <p:cNvSpPr/>
          <p:nvPr/>
        </p:nvSpPr>
        <p:spPr>
          <a:xfrm>
            <a:off x="6720840" y="3474720"/>
            <a:ext cx="49370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Offline-first daily record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Shape 14"/>
          <p:cNvSpPr/>
          <p:nvPr/>
        </p:nvSpPr>
        <p:spPr>
          <a:xfrm>
            <a:off x="548640" y="4370760"/>
            <a:ext cx="310320" cy="310320"/>
          </a:xfrm>
          <a:prstGeom prst="roundRect">
            <a:avLst>
              <a:gd name="adj" fmla="val 23529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Text 15"/>
          <p:cNvSpPr/>
          <p:nvPr/>
        </p:nvSpPr>
        <p:spPr>
          <a:xfrm>
            <a:off x="548640" y="437076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3a2418"/>
                </a:solidFill>
                <a:uFillTx/>
                <a:latin typeface="Calibri"/>
                <a:ea typeface="Calibri"/>
              </a:rPr>
              <a:t>3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Text 16"/>
          <p:cNvSpPr/>
          <p:nvPr/>
        </p:nvSpPr>
        <p:spPr>
          <a:xfrm>
            <a:off x="1005840" y="4343400"/>
            <a:ext cx="49370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Plain-language insights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Shape 17"/>
          <p:cNvSpPr/>
          <p:nvPr/>
        </p:nvSpPr>
        <p:spPr>
          <a:xfrm>
            <a:off x="6263640" y="4370760"/>
            <a:ext cx="310320" cy="310320"/>
          </a:xfrm>
          <a:prstGeom prst="roundRect">
            <a:avLst>
              <a:gd name="adj" fmla="val 23529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Text 18"/>
          <p:cNvSpPr/>
          <p:nvPr/>
        </p:nvSpPr>
        <p:spPr>
          <a:xfrm>
            <a:off x="6263640" y="437076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3a2418"/>
                </a:solidFill>
                <a:uFillTx/>
                <a:latin typeface="Calibri"/>
                <a:ea typeface="Calibri"/>
              </a:rPr>
              <a:t>4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Text 19"/>
          <p:cNvSpPr/>
          <p:nvPr/>
        </p:nvSpPr>
        <p:spPr>
          <a:xfrm>
            <a:off x="6720840" y="4343400"/>
            <a:ext cx="49370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Manual debt tracking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Shape 20"/>
          <p:cNvSpPr/>
          <p:nvPr/>
        </p:nvSpPr>
        <p:spPr>
          <a:xfrm>
            <a:off x="548640" y="5239440"/>
            <a:ext cx="310320" cy="310320"/>
          </a:xfrm>
          <a:prstGeom prst="roundRect">
            <a:avLst>
              <a:gd name="adj" fmla="val 23529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Text 21"/>
          <p:cNvSpPr/>
          <p:nvPr/>
        </p:nvSpPr>
        <p:spPr>
          <a:xfrm>
            <a:off x="548640" y="523944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3a2418"/>
                </a:solidFill>
                <a:uFillTx/>
                <a:latin typeface="Calibri"/>
                <a:ea typeface="Calibri"/>
              </a:rPr>
              <a:t>5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Text 22"/>
          <p:cNvSpPr/>
          <p:nvPr/>
        </p:nvSpPr>
        <p:spPr>
          <a:xfrm>
            <a:off x="1005840" y="5212080"/>
            <a:ext cx="49370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Full user control over data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Shape 23"/>
          <p:cNvSpPr/>
          <p:nvPr/>
        </p:nvSpPr>
        <p:spPr>
          <a:xfrm>
            <a:off x="6263640" y="5239440"/>
            <a:ext cx="310320" cy="310320"/>
          </a:xfrm>
          <a:prstGeom prst="roundRect">
            <a:avLst>
              <a:gd name="adj" fmla="val 23529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Text 24"/>
          <p:cNvSpPr/>
          <p:nvPr/>
        </p:nvSpPr>
        <p:spPr>
          <a:xfrm>
            <a:off x="6263640" y="523944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3a2418"/>
                </a:solidFill>
                <a:uFillTx/>
                <a:latin typeface="Calibri"/>
                <a:ea typeface="Calibri"/>
              </a:rPr>
              <a:t>6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Text 25"/>
          <p:cNvSpPr/>
          <p:nvPr/>
        </p:nvSpPr>
        <p:spPr>
          <a:xfrm>
            <a:off x="6720840" y="5212080"/>
            <a:ext cx="49370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Bank-ready export reports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a2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/>
          <p:nvPr/>
        </p:nvSpPr>
        <p:spPr>
          <a:xfrm>
            <a:off x="548640" y="41148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300" strike="noStrike" u="none">
                <a:solidFill>
                  <a:srgbClr val="d4a017"/>
                </a:solidFill>
                <a:uFillTx/>
                <a:latin typeface="Calibri"/>
                <a:ea typeface="Calibri"/>
              </a:rPr>
              <a:t>THE CHALLENGE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7" name="Text 1"/>
          <p:cNvSpPr/>
          <p:nvPr/>
        </p:nvSpPr>
        <p:spPr>
          <a:xfrm>
            <a:off x="548640" y="713160"/>
            <a:ext cx="9600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uFillTx/>
                <a:latin typeface="Bookman Old Style"/>
                <a:ea typeface="Bookman Old Style"/>
              </a:rPr>
              <a:t>Statement of the Problem</a:t>
            </a:r>
            <a:endParaRPr b="0" lang="en-US" sz="3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8" name="Shape 2"/>
          <p:cNvSpPr/>
          <p:nvPr/>
        </p:nvSpPr>
        <p:spPr>
          <a:xfrm>
            <a:off x="11430000" y="6236280"/>
            <a:ext cx="438120" cy="438120"/>
          </a:xfrm>
          <a:prstGeom prst="roundRect">
            <a:avLst>
              <a:gd name="adj" fmla="val 20833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" name="Text 3"/>
          <p:cNvSpPr/>
          <p:nvPr/>
        </p:nvSpPr>
        <p:spPr>
          <a:xfrm>
            <a:off x="11430000" y="623628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a2418"/>
                </a:solidFill>
                <a:uFillTx/>
                <a:latin typeface="Calibri"/>
                <a:ea typeface="Calibri"/>
              </a:rPr>
              <a:t>04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0" name="Shape 4"/>
          <p:cNvSpPr/>
          <p:nvPr/>
        </p:nvSpPr>
        <p:spPr>
          <a:xfrm>
            <a:off x="585360" y="1774080"/>
            <a:ext cx="1114920" cy="111492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d4a0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1" name="Shape 5"/>
          <p:cNvSpPr/>
          <p:nvPr/>
        </p:nvSpPr>
        <p:spPr>
          <a:xfrm>
            <a:off x="640080" y="1828800"/>
            <a:ext cx="1005120" cy="1005120"/>
          </a:xfrm>
          <a:prstGeom prst="roundRect">
            <a:avLst>
              <a:gd name="adj" fmla="val 28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92" name="Image 0" descr="../mekenet/icons/alert.png"/>
          <p:cNvPicPr/>
          <p:nvPr/>
        </p:nvPicPr>
        <p:blipFill>
          <a:blip r:embed="rId1"/>
          <a:stretch/>
        </p:blipFill>
        <p:spPr>
          <a:xfrm>
            <a:off x="770760" y="1959480"/>
            <a:ext cx="743760" cy="74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 6"/>
          <p:cNvSpPr/>
          <p:nvPr/>
        </p:nvSpPr>
        <p:spPr>
          <a:xfrm>
            <a:off x="1965960" y="1691640"/>
            <a:ext cx="612576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5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Owners get paid via telebirr, CBE Birr, and cash — but can't see real profit or who owes them.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4" name="Text 7"/>
          <p:cNvSpPr/>
          <p:nvPr/>
        </p:nvSpPr>
        <p:spPr>
          <a:xfrm>
            <a:off x="1965960" y="2743200"/>
            <a:ext cx="6125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Result: bad restocking, overspending, and trouble getting loans.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5" name="Text 8"/>
          <p:cNvSpPr/>
          <p:nvPr/>
        </p:nvSpPr>
        <p:spPr>
          <a:xfrm>
            <a:off x="8869680" y="1783080"/>
            <a:ext cx="2651040" cy="456480"/>
          </a:xfrm>
          <a:prstGeom prst="rect">
            <a:avLst/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3a2418"/>
                </a:solidFill>
                <a:uFillTx/>
                <a:latin typeface="Calibri"/>
                <a:ea typeface="Calibri"/>
              </a:rPr>
              <a:t>telebirr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" name="Text 9"/>
          <p:cNvSpPr/>
          <p:nvPr/>
        </p:nvSpPr>
        <p:spPr>
          <a:xfrm>
            <a:off x="8869680" y="2377440"/>
            <a:ext cx="2651040" cy="456480"/>
          </a:xfrm>
          <a:prstGeom prst="rect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CBE Birr</a:t>
            </a: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7" name="Text 10"/>
          <p:cNvSpPr/>
          <p:nvPr/>
        </p:nvSpPr>
        <p:spPr>
          <a:xfrm>
            <a:off x="8869680" y="2971800"/>
            <a:ext cx="2651040" cy="456480"/>
          </a:xfrm>
          <a:prstGeom prst="rect">
            <a:avLst/>
          </a:prstGeom>
          <a:solidFill>
            <a:srgbClr val="7a8b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cash</a:t>
            </a: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8" name="Text 11"/>
          <p:cNvSpPr/>
          <p:nvPr/>
        </p:nvSpPr>
        <p:spPr>
          <a:xfrm>
            <a:off x="8732520" y="3566160"/>
            <a:ext cx="2925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b="0" i="1" lang="en-US" sz="115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Three channels in, no clear picture out.</a:t>
            </a:r>
            <a:endParaRPr b="0" lang="en-US" sz="11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9" name="Shape 12"/>
          <p:cNvSpPr/>
          <p:nvPr/>
        </p:nvSpPr>
        <p:spPr>
          <a:xfrm>
            <a:off x="548640" y="4434840"/>
            <a:ext cx="11063520" cy="1416600"/>
          </a:xfrm>
          <a:prstGeom prst="roundRect">
            <a:avLst>
              <a:gd name="adj" fmla="val 7742"/>
            </a:avLst>
          </a:prstGeom>
          <a:solidFill>
            <a:srgbClr val="4a32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0" name="Text 13"/>
          <p:cNvSpPr/>
          <p:nvPr/>
        </p:nvSpPr>
        <p:spPr>
          <a:xfrm>
            <a:off x="914400" y="461772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01" strike="noStrike" u="none">
                <a:solidFill>
                  <a:srgbClr val="d4a017"/>
                </a:solidFill>
                <a:uFillTx/>
                <a:latin typeface="Calibri"/>
                <a:ea typeface="Calibri"/>
              </a:rPr>
              <a:t>THE GAP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1" name="Text 14"/>
          <p:cNvSpPr/>
          <p:nvPr/>
        </p:nvSpPr>
        <p:spPr>
          <a:xfrm>
            <a:off x="914400" y="4937760"/>
            <a:ext cx="10332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Shop owners need a trusted, low-friction way to see their money clearly — without fear.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a2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/>
          <p:nvPr/>
        </p:nvSpPr>
        <p:spPr>
          <a:xfrm>
            <a:off x="548640" y="41148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300" strike="noStrike" u="none">
                <a:solidFill>
                  <a:srgbClr val="d4a017"/>
                </a:solidFill>
                <a:uFillTx/>
                <a:latin typeface="Calibri"/>
                <a:ea typeface="Calibri"/>
              </a:rPr>
              <a:t>WHAT IT DOES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548640" y="713160"/>
            <a:ext cx="9600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uFillTx/>
                <a:latin typeface="Bookman Old Style"/>
                <a:ea typeface="Bookman Old Style"/>
              </a:rPr>
              <a:t>Key Features</a:t>
            </a:r>
            <a:endParaRPr b="0" lang="en-US" sz="3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4" name="Shape 2"/>
          <p:cNvSpPr/>
          <p:nvPr/>
        </p:nvSpPr>
        <p:spPr>
          <a:xfrm>
            <a:off x="11430000" y="6236280"/>
            <a:ext cx="438120" cy="438120"/>
          </a:xfrm>
          <a:prstGeom prst="roundRect">
            <a:avLst>
              <a:gd name="adj" fmla="val 20833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Text 3"/>
          <p:cNvSpPr/>
          <p:nvPr/>
        </p:nvSpPr>
        <p:spPr>
          <a:xfrm>
            <a:off x="11430000" y="623628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a2418"/>
                </a:solidFill>
                <a:uFillTx/>
                <a:latin typeface="Calibri"/>
                <a:ea typeface="Calibri"/>
              </a:rPr>
              <a:t>06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6" name="Shape 4"/>
          <p:cNvSpPr/>
          <p:nvPr/>
        </p:nvSpPr>
        <p:spPr>
          <a:xfrm>
            <a:off x="493920" y="1774080"/>
            <a:ext cx="977760" cy="97776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d4a0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7" name="Shape 5"/>
          <p:cNvSpPr/>
          <p:nvPr/>
        </p:nvSpPr>
        <p:spPr>
          <a:xfrm>
            <a:off x="548640" y="1828800"/>
            <a:ext cx="867960" cy="867960"/>
          </a:xfrm>
          <a:prstGeom prst="roundRect">
            <a:avLst>
              <a:gd name="adj" fmla="val 28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08" name="Image 0" descr="../mekenet/icons/sms.png"/>
          <p:cNvPicPr/>
          <p:nvPr/>
        </p:nvPicPr>
        <p:blipFill>
          <a:blip r:embed="rId1"/>
          <a:stretch/>
        </p:blipFill>
        <p:spPr>
          <a:xfrm>
            <a:off x="661680" y="1941840"/>
            <a:ext cx="642240" cy="64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Text 6"/>
          <p:cNvSpPr/>
          <p:nvPr/>
        </p:nvSpPr>
        <p:spPr>
          <a:xfrm>
            <a:off x="1600200" y="1847160"/>
            <a:ext cx="3931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Automatic SMS Parsing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0" name="Text 7"/>
          <p:cNvSpPr/>
          <p:nvPr/>
        </p:nvSpPr>
        <p:spPr>
          <a:xfrm>
            <a:off x="1600200" y="2231280"/>
            <a:ext cx="9874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No manual entry, ever.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1" name="Shape 8"/>
          <p:cNvSpPr/>
          <p:nvPr/>
        </p:nvSpPr>
        <p:spPr>
          <a:xfrm>
            <a:off x="548640" y="2761200"/>
            <a:ext cx="11064240" cy="360"/>
          </a:xfrm>
          <a:prstGeom prst="line">
            <a:avLst/>
          </a:prstGeom>
          <a:ln w="12700">
            <a:solidFill>
              <a:srgbClr val="4a3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2" name="Shape 9"/>
          <p:cNvSpPr/>
          <p:nvPr/>
        </p:nvSpPr>
        <p:spPr>
          <a:xfrm>
            <a:off x="493920" y="2706480"/>
            <a:ext cx="977760" cy="97776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d4a0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3" name="Shape 10"/>
          <p:cNvSpPr/>
          <p:nvPr/>
        </p:nvSpPr>
        <p:spPr>
          <a:xfrm>
            <a:off x="548640" y="2761560"/>
            <a:ext cx="867960" cy="867960"/>
          </a:xfrm>
          <a:prstGeom prst="roundRect">
            <a:avLst>
              <a:gd name="adj" fmla="val 28000"/>
            </a:avLst>
          </a:prstGeom>
          <a:solidFill>
            <a:srgbClr val="7a8b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14" name="Image 1" descr="../mekenet/icons/offline.png"/>
          <p:cNvPicPr/>
          <p:nvPr/>
        </p:nvPicPr>
        <p:blipFill>
          <a:blip r:embed="rId2"/>
          <a:stretch/>
        </p:blipFill>
        <p:spPr>
          <a:xfrm>
            <a:off x="661680" y="2874240"/>
            <a:ext cx="642240" cy="64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 11"/>
          <p:cNvSpPr/>
          <p:nvPr/>
        </p:nvSpPr>
        <p:spPr>
          <a:xfrm>
            <a:off x="1600200" y="2779920"/>
            <a:ext cx="3931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Offline-First Record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6" name="Text 12"/>
          <p:cNvSpPr/>
          <p:nvPr/>
        </p:nvSpPr>
        <p:spPr>
          <a:xfrm>
            <a:off x="1600200" y="3163680"/>
            <a:ext cx="9874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Works anywhere, syncs on demand.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7" name="Shape 13"/>
          <p:cNvSpPr/>
          <p:nvPr/>
        </p:nvSpPr>
        <p:spPr>
          <a:xfrm>
            <a:off x="548640" y="3693960"/>
            <a:ext cx="11064240" cy="360"/>
          </a:xfrm>
          <a:prstGeom prst="line">
            <a:avLst/>
          </a:prstGeom>
          <a:ln w="12700">
            <a:solidFill>
              <a:srgbClr val="4a3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8" name="Shape 14"/>
          <p:cNvSpPr/>
          <p:nvPr/>
        </p:nvSpPr>
        <p:spPr>
          <a:xfrm>
            <a:off x="493920" y="3639240"/>
            <a:ext cx="977760" cy="97776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d4a0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9" name="Shape 15"/>
          <p:cNvSpPr/>
          <p:nvPr/>
        </p:nvSpPr>
        <p:spPr>
          <a:xfrm>
            <a:off x="548640" y="3694320"/>
            <a:ext cx="867960" cy="867960"/>
          </a:xfrm>
          <a:prstGeom prst="roundRect">
            <a:avLst>
              <a:gd name="adj" fmla="val 28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20" name="Image 2" descr="../mekenet/icons/insights.png"/>
          <p:cNvPicPr/>
          <p:nvPr/>
        </p:nvPicPr>
        <p:blipFill>
          <a:blip r:embed="rId3"/>
          <a:stretch/>
        </p:blipFill>
        <p:spPr>
          <a:xfrm>
            <a:off x="661680" y="3807000"/>
            <a:ext cx="642240" cy="64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ext 16"/>
          <p:cNvSpPr/>
          <p:nvPr/>
        </p:nvSpPr>
        <p:spPr>
          <a:xfrm>
            <a:off x="1600200" y="3712320"/>
            <a:ext cx="3931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Plain-Language Insights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2" name="Text 17"/>
          <p:cNvSpPr/>
          <p:nvPr/>
        </p:nvSpPr>
        <p:spPr>
          <a:xfrm>
            <a:off x="1600200" y="4096440"/>
            <a:ext cx="9874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Clear numbers, no jargon.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3" name="Shape 18"/>
          <p:cNvSpPr/>
          <p:nvPr/>
        </p:nvSpPr>
        <p:spPr>
          <a:xfrm>
            <a:off x="548640" y="4626720"/>
            <a:ext cx="11064240" cy="360"/>
          </a:xfrm>
          <a:prstGeom prst="line">
            <a:avLst/>
          </a:prstGeom>
          <a:ln w="12700">
            <a:solidFill>
              <a:srgbClr val="4a3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4" name="Shape 19"/>
          <p:cNvSpPr/>
          <p:nvPr/>
        </p:nvSpPr>
        <p:spPr>
          <a:xfrm>
            <a:off x="493920" y="4572000"/>
            <a:ext cx="977760" cy="97776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d4a0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5" name="Shape 20"/>
          <p:cNvSpPr/>
          <p:nvPr/>
        </p:nvSpPr>
        <p:spPr>
          <a:xfrm>
            <a:off x="548640" y="4626720"/>
            <a:ext cx="867960" cy="867960"/>
          </a:xfrm>
          <a:prstGeom prst="roundRect">
            <a:avLst>
              <a:gd name="adj" fmla="val 28000"/>
            </a:avLst>
          </a:prstGeom>
          <a:solidFill>
            <a:srgbClr val="7a8b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26" name="Image 3" descr="../mekenet/icons/people.png"/>
          <p:cNvPicPr/>
          <p:nvPr/>
        </p:nvPicPr>
        <p:blipFill>
          <a:blip r:embed="rId4"/>
          <a:stretch/>
        </p:blipFill>
        <p:spPr>
          <a:xfrm>
            <a:off x="661680" y="4739760"/>
            <a:ext cx="642240" cy="64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 21"/>
          <p:cNvSpPr/>
          <p:nvPr/>
        </p:nvSpPr>
        <p:spPr>
          <a:xfrm>
            <a:off x="1600200" y="4645080"/>
            <a:ext cx="3931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Who-Owes-Me List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8" name="Text 22"/>
          <p:cNvSpPr/>
          <p:nvPr/>
        </p:nvSpPr>
        <p:spPr>
          <a:xfrm>
            <a:off x="1600200" y="5029200"/>
            <a:ext cx="9874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The one manual feature, by design.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9" name="Shape 23"/>
          <p:cNvSpPr/>
          <p:nvPr/>
        </p:nvSpPr>
        <p:spPr>
          <a:xfrm>
            <a:off x="548640" y="5559480"/>
            <a:ext cx="11064240" cy="360"/>
          </a:xfrm>
          <a:prstGeom prst="line">
            <a:avLst/>
          </a:prstGeom>
          <a:ln w="12700">
            <a:solidFill>
              <a:srgbClr val="4a3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0" name="Shape 24"/>
          <p:cNvSpPr/>
          <p:nvPr/>
        </p:nvSpPr>
        <p:spPr>
          <a:xfrm>
            <a:off x="493920" y="5504760"/>
            <a:ext cx="977760" cy="97776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d4a0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1" name="Shape 25"/>
          <p:cNvSpPr/>
          <p:nvPr/>
        </p:nvSpPr>
        <p:spPr>
          <a:xfrm>
            <a:off x="548640" y="5559480"/>
            <a:ext cx="867960" cy="867960"/>
          </a:xfrm>
          <a:prstGeom prst="roundRect">
            <a:avLst>
              <a:gd name="adj" fmla="val 28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32" name="Image 4" descr="../mekenet/icons/export.png"/>
          <p:cNvPicPr/>
          <p:nvPr/>
        </p:nvPicPr>
        <p:blipFill>
          <a:blip r:embed="rId5"/>
          <a:stretch/>
        </p:blipFill>
        <p:spPr>
          <a:xfrm>
            <a:off x="661680" y="5672520"/>
            <a:ext cx="642240" cy="64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 26"/>
          <p:cNvSpPr/>
          <p:nvPr/>
        </p:nvSpPr>
        <p:spPr>
          <a:xfrm>
            <a:off x="1600200" y="5577840"/>
            <a:ext cx="3931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User-Controlled Export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4" name="Text 27"/>
          <p:cNvSpPr/>
          <p:nvPr/>
        </p:nvSpPr>
        <p:spPr>
          <a:xfrm>
            <a:off x="1600200" y="5961960"/>
            <a:ext cx="9874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You choose when to share.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548640" y="41148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300" strike="noStrike" u="none">
                <a:solidFill>
                  <a:srgbClr val="b85042"/>
                </a:solidFill>
                <a:uFillTx/>
                <a:latin typeface="Calibri"/>
                <a:ea typeface="Calibri"/>
              </a:rPr>
              <a:t>WHO USES IT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548640" y="713160"/>
            <a:ext cx="9600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a1f18"/>
                </a:solidFill>
                <a:uFillTx/>
                <a:latin typeface="Bookman Old Style"/>
                <a:ea typeface="Bookman Old Style"/>
              </a:rPr>
              <a:t>System Actors</a:t>
            </a:r>
            <a:endParaRPr b="0" lang="en-US" sz="3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" name="Shape 2"/>
          <p:cNvSpPr/>
          <p:nvPr/>
        </p:nvSpPr>
        <p:spPr>
          <a:xfrm>
            <a:off x="11430000" y="6236280"/>
            <a:ext cx="438120" cy="438120"/>
          </a:xfrm>
          <a:prstGeom prst="roundRect">
            <a:avLst>
              <a:gd name="adj" fmla="val 20833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Text 3"/>
          <p:cNvSpPr/>
          <p:nvPr/>
        </p:nvSpPr>
        <p:spPr>
          <a:xfrm>
            <a:off x="11430000" y="623628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a2418"/>
                </a:solidFill>
                <a:uFillTx/>
                <a:latin typeface="Calibri"/>
                <a:ea typeface="Calibri"/>
              </a:rPr>
              <a:t>07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" name="Shape 4"/>
          <p:cNvSpPr/>
          <p:nvPr/>
        </p:nvSpPr>
        <p:spPr>
          <a:xfrm>
            <a:off x="548640" y="1783080"/>
            <a:ext cx="5348520" cy="4251240"/>
          </a:xfrm>
          <a:prstGeom prst="roundRect">
            <a:avLst>
              <a:gd name="adj" fmla="val 3011"/>
            </a:avLst>
          </a:prstGeom>
          <a:solidFill>
            <a:srgbClr val="fb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" name="Shape 5"/>
          <p:cNvSpPr/>
          <p:nvPr/>
        </p:nvSpPr>
        <p:spPr>
          <a:xfrm>
            <a:off x="914400" y="2148840"/>
            <a:ext cx="913680" cy="913680"/>
          </a:xfrm>
          <a:prstGeom prst="roundRect">
            <a:avLst>
              <a:gd name="adj" fmla="val 28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41" name="Image 0" descr="../mekenet/icons/phone.png"/>
          <p:cNvPicPr/>
          <p:nvPr/>
        </p:nvPicPr>
        <p:blipFill>
          <a:blip r:embed="rId1"/>
          <a:stretch/>
        </p:blipFill>
        <p:spPr>
          <a:xfrm>
            <a:off x="1033200" y="2267640"/>
            <a:ext cx="676080" cy="67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Text 6"/>
          <p:cNvSpPr/>
          <p:nvPr/>
        </p:nvSpPr>
        <p:spPr>
          <a:xfrm>
            <a:off x="1965960" y="214884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Shop Owner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3" name="Text 7"/>
          <p:cNvSpPr/>
          <p:nvPr/>
        </p:nvSpPr>
        <p:spPr>
          <a:xfrm>
            <a:off x="1965960" y="254196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trike="noStrike" u="none">
                <a:solidFill>
                  <a:srgbClr val="8a7565"/>
                </a:solidFill>
                <a:uFillTx/>
                <a:latin typeface="Calibri"/>
                <a:ea typeface="Calibri"/>
              </a:rPr>
              <a:t>Primary user of the app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4" name="Shape 8"/>
          <p:cNvSpPr/>
          <p:nvPr/>
        </p:nvSpPr>
        <p:spPr>
          <a:xfrm>
            <a:off x="914400" y="3136320"/>
            <a:ext cx="136440" cy="136440"/>
          </a:xfrm>
          <a:prstGeom prst="roundRect">
            <a:avLst>
              <a:gd name="adj" fmla="val 20000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" name="Text 9"/>
          <p:cNvSpPr/>
          <p:nvPr/>
        </p:nvSpPr>
        <p:spPr>
          <a:xfrm>
            <a:off x="1170360" y="3044880"/>
            <a:ext cx="4479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Register &amp; set PIN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" name="Shape 10"/>
          <p:cNvSpPr/>
          <p:nvPr/>
        </p:nvSpPr>
        <p:spPr>
          <a:xfrm>
            <a:off x="914400" y="3538800"/>
            <a:ext cx="136440" cy="136440"/>
          </a:xfrm>
          <a:prstGeom prst="roundRect">
            <a:avLst>
              <a:gd name="adj" fmla="val 20000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7" name="Text 11"/>
          <p:cNvSpPr/>
          <p:nvPr/>
        </p:nvSpPr>
        <p:spPr>
          <a:xfrm>
            <a:off x="1170360" y="3447360"/>
            <a:ext cx="4479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View daily profit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8" name="Shape 12"/>
          <p:cNvSpPr/>
          <p:nvPr/>
        </p:nvSpPr>
        <p:spPr>
          <a:xfrm>
            <a:off x="914400" y="3940920"/>
            <a:ext cx="136440" cy="136440"/>
          </a:xfrm>
          <a:prstGeom prst="roundRect">
            <a:avLst>
              <a:gd name="adj" fmla="val 20000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9" name="Text 13"/>
          <p:cNvSpPr/>
          <p:nvPr/>
        </p:nvSpPr>
        <p:spPr>
          <a:xfrm>
            <a:off x="1170360" y="3849480"/>
            <a:ext cx="4479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Review SMS transactions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0" name="Shape 14"/>
          <p:cNvSpPr/>
          <p:nvPr/>
        </p:nvSpPr>
        <p:spPr>
          <a:xfrm>
            <a:off x="914400" y="4343400"/>
            <a:ext cx="136440" cy="136440"/>
          </a:xfrm>
          <a:prstGeom prst="roundRect">
            <a:avLst>
              <a:gd name="adj" fmla="val 20000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1" name="Text 15"/>
          <p:cNvSpPr/>
          <p:nvPr/>
        </p:nvSpPr>
        <p:spPr>
          <a:xfrm>
            <a:off x="1170360" y="4251960"/>
            <a:ext cx="4479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Track who owes you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Shape 16"/>
          <p:cNvSpPr/>
          <p:nvPr/>
        </p:nvSpPr>
        <p:spPr>
          <a:xfrm>
            <a:off x="914400" y="4745880"/>
            <a:ext cx="136440" cy="136440"/>
          </a:xfrm>
          <a:prstGeom prst="roundRect">
            <a:avLst>
              <a:gd name="adj" fmla="val 20000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Text 17"/>
          <p:cNvSpPr/>
          <p:nvPr/>
        </p:nvSpPr>
        <p:spPr>
          <a:xfrm>
            <a:off x="1170360" y="4654440"/>
            <a:ext cx="4479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Add expenses manually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4" name="Shape 18"/>
          <p:cNvSpPr/>
          <p:nvPr/>
        </p:nvSpPr>
        <p:spPr>
          <a:xfrm>
            <a:off x="914400" y="5148000"/>
            <a:ext cx="136440" cy="136440"/>
          </a:xfrm>
          <a:prstGeom prst="roundRect">
            <a:avLst>
              <a:gd name="adj" fmla="val 20000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5" name="Text 19"/>
          <p:cNvSpPr/>
          <p:nvPr/>
        </p:nvSpPr>
        <p:spPr>
          <a:xfrm>
            <a:off x="1170360" y="5056560"/>
            <a:ext cx="4479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Control cloud sync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Shape 20"/>
          <p:cNvSpPr/>
          <p:nvPr/>
        </p:nvSpPr>
        <p:spPr>
          <a:xfrm>
            <a:off x="914400" y="5550480"/>
            <a:ext cx="136440" cy="136440"/>
          </a:xfrm>
          <a:prstGeom prst="roundRect">
            <a:avLst>
              <a:gd name="adj" fmla="val 20000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Text 21"/>
          <p:cNvSpPr/>
          <p:nvPr/>
        </p:nvSpPr>
        <p:spPr>
          <a:xfrm>
            <a:off x="1170360" y="5459040"/>
            <a:ext cx="4479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Export bank report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" name="Shape 22"/>
          <p:cNvSpPr/>
          <p:nvPr/>
        </p:nvSpPr>
        <p:spPr>
          <a:xfrm>
            <a:off x="6263640" y="1783080"/>
            <a:ext cx="5348520" cy="4251240"/>
          </a:xfrm>
          <a:prstGeom prst="roundRect">
            <a:avLst>
              <a:gd name="adj" fmla="val 3011"/>
            </a:avLst>
          </a:prstGeom>
          <a:solidFill>
            <a:srgbClr val="3a24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9" name="Shape 23"/>
          <p:cNvSpPr/>
          <p:nvPr/>
        </p:nvSpPr>
        <p:spPr>
          <a:xfrm>
            <a:off x="6629400" y="2148840"/>
            <a:ext cx="913680" cy="913680"/>
          </a:xfrm>
          <a:prstGeom prst="roundRect">
            <a:avLst>
              <a:gd name="adj" fmla="val 28000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60" name="Image 1" descr="../mekenet/icons/shield.png"/>
          <p:cNvPicPr/>
          <p:nvPr/>
        </p:nvPicPr>
        <p:blipFill>
          <a:blip r:embed="rId2"/>
          <a:stretch/>
        </p:blipFill>
        <p:spPr>
          <a:xfrm>
            <a:off x="6748200" y="2267640"/>
            <a:ext cx="676080" cy="67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 24"/>
          <p:cNvSpPr/>
          <p:nvPr/>
        </p:nvSpPr>
        <p:spPr>
          <a:xfrm>
            <a:off x="7680960" y="2148840"/>
            <a:ext cx="3839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Bank / Loan Officer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Text 25"/>
          <p:cNvSpPr/>
          <p:nvPr/>
        </p:nvSpPr>
        <p:spPr>
          <a:xfrm>
            <a:off x="7680960" y="254196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trike="noStrike" u="none">
                <a:solidFill>
                  <a:srgbClr val="d4a017"/>
                </a:solidFill>
                <a:uFillTx/>
                <a:latin typeface="Calibri"/>
                <a:ea typeface="Calibri"/>
              </a:rPr>
              <a:t>External recipient, not a user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" name="Shape 26"/>
          <p:cNvSpPr/>
          <p:nvPr/>
        </p:nvSpPr>
        <p:spPr>
          <a:xfrm>
            <a:off x="6629400" y="3136320"/>
            <a:ext cx="136440" cy="136440"/>
          </a:xfrm>
          <a:prstGeom prst="roundRect">
            <a:avLst>
              <a:gd name="adj" fmla="val 20000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" name="Text 27"/>
          <p:cNvSpPr/>
          <p:nvPr/>
        </p:nvSpPr>
        <p:spPr>
          <a:xfrm>
            <a:off x="6885360" y="3044880"/>
            <a:ext cx="44798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Receives report only when sent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" name="Shape 28"/>
          <p:cNvSpPr/>
          <p:nvPr/>
        </p:nvSpPr>
        <p:spPr>
          <a:xfrm>
            <a:off x="6629400" y="3703320"/>
            <a:ext cx="136440" cy="136440"/>
          </a:xfrm>
          <a:prstGeom prst="roundRect">
            <a:avLst>
              <a:gd name="adj" fmla="val 20000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" name="Text 29"/>
          <p:cNvSpPr/>
          <p:nvPr/>
        </p:nvSpPr>
        <p:spPr>
          <a:xfrm>
            <a:off x="6885360" y="3611880"/>
            <a:ext cx="44798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Reviews clean history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" name="Shape 30"/>
          <p:cNvSpPr/>
          <p:nvPr/>
        </p:nvSpPr>
        <p:spPr>
          <a:xfrm>
            <a:off x="6629400" y="4270320"/>
            <a:ext cx="136440" cy="136440"/>
          </a:xfrm>
          <a:prstGeom prst="roundRect">
            <a:avLst>
              <a:gd name="adj" fmla="val 20000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" name="Text 31"/>
          <p:cNvSpPr/>
          <p:nvPr/>
        </p:nvSpPr>
        <p:spPr>
          <a:xfrm>
            <a:off x="6885360" y="4178880"/>
            <a:ext cx="44798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No direct data access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9" name="Text 32"/>
          <p:cNvSpPr/>
          <p:nvPr/>
        </p:nvSpPr>
        <p:spPr>
          <a:xfrm>
            <a:off x="6629400" y="5212080"/>
            <a:ext cx="4617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c9ae93"/>
                </a:solidFill>
                <a:uFillTx/>
                <a:latin typeface="Calibri"/>
                <a:ea typeface="Calibri"/>
              </a:rPr>
              <a:t>No admin role by design — the owner stays in control.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a2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 0"/>
          <p:cNvSpPr/>
          <p:nvPr/>
        </p:nvSpPr>
        <p:spPr>
          <a:xfrm>
            <a:off x="548640" y="41148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300" strike="noStrike" u="none">
                <a:solidFill>
                  <a:srgbClr val="d4a017"/>
                </a:solidFill>
                <a:uFillTx/>
                <a:latin typeface="Calibri"/>
                <a:ea typeface="Calibri"/>
              </a:rPr>
              <a:t>SCOPE BOUNDARIES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1" name="Text 1"/>
          <p:cNvSpPr/>
          <p:nvPr/>
        </p:nvSpPr>
        <p:spPr>
          <a:xfrm>
            <a:off x="548640" y="713160"/>
            <a:ext cx="9600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uFillTx/>
                <a:latin typeface="Bookman Old Style"/>
                <a:ea typeface="Bookman Old Style"/>
              </a:rPr>
              <a:t>Limitations</a:t>
            </a:r>
            <a:endParaRPr b="0" lang="en-US" sz="3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2" name="Shape 2"/>
          <p:cNvSpPr/>
          <p:nvPr/>
        </p:nvSpPr>
        <p:spPr>
          <a:xfrm>
            <a:off x="11430000" y="6236280"/>
            <a:ext cx="438120" cy="438120"/>
          </a:xfrm>
          <a:prstGeom prst="roundRect">
            <a:avLst>
              <a:gd name="adj" fmla="val 20833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3" name="Text 3"/>
          <p:cNvSpPr/>
          <p:nvPr/>
        </p:nvSpPr>
        <p:spPr>
          <a:xfrm>
            <a:off x="11430000" y="623628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a2418"/>
                </a:solidFill>
                <a:uFillTx/>
                <a:latin typeface="Calibri"/>
                <a:ea typeface="Calibri"/>
              </a:rPr>
              <a:t>08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4" name="Shape 4"/>
          <p:cNvSpPr/>
          <p:nvPr/>
        </p:nvSpPr>
        <p:spPr>
          <a:xfrm>
            <a:off x="548640" y="2103120"/>
            <a:ext cx="2084040" cy="3291120"/>
          </a:xfrm>
          <a:prstGeom prst="roundRect">
            <a:avLst>
              <a:gd name="adj" fmla="val 6140"/>
            </a:avLst>
          </a:prstGeom>
          <a:solidFill>
            <a:srgbClr val="4a32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5" name="Shape 5"/>
          <p:cNvSpPr/>
          <p:nvPr/>
        </p:nvSpPr>
        <p:spPr>
          <a:xfrm>
            <a:off x="1225440" y="2423160"/>
            <a:ext cx="730800" cy="730800"/>
          </a:xfrm>
          <a:prstGeom prst="roundRect">
            <a:avLst>
              <a:gd name="adj" fmla="val 28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76" name="Image 0" descr="../mekenet/icons/alert.png"/>
          <p:cNvPicPr/>
          <p:nvPr/>
        </p:nvPicPr>
        <p:blipFill>
          <a:blip r:embed="rId1"/>
          <a:stretch/>
        </p:blipFill>
        <p:spPr>
          <a:xfrm>
            <a:off x="1320480" y="2518200"/>
            <a:ext cx="540720" cy="54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Text 6"/>
          <p:cNvSpPr/>
          <p:nvPr/>
        </p:nvSpPr>
        <p:spPr>
          <a:xfrm>
            <a:off x="685800" y="3474720"/>
            <a:ext cx="180972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Android only — pilot phase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8" name="Shape 7"/>
          <p:cNvSpPr/>
          <p:nvPr/>
        </p:nvSpPr>
        <p:spPr>
          <a:xfrm>
            <a:off x="2853000" y="2103120"/>
            <a:ext cx="2084040" cy="3291120"/>
          </a:xfrm>
          <a:prstGeom prst="roundRect">
            <a:avLst>
              <a:gd name="adj" fmla="val 6140"/>
            </a:avLst>
          </a:prstGeom>
          <a:solidFill>
            <a:srgbClr val="4a32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9" name="Shape 8"/>
          <p:cNvSpPr/>
          <p:nvPr/>
        </p:nvSpPr>
        <p:spPr>
          <a:xfrm>
            <a:off x="3529440" y="2423160"/>
            <a:ext cx="730800" cy="730800"/>
          </a:xfrm>
          <a:prstGeom prst="roundRect">
            <a:avLst>
              <a:gd name="adj" fmla="val 28000"/>
            </a:avLst>
          </a:prstGeom>
          <a:solidFill>
            <a:srgbClr val="7a8b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80" name="Image 1" descr="../mekenet/icons/alert.png"/>
          <p:cNvPicPr/>
          <p:nvPr/>
        </p:nvPicPr>
        <p:blipFill>
          <a:blip r:embed="rId2"/>
          <a:stretch/>
        </p:blipFill>
        <p:spPr>
          <a:xfrm>
            <a:off x="3624840" y="2518200"/>
            <a:ext cx="540720" cy="54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Text 9"/>
          <p:cNvSpPr/>
          <p:nvPr/>
        </p:nvSpPr>
        <p:spPr>
          <a:xfrm>
            <a:off x="2990160" y="3474720"/>
            <a:ext cx="180972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Telebirr only, no CBE Birr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2" name="Shape 10"/>
          <p:cNvSpPr/>
          <p:nvPr/>
        </p:nvSpPr>
        <p:spPr>
          <a:xfrm>
            <a:off x="5157360" y="2103120"/>
            <a:ext cx="2084040" cy="3291120"/>
          </a:xfrm>
          <a:prstGeom prst="roundRect">
            <a:avLst>
              <a:gd name="adj" fmla="val 6140"/>
            </a:avLst>
          </a:prstGeom>
          <a:solidFill>
            <a:srgbClr val="4a32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3" name="Shape 11"/>
          <p:cNvSpPr/>
          <p:nvPr/>
        </p:nvSpPr>
        <p:spPr>
          <a:xfrm>
            <a:off x="5833800" y="2423160"/>
            <a:ext cx="730800" cy="730800"/>
          </a:xfrm>
          <a:prstGeom prst="roundRect">
            <a:avLst>
              <a:gd name="adj" fmla="val 28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84" name="Image 2" descr="../mekenet/icons/alert.png"/>
          <p:cNvPicPr/>
          <p:nvPr/>
        </p:nvPicPr>
        <p:blipFill>
          <a:blip r:embed="rId3"/>
          <a:stretch/>
        </p:blipFill>
        <p:spPr>
          <a:xfrm>
            <a:off x="5928840" y="2518200"/>
            <a:ext cx="540720" cy="54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Text 12"/>
          <p:cNvSpPr/>
          <p:nvPr/>
        </p:nvSpPr>
        <p:spPr>
          <a:xfrm>
            <a:off x="5294520" y="3474720"/>
            <a:ext cx="180972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No inventory or forecasting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6" name="Shape 13"/>
          <p:cNvSpPr/>
          <p:nvPr/>
        </p:nvSpPr>
        <p:spPr>
          <a:xfrm>
            <a:off x="7461360" y="2103120"/>
            <a:ext cx="2084040" cy="3291120"/>
          </a:xfrm>
          <a:prstGeom prst="roundRect">
            <a:avLst>
              <a:gd name="adj" fmla="val 6140"/>
            </a:avLst>
          </a:prstGeom>
          <a:solidFill>
            <a:srgbClr val="4a32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7" name="Shape 14"/>
          <p:cNvSpPr/>
          <p:nvPr/>
        </p:nvSpPr>
        <p:spPr>
          <a:xfrm>
            <a:off x="8138160" y="2423160"/>
            <a:ext cx="730800" cy="730800"/>
          </a:xfrm>
          <a:prstGeom prst="roundRect">
            <a:avLst>
              <a:gd name="adj" fmla="val 28000"/>
            </a:avLst>
          </a:prstGeom>
          <a:solidFill>
            <a:srgbClr val="7a8b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88" name="Image 3" descr="../mekenet/icons/alert.png"/>
          <p:cNvPicPr/>
          <p:nvPr/>
        </p:nvPicPr>
        <p:blipFill>
          <a:blip r:embed="rId4"/>
          <a:stretch/>
        </p:blipFill>
        <p:spPr>
          <a:xfrm>
            <a:off x="8233200" y="2518200"/>
            <a:ext cx="540720" cy="54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Text 15"/>
          <p:cNvSpPr/>
          <p:nvPr/>
        </p:nvSpPr>
        <p:spPr>
          <a:xfrm>
            <a:off x="7598520" y="3474720"/>
            <a:ext cx="180972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Debts tracked manually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0" name="Shape 16"/>
          <p:cNvSpPr/>
          <p:nvPr/>
        </p:nvSpPr>
        <p:spPr>
          <a:xfrm>
            <a:off x="9765720" y="2103120"/>
            <a:ext cx="2084040" cy="3291120"/>
          </a:xfrm>
          <a:prstGeom prst="roundRect">
            <a:avLst>
              <a:gd name="adj" fmla="val 6140"/>
            </a:avLst>
          </a:prstGeom>
          <a:solidFill>
            <a:srgbClr val="4a32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1" name="Shape 17"/>
          <p:cNvSpPr/>
          <p:nvPr/>
        </p:nvSpPr>
        <p:spPr>
          <a:xfrm>
            <a:off x="10442520" y="2423160"/>
            <a:ext cx="730800" cy="730800"/>
          </a:xfrm>
          <a:prstGeom prst="roundRect">
            <a:avLst>
              <a:gd name="adj" fmla="val 28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92" name="Image 4" descr="../mekenet/icons/alert.png"/>
          <p:cNvPicPr/>
          <p:nvPr/>
        </p:nvPicPr>
        <p:blipFill>
          <a:blip r:embed="rId5"/>
          <a:stretch/>
        </p:blipFill>
        <p:spPr>
          <a:xfrm>
            <a:off x="10537560" y="2518200"/>
            <a:ext cx="540720" cy="54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Text 18"/>
          <p:cNvSpPr/>
          <p:nvPr/>
        </p:nvSpPr>
        <p:spPr>
          <a:xfrm>
            <a:off x="9902880" y="3474720"/>
            <a:ext cx="180972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Needs SMS + internet access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0"/>
          <p:cNvSpPr/>
          <p:nvPr/>
        </p:nvSpPr>
        <p:spPr>
          <a:xfrm>
            <a:off x="548640" y="41148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300" strike="noStrike" u="none">
                <a:solidFill>
                  <a:srgbClr val="b85042"/>
                </a:solidFill>
                <a:uFillTx/>
                <a:latin typeface="Calibri"/>
                <a:ea typeface="Calibri"/>
              </a:rPr>
              <a:t>HOW IT'S BUILT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5" name="Text 1"/>
          <p:cNvSpPr/>
          <p:nvPr/>
        </p:nvSpPr>
        <p:spPr>
          <a:xfrm>
            <a:off x="548640" y="713160"/>
            <a:ext cx="9600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a1f18"/>
                </a:solidFill>
                <a:uFillTx/>
                <a:latin typeface="Bookman Old Style"/>
                <a:ea typeface="Bookman Old Style"/>
              </a:rPr>
              <a:t>Methodology — Eight-Day Build Order</a:t>
            </a:r>
            <a:endParaRPr b="0" lang="en-US" sz="3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6" name="Shape 2"/>
          <p:cNvSpPr/>
          <p:nvPr/>
        </p:nvSpPr>
        <p:spPr>
          <a:xfrm>
            <a:off x="11430000" y="6236280"/>
            <a:ext cx="438120" cy="438120"/>
          </a:xfrm>
          <a:prstGeom prst="roundRect">
            <a:avLst>
              <a:gd name="adj" fmla="val 20833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7" name="Text 3"/>
          <p:cNvSpPr/>
          <p:nvPr/>
        </p:nvSpPr>
        <p:spPr>
          <a:xfrm>
            <a:off x="11430000" y="623628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a2418"/>
                </a:solidFill>
                <a:uFillTx/>
                <a:latin typeface="Calibri"/>
                <a:ea typeface="Calibri"/>
              </a:rPr>
              <a:t>09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8" name="Text 4"/>
          <p:cNvSpPr/>
          <p:nvPr/>
        </p:nvSpPr>
        <p:spPr>
          <a:xfrm>
            <a:off x="548640" y="146304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8a7565"/>
                </a:solidFill>
                <a:uFillTx/>
                <a:latin typeface="Calibri"/>
                <a:ea typeface="Calibri"/>
              </a:rPr>
              <a:t>Two weeks cut to eight days by narrowing scope, not adding hands.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9" name="Shape 5"/>
          <p:cNvSpPr/>
          <p:nvPr/>
        </p:nvSpPr>
        <p:spPr>
          <a:xfrm>
            <a:off x="548640" y="1965960"/>
            <a:ext cx="456480" cy="456480"/>
          </a:xfrm>
          <a:prstGeom prst="roundRect">
            <a:avLst>
              <a:gd name="adj" fmla="val 22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0" name="Text 6"/>
          <p:cNvSpPr/>
          <p:nvPr/>
        </p:nvSpPr>
        <p:spPr>
          <a:xfrm>
            <a:off x="548640" y="196596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1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1" name="Text 7"/>
          <p:cNvSpPr/>
          <p:nvPr/>
        </p:nvSpPr>
        <p:spPr>
          <a:xfrm>
            <a:off x="1170360" y="1947600"/>
            <a:ext cx="4388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Foundations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2" name="Text 8"/>
          <p:cNvSpPr/>
          <p:nvPr/>
        </p:nvSpPr>
        <p:spPr>
          <a:xfrm>
            <a:off x="1170360" y="2286000"/>
            <a:ext cx="4388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8a7565"/>
                </a:solidFill>
                <a:uFillTx/>
                <a:latin typeface="Calibri"/>
                <a:ea typeface="Calibri"/>
              </a:rPr>
              <a:t>DB + repo skeleton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3" name="Shape 9"/>
          <p:cNvSpPr/>
          <p:nvPr/>
        </p:nvSpPr>
        <p:spPr>
          <a:xfrm>
            <a:off x="777240" y="2423160"/>
            <a:ext cx="360" cy="502920"/>
          </a:xfrm>
          <a:prstGeom prst="line">
            <a:avLst/>
          </a:prstGeom>
          <a:ln w="25400">
            <a:solidFill>
              <a:srgbClr val="f3e6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4" name="Shape 10"/>
          <p:cNvSpPr/>
          <p:nvPr/>
        </p:nvSpPr>
        <p:spPr>
          <a:xfrm>
            <a:off x="548640" y="2926080"/>
            <a:ext cx="456480" cy="456480"/>
          </a:xfrm>
          <a:prstGeom prst="roundRect">
            <a:avLst>
              <a:gd name="adj" fmla="val 22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5" name="Text 11"/>
          <p:cNvSpPr/>
          <p:nvPr/>
        </p:nvSpPr>
        <p:spPr>
          <a:xfrm>
            <a:off x="548640" y="292608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2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6" name="Text 12"/>
          <p:cNvSpPr/>
          <p:nvPr/>
        </p:nvSpPr>
        <p:spPr>
          <a:xfrm>
            <a:off x="1170360" y="2907720"/>
            <a:ext cx="4388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Parser Built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7" name="Text 13"/>
          <p:cNvSpPr/>
          <p:nvPr/>
        </p:nvSpPr>
        <p:spPr>
          <a:xfrm>
            <a:off x="1170360" y="3246120"/>
            <a:ext cx="4388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8a7565"/>
                </a:solidFill>
                <a:uFillTx/>
                <a:latin typeface="Calibri"/>
                <a:ea typeface="Calibri"/>
              </a:rPr>
              <a:t>Tested on real SMS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8" name="Shape 14"/>
          <p:cNvSpPr/>
          <p:nvPr/>
        </p:nvSpPr>
        <p:spPr>
          <a:xfrm>
            <a:off x="777240" y="3383280"/>
            <a:ext cx="360" cy="502920"/>
          </a:xfrm>
          <a:prstGeom prst="line">
            <a:avLst/>
          </a:prstGeom>
          <a:ln w="25400">
            <a:solidFill>
              <a:srgbClr val="f3e6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9" name="Shape 15"/>
          <p:cNvSpPr/>
          <p:nvPr/>
        </p:nvSpPr>
        <p:spPr>
          <a:xfrm>
            <a:off x="548640" y="3886200"/>
            <a:ext cx="456480" cy="456480"/>
          </a:xfrm>
          <a:prstGeom prst="roundRect">
            <a:avLst>
              <a:gd name="adj" fmla="val 22000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0" name="Text 16"/>
          <p:cNvSpPr/>
          <p:nvPr/>
        </p:nvSpPr>
        <p:spPr>
          <a:xfrm>
            <a:off x="548640" y="388620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3a2418"/>
                </a:solidFill>
                <a:uFillTx/>
                <a:latin typeface="Calibri"/>
                <a:ea typeface="Calibri"/>
              </a:rPr>
              <a:t>3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1" name="Text 17"/>
          <p:cNvSpPr/>
          <p:nvPr/>
        </p:nvSpPr>
        <p:spPr>
          <a:xfrm>
            <a:off x="1170360" y="3867840"/>
            <a:ext cx="4388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Core Loop Live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2" name="Text 18"/>
          <p:cNvSpPr/>
          <p:nvPr/>
        </p:nvSpPr>
        <p:spPr>
          <a:xfrm>
            <a:off x="1170360" y="4206240"/>
            <a:ext cx="4388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8a7565"/>
                </a:solidFill>
                <a:uFillTx/>
                <a:latin typeface="Calibri"/>
                <a:ea typeface="Calibri"/>
              </a:rPr>
              <a:t>SMS → saved transaction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3" name="Shape 19"/>
          <p:cNvSpPr/>
          <p:nvPr/>
        </p:nvSpPr>
        <p:spPr>
          <a:xfrm>
            <a:off x="777240" y="4343400"/>
            <a:ext cx="360" cy="502920"/>
          </a:xfrm>
          <a:prstGeom prst="line">
            <a:avLst/>
          </a:prstGeom>
          <a:ln w="25400">
            <a:solidFill>
              <a:srgbClr val="f3e6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4" name="Shape 20"/>
          <p:cNvSpPr/>
          <p:nvPr/>
        </p:nvSpPr>
        <p:spPr>
          <a:xfrm>
            <a:off x="548640" y="4846320"/>
            <a:ext cx="456480" cy="456480"/>
          </a:xfrm>
          <a:prstGeom prst="roundRect">
            <a:avLst>
              <a:gd name="adj" fmla="val 22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5" name="Text 21"/>
          <p:cNvSpPr/>
          <p:nvPr/>
        </p:nvSpPr>
        <p:spPr>
          <a:xfrm>
            <a:off x="548640" y="484632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4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6" name="Text 22"/>
          <p:cNvSpPr/>
          <p:nvPr/>
        </p:nvSpPr>
        <p:spPr>
          <a:xfrm>
            <a:off x="1170360" y="4827960"/>
            <a:ext cx="4388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Local DB + Matcher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7" name="Text 23"/>
          <p:cNvSpPr/>
          <p:nvPr/>
        </p:nvSpPr>
        <p:spPr>
          <a:xfrm>
            <a:off x="1170360" y="5166360"/>
            <a:ext cx="4388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8a7565"/>
                </a:solidFill>
                <a:uFillTx/>
                <a:latin typeface="Calibri"/>
                <a:ea typeface="Calibri"/>
              </a:rPr>
              <a:t>Real DB, manual expense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8" name="Shape 24"/>
          <p:cNvSpPr/>
          <p:nvPr/>
        </p:nvSpPr>
        <p:spPr>
          <a:xfrm>
            <a:off x="6263640" y="1965960"/>
            <a:ext cx="456480" cy="456480"/>
          </a:xfrm>
          <a:prstGeom prst="roundRect">
            <a:avLst>
              <a:gd name="adj" fmla="val 22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9" name="Text 25"/>
          <p:cNvSpPr/>
          <p:nvPr/>
        </p:nvSpPr>
        <p:spPr>
          <a:xfrm>
            <a:off x="6263640" y="196596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5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0" name="Text 26"/>
          <p:cNvSpPr/>
          <p:nvPr/>
        </p:nvSpPr>
        <p:spPr>
          <a:xfrm>
            <a:off x="6885360" y="1947600"/>
            <a:ext cx="4388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Core UI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1" name="Text 27"/>
          <p:cNvSpPr/>
          <p:nvPr/>
        </p:nvSpPr>
        <p:spPr>
          <a:xfrm>
            <a:off x="6885360" y="2286000"/>
            <a:ext cx="4388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8a7565"/>
                </a:solidFill>
                <a:uFillTx/>
                <a:latin typeface="Calibri"/>
                <a:ea typeface="Calibri"/>
              </a:rPr>
              <a:t>Profit view, debts, quick-tap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2" name="Shape 28"/>
          <p:cNvSpPr/>
          <p:nvPr/>
        </p:nvSpPr>
        <p:spPr>
          <a:xfrm>
            <a:off x="6492240" y="2423160"/>
            <a:ext cx="360" cy="502920"/>
          </a:xfrm>
          <a:prstGeom prst="line">
            <a:avLst/>
          </a:prstGeom>
          <a:ln w="25400">
            <a:solidFill>
              <a:srgbClr val="f3e6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3" name="Shape 29"/>
          <p:cNvSpPr/>
          <p:nvPr/>
        </p:nvSpPr>
        <p:spPr>
          <a:xfrm>
            <a:off x="6263640" y="2926080"/>
            <a:ext cx="456480" cy="456480"/>
          </a:xfrm>
          <a:prstGeom prst="roundRect">
            <a:avLst>
              <a:gd name="adj" fmla="val 22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4" name="Text 30"/>
          <p:cNvSpPr/>
          <p:nvPr/>
        </p:nvSpPr>
        <p:spPr>
          <a:xfrm>
            <a:off x="6263640" y="292608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6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5" name="Text 31"/>
          <p:cNvSpPr/>
          <p:nvPr/>
        </p:nvSpPr>
        <p:spPr>
          <a:xfrm>
            <a:off x="6885360" y="2907720"/>
            <a:ext cx="4388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Full Integration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6" name="Text 32"/>
          <p:cNvSpPr/>
          <p:nvPr/>
        </p:nvSpPr>
        <p:spPr>
          <a:xfrm>
            <a:off x="6885360" y="3246120"/>
            <a:ext cx="4388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8a7565"/>
                </a:solidFill>
                <a:uFillTx/>
                <a:latin typeface="Calibri"/>
                <a:ea typeface="Calibri"/>
              </a:rPr>
              <a:t>Live offline test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7" name="Shape 33"/>
          <p:cNvSpPr/>
          <p:nvPr/>
        </p:nvSpPr>
        <p:spPr>
          <a:xfrm>
            <a:off x="6492240" y="3383280"/>
            <a:ext cx="360" cy="502920"/>
          </a:xfrm>
          <a:prstGeom prst="line">
            <a:avLst/>
          </a:prstGeom>
          <a:ln w="25400">
            <a:solidFill>
              <a:srgbClr val="f3e6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8" name="Shape 34"/>
          <p:cNvSpPr/>
          <p:nvPr/>
        </p:nvSpPr>
        <p:spPr>
          <a:xfrm>
            <a:off x="6263640" y="3886200"/>
            <a:ext cx="456480" cy="456480"/>
          </a:xfrm>
          <a:prstGeom prst="roundRect">
            <a:avLst>
              <a:gd name="adj" fmla="val 22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9" name="Text 35"/>
          <p:cNvSpPr/>
          <p:nvPr/>
        </p:nvSpPr>
        <p:spPr>
          <a:xfrm>
            <a:off x="6263640" y="388620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7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0" name="Text 36"/>
          <p:cNvSpPr/>
          <p:nvPr/>
        </p:nvSpPr>
        <p:spPr>
          <a:xfrm>
            <a:off x="6885360" y="3867840"/>
            <a:ext cx="4388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Sync + Export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1" name="Text 37"/>
          <p:cNvSpPr/>
          <p:nvPr/>
        </p:nvSpPr>
        <p:spPr>
          <a:xfrm>
            <a:off x="6885360" y="4206240"/>
            <a:ext cx="4388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8a7565"/>
                </a:solidFill>
                <a:uFillTx/>
                <a:latin typeface="Calibri"/>
                <a:ea typeface="Calibri"/>
              </a:rPr>
              <a:t>Cloud sync, privacy proof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2" name="Shape 38"/>
          <p:cNvSpPr/>
          <p:nvPr/>
        </p:nvSpPr>
        <p:spPr>
          <a:xfrm>
            <a:off x="6492240" y="4343400"/>
            <a:ext cx="360" cy="502920"/>
          </a:xfrm>
          <a:prstGeom prst="line">
            <a:avLst/>
          </a:prstGeom>
          <a:ln w="25400">
            <a:solidFill>
              <a:srgbClr val="f3e6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3" name="Shape 39"/>
          <p:cNvSpPr/>
          <p:nvPr/>
        </p:nvSpPr>
        <p:spPr>
          <a:xfrm>
            <a:off x="6263640" y="4846320"/>
            <a:ext cx="456480" cy="456480"/>
          </a:xfrm>
          <a:prstGeom prst="roundRect">
            <a:avLst>
              <a:gd name="adj" fmla="val 22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4" name="Text 40"/>
          <p:cNvSpPr/>
          <p:nvPr/>
        </p:nvSpPr>
        <p:spPr>
          <a:xfrm>
            <a:off x="6263640" y="484632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8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5" name="Text 41"/>
          <p:cNvSpPr/>
          <p:nvPr/>
        </p:nvSpPr>
        <p:spPr>
          <a:xfrm>
            <a:off x="6885360" y="4827960"/>
            <a:ext cx="4388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Accuracy + Demo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6" name="Text 42"/>
          <p:cNvSpPr/>
          <p:nvPr/>
        </p:nvSpPr>
        <p:spPr>
          <a:xfrm>
            <a:off x="6885360" y="5166360"/>
            <a:ext cx="4388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8a7565"/>
                </a:solidFill>
                <a:uFillTx/>
                <a:latin typeface="Calibri"/>
                <a:ea typeface="Calibri"/>
              </a:rPr>
              <a:t>Final numbers, rehearsal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7" name="Shape 43"/>
          <p:cNvSpPr/>
          <p:nvPr/>
        </p:nvSpPr>
        <p:spPr>
          <a:xfrm>
            <a:off x="548640" y="5806440"/>
            <a:ext cx="11063520" cy="639360"/>
          </a:xfrm>
          <a:prstGeom prst="roundRect">
            <a:avLst>
              <a:gd name="adj" fmla="val 14286"/>
            </a:avLst>
          </a:prstGeom>
          <a:solidFill>
            <a:srgbClr val="fb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8" name="Text 44"/>
          <p:cNvSpPr/>
          <p:nvPr/>
        </p:nvSpPr>
        <p:spPr>
          <a:xfrm>
            <a:off x="822960" y="5806440"/>
            <a:ext cx="10514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trike="noStrike" u="none">
                <a:solidFill>
                  <a:srgbClr val="b85042"/>
                </a:solidFill>
                <a:uFillTx/>
                <a:latin typeface="Calibri"/>
                <a:ea typeface="Calibri"/>
              </a:rPr>
              <a:t>Day 3 is the make-or-break milestone.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a2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 0"/>
          <p:cNvSpPr/>
          <p:nvPr/>
        </p:nvSpPr>
        <p:spPr>
          <a:xfrm>
            <a:off x="548640" y="41148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300" strike="noStrike" u="none">
                <a:solidFill>
                  <a:srgbClr val="d4a017"/>
                </a:solidFill>
                <a:uFillTx/>
                <a:latin typeface="Calibri"/>
                <a:ea typeface="Calibri"/>
              </a:rPr>
              <a:t>WHAT THE SYSTEM SHALL DO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0" name="Text 1"/>
          <p:cNvSpPr/>
          <p:nvPr/>
        </p:nvSpPr>
        <p:spPr>
          <a:xfrm>
            <a:off x="548640" y="713160"/>
            <a:ext cx="9600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uFillTx/>
                <a:latin typeface="Bookman Old Style"/>
                <a:ea typeface="Bookman Old Style"/>
              </a:rPr>
              <a:t>Functional Requirements</a:t>
            </a:r>
            <a:endParaRPr b="0" lang="en-US" sz="3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1" name="Shape 2"/>
          <p:cNvSpPr/>
          <p:nvPr/>
        </p:nvSpPr>
        <p:spPr>
          <a:xfrm>
            <a:off x="11430000" y="6236280"/>
            <a:ext cx="438120" cy="438120"/>
          </a:xfrm>
          <a:prstGeom prst="roundRect">
            <a:avLst>
              <a:gd name="adj" fmla="val 20833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2" name="Text 3"/>
          <p:cNvSpPr/>
          <p:nvPr/>
        </p:nvSpPr>
        <p:spPr>
          <a:xfrm>
            <a:off x="11430000" y="623628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a2418"/>
                </a:solidFill>
                <a:uFillTx/>
                <a:latin typeface="Calibri"/>
                <a:ea typeface="Calibri"/>
              </a:rPr>
              <a:t>10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3" name="Shape 4"/>
          <p:cNvSpPr/>
          <p:nvPr/>
        </p:nvSpPr>
        <p:spPr>
          <a:xfrm>
            <a:off x="548640" y="1828800"/>
            <a:ext cx="456480" cy="456480"/>
          </a:xfrm>
          <a:prstGeom prst="roundRect">
            <a:avLst>
              <a:gd name="adj" fmla="val 28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44" name="Image 0" descr="../mekenet/icons/check.png"/>
          <p:cNvPicPr/>
          <p:nvPr/>
        </p:nvPicPr>
        <p:blipFill>
          <a:blip r:embed="rId1"/>
          <a:stretch/>
        </p:blipFill>
        <p:spPr>
          <a:xfrm>
            <a:off x="608040" y="188820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5" name="Text 5"/>
          <p:cNvSpPr/>
          <p:nvPr/>
        </p:nvSpPr>
        <p:spPr>
          <a:xfrm>
            <a:off x="1143000" y="1810440"/>
            <a:ext cx="4754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Auto-parse SMS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6" name="Shape 6"/>
          <p:cNvSpPr/>
          <p:nvPr/>
        </p:nvSpPr>
        <p:spPr>
          <a:xfrm>
            <a:off x="6263640" y="1828800"/>
            <a:ext cx="456480" cy="456480"/>
          </a:xfrm>
          <a:prstGeom prst="roundRect">
            <a:avLst>
              <a:gd name="adj" fmla="val 28000"/>
            </a:avLst>
          </a:prstGeom>
          <a:solidFill>
            <a:srgbClr val="7a8b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47" name="Image 1" descr="../mekenet/icons/check.png"/>
          <p:cNvPicPr/>
          <p:nvPr/>
        </p:nvPicPr>
        <p:blipFill>
          <a:blip r:embed="rId2"/>
          <a:stretch/>
        </p:blipFill>
        <p:spPr>
          <a:xfrm>
            <a:off x="6323040" y="188820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Text 7"/>
          <p:cNvSpPr/>
          <p:nvPr/>
        </p:nvSpPr>
        <p:spPr>
          <a:xfrm>
            <a:off x="6858000" y="1810440"/>
            <a:ext cx="4754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Store data offline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9" name="Shape 8"/>
          <p:cNvSpPr/>
          <p:nvPr/>
        </p:nvSpPr>
        <p:spPr>
          <a:xfrm>
            <a:off x="548640" y="2743200"/>
            <a:ext cx="456480" cy="456480"/>
          </a:xfrm>
          <a:prstGeom prst="roundRect">
            <a:avLst>
              <a:gd name="adj" fmla="val 28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50" name="Image 2" descr="../mekenet/icons/check.png"/>
          <p:cNvPicPr/>
          <p:nvPr/>
        </p:nvPicPr>
        <p:blipFill>
          <a:blip r:embed="rId3"/>
          <a:stretch/>
        </p:blipFill>
        <p:spPr>
          <a:xfrm>
            <a:off x="608040" y="280260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1" name="Text 9"/>
          <p:cNvSpPr/>
          <p:nvPr/>
        </p:nvSpPr>
        <p:spPr>
          <a:xfrm>
            <a:off x="1143000" y="2724840"/>
            <a:ext cx="4754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Sync on demand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2" name="Shape 10"/>
          <p:cNvSpPr/>
          <p:nvPr/>
        </p:nvSpPr>
        <p:spPr>
          <a:xfrm>
            <a:off x="6263640" y="2743200"/>
            <a:ext cx="456480" cy="456480"/>
          </a:xfrm>
          <a:prstGeom prst="roundRect">
            <a:avLst>
              <a:gd name="adj" fmla="val 28000"/>
            </a:avLst>
          </a:prstGeom>
          <a:solidFill>
            <a:srgbClr val="7a8b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53" name="Image 3" descr="../mekenet/icons/check.png"/>
          <p:cNvPicPr/>
          <p:nvPr/>
        </p:nvPicPr>
        <p:blipFill>
          <a:blip r:embed="rId4"/>
          <a:stretch/>
        </p:blipFill>
        <p:spPr>
          <a:xfrm>
            <a:off x="6323040" y="280260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4" name="Text 11"/>
          <p:cNvSpPr/>
          <p:nvPr/>
        </p:nvSpPr>
        <p:spPr>
          <a:xfrm>
            <a:off x="6858000" y="2724840"/>
            <a:ext cx="4754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Plain-language insights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5" name="Shape 12"/>
          <p:cNvSpPr/>
          <p:nvPr/>
        </p:nvSpPr>
        <p:spPr>
          <a:xfrm>
            <a:off x="548640" y="3657600"/>
            <a:ext cx="456480" cy="456480"/>
          </a:xfrm>
          <a:prstGeom prst="roundRect">
            <a:avLst>
              <a:gd name="adj" fmla="val 28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56" name="Image 4" descr="../mekenet/icons/check.png"/>
          <p:cNvPicPr/>
          <p:nvPr/>
        </p:nvPicPr>
        <p:blipFill>
          <a:blip r:embed="rId5"/>
          <a:stretch/>
        </p:blipFill>
        <p:spPr>
          <a:xfrm>
            <a:off x="608040" y="371700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7" name="Text 13"/>
          <p:cNvSpPr/>
          <p:nvPr/>
        </p:nvSpPr>
        <p:spPr>
          <a:xfrm>
            <a:off x="1143000" y="3639240"/>
            <a:ext cx="4754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Manual debt entries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8" name="Shape 14"/>
          <p:cNvSpPr/>
          <p:nvPr/>
        </p:nvSpPr>
        <p:spPr>
          <a:xfrm>
            <a:off x="6263640" y="3657600"/>
            <a:ext cx="456480" cy="456480"/>
          </a:xfrm>
          <a:prstGeom prst="roundRect">
            <a:avLst>
              <a:gd name="adj" fmla="val 28000"/>
            </a:avLst>
          </a:prstGeom>
          <a:solidFill>
            <a:srgbClr val="7a8b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59" name="Image 5" descr="../mekenet/icons/check.png"/>
          <p:cNvPicPr/>
          <p:nvPr/>
        </p:nvPicPr>
        <p:blipFill>
          <a:blip r:embed="rId6"/>
          <a:stretch/>
        </p:blipFill>
        <p:spPr>
          <a:xfrm>
            <a:off x="6323040" y="371700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0" name="Text 15"/>
          <p:cNvSpPr/>
          <p:nvPr/>
        </p:nvSpPr>
        <p:spPr>
          <a:xfrm>
            <a:off x="6858000" y="3639240"/>
            <a:ext cx="4754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Manual expense entries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1" name="Shape 16"/>
          <p:cNvSpPr/>
          <p:nvPr/>
        </p:nvSpPr>
        <p:spPr>
          <a:xfrm>
            <a:off x="548640" y="4572000"/>
            <a:ext cx="456480" cy="456480"/>
          </a:xfrm>
          <a:prstGeom prst="roundRect">
            <a:avLst>
              <a:gd name="adj" fmla="val 28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62" name="Image 6" descr="../mekenet/icons/check.png"/>
          <p:cNvPicPr/>
          <p:nvPr/>
        </p:nvPicPr>
        <p:blipFill>
          <a:blip r:embed="rId7"/>
          <a:stretch/>
        </p:blipFill>
        <p:spPr>
          <a:xfrm>
            <a:off x="608040" y="463140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3" name="Text 17"/>
          <p:cNvSpPr/>
          <p:nvPr/>
        </p:nvSpPr>
        <p:spPr>
          <a:xfrm>
            <a:off x="1143000" y="4553640"/>
            <a:ext cx="4754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PIN-secured access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4" name="Shape 18"/>
          <p:cNvSpPr/>
          <p:nvPr/>
        </p:nvSpPr>
        <p:spPr>
          <a:xfrm>
            <a:off x="6263640" y="4572000"/>
            <a:ext cx="456480" cy="456480"/>
          </a:xfrm>
          <a:prstGeom prst="roundRect">
            <a:avLst>
              <a:gd name="adj" fmla="val 28000"/>
            </a:avLst>
          </a:prstGeom>
          <a:solidFill>
            <a:srgbClr val="7a8b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65" name="Image 7" descr="../mekenet/icons/check.png"/>
          <p:cNvPicPr/>
          <p:nvPr/>
        </p:nvPicPr>
        <p:blipFill>
          <a:blip r:embed="rId8"/>
          <a:stretch/>
        </p:blipFill>
        <p:spPr>
          <a:xfrm>
            <a:off x="6323040" y="463140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6" name="Text 19"/>
          <p:cNvSpPr/>
          <p:nvPr/>
        </p:nvSpPr>
        <p:spPr>
          <a:xfrm>
            <a:off x="6858000" y="4553640"/>
            <a:ext cx="4754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Export loan-ready report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 0"/>
          <p:cNvSpPr/>
          <p:nvPr/>
        </p:nvSpPr>
        <p:spPr>
          <a:xfrm>
            <a:off x="548640" y="41148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300" strike="noStrike" u="none">
                <a:solidFill>
                  <a:srgbClr val="b85042"/>
                </a:solidFill>
                <a:uFillTx/>
                <a:latin typeface="Calibri"/>
                <a:ea typeface="Calibri"/>
              </a:rPr>
              <a:t>QUALITY ATTRIBUTES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8" name="Text 1"/>
          <p:cNvSpPr/>
          <p:nvPr/>
        </p:nvSpPr>
        <p:spPr>
          <a:xfrm>
            <a:off x="548640" y="713160"/>
            <a:ext cx="9600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a1f18"/>
                </a:solidFill>
                <a:uFillTx/>
                <a:latin typeface="Bookman Old Style"/>
                <a:ea typeface="Bookman Old Style"/>
              </a:rPr>
              <a:t>Non-Functional Requirements</a:t>
            </a:r>
            <a:endParaRPr b="0" lang="en-US" sz="3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9" name="Shape 2"/>
          <p:cNvSpPr/>
          <p:nvPr/>
        </p:nvSpPr>
        <p:spPr>
          <a:xfrm>
            <a:off x="11430000" y="6236280"/>
            <a:ext cx="438120" cy="438120"/>
          </a:xfrm>
          <a:prstGeom prst="roundRect">
            <a:avLst>
              <a:gd name="adj" fmla="val 20833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0" name="Text 3"/>
          <p:cNvSpPr/>
          <p:nvPr/>
        </p:nvSpPr>
        <p:spPr>
          <a:xfrm>
            <a:off x="11430000" y="623628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a2418"/>
                </a:solidFill>
                <a:uFillTx/>
                <a:latin typeface="Calibri"/>
                <a:ea typeface="Calibri"/>
              </a:rPr>
              <a:t>11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1" name="Shape 4"/>
          <p:cNvSpPr/>
          <p:nvPr/>
        </p:nvSpPr>
        <p:spPr>
          <a:xfrm>
            <a:off x="548640" y="1920240"/>
            <a:ext cx="3565440" cy="1965240"/>
          </a:xfrm>
          <a:prstGeom prst="roundRect">
            <a:avLst>
              <a:gd name="adj" fmla="val 6512"/>
            </a:avLst>
          </a:prstGeom>
          <a:solidFill>
            <a:srgbClr val="fb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2" name="Shape 5"/>
          <p:cNvSpPr/>
          <p:nvPr/>
        </p:nvSpPr>
        <p:spPr>
          <a:xfrm>
            <a:off x="822960" y="2194560"/>
            <a:ext cx="685080" cy="685080"/>
          </a:xfrm>
          <a:prstGeom prst="roundRect">
            <a:avLst>
              <a:gd name="adj" fmla="val 28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73" name="Image 0" descr="../mekenet/icons/clock.png"/>
          <p:cNvPicPr/>
          <p:nvPr/>
        </p:nvPicPr>
        <p:blipFill>
          <a:blip r:embed="rId1"/>
          <a:stretch/>
        </p:blipFill>
        <p:spPr>
          <a:xfrm>
            <a:off x="912240" y="2283840"/>
            <a:ext cx="506880" cy="50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4" name="Text 6"/>
          <p:cNvSpPr/>
          <p:nvPr/>
        </p:nvSpPr>
        <p:spPr>
          <a:xfrm>
            <a:off x="1645920" y="219456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Performance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5" name="Text 7"/>
          <p:cNvSpPr/>
          <p:nvPr/>
        </p:nvSpPr>
        <p:spPr>
          <a:xfrm>
            <a:off x="822960" y="3017520"/>
            <a:ext cx="3016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8a7565"/>
                </a:solidFill>
                <a:uFillTx/>
                <a:latin typeface="Calibri"/>
                <a:ea typeface="Calibri"/>
              </a:rPr>
              <a:t>Fast on any Android phone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6" name="Shape 8"/>
          <p:cNvSpPr/>
          <p:nvPr/>
        </p:nvSpPr>
        <p:spPr>
          <a:xfrm>
            <a:off x="4316040" y="1920240"/>
            <a:ext cx="3565440" cy="1965240"/>
          </a:xfrm>
          <a:prstGeom prst="roundRect">
            <a:avLst>
              <a:gd name="adj" fmla="val 6512"/>
            </a:avLst>
          </a:prstGeom>
          <a:solidFill>
            <a:srgbClr val="fb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7" name="Shape 9"/>
          <p:cNvSpPr/>
          <p:nvPr/>
        </p:nvSpPr>
        <p:spPr>
          <a:xfrm>
            <a:off x="4590360" y="2194560"/>
            <a:ext cx="685080" cy="685080"/>
          </a:xfrm>
          <a:prstGeom prst="roundRect">
            <a:avLst>
              <a:gd name="adj" fmla="val 28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78" name="Image 1" descr="../mekenet/icons/lock.png"/>
          <p:cNvPicPr/>
          <p:nvPr/>
        </p:nvPicPr>
        <p:blipFill>
          <a:blip r:embed="rId2"/>
          <a:stretch/>
        </p:blipFill>
        <p:spPr>
          <a:xfrm>
            <a:off x="4679280" y="2283840"/>
            <a:ext cx="506880" cy="50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Text 10"/>
          <p:cNvSpPr/>
          <p:nvPr/>
        </p:nvSpPr>
        <p:spPr>
          <a:xfrm>
            <a:off x="5413320" y="219456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Security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0" name="Text 11"/>
          <p:cNvSpPr/>
          <p:nvPr/>
        </p:nvSpPr>
        <p:spPr>
          <a:xfrm>
            <a:off x="4590360" y="3017520"/>
            <a:ext cx="3016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8a7565"/>
                </a:solidFill>
                <a:uFillTx/>
                <a:latin typeface="Calibri"/>
                <a:ea typeface="Calibri"/>
              </a:rPr>
              <a:t>PIN + encrypted storage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1" name="Shape 12"/>
          <p:cNvSpPr/>
          <p:nvPr/>
        </p:nvSpPr>
        <p:spPr>
          <a:xfrm>
            <a:off x="8083440" y="1920240"/>
            <a:ext cx="3565440" cy="1965240"/>
          </a:xfrm>
          <a:prstGeom prst="roundRect">
            <a:avLst>
              <a:gd name="adj" fmla="val 6512"/>
            </a:avLst>
          </a:prstGeom>
          <a:solidFill>
            <a:srgbClr val="fb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2" name="Shape 13"/>
          <p:cNvSpPr/>
          <p:nvPr/>
        </p:nvSpPr>
        <p:spPr>
          <a:xfrm>
            <a:off x="8357760" y="2194560"/>
            <a:ext cx="685080" cy="685080"/>
          </a:xfrm>
          <a:prstGeom prst="roundRect">
            <a:avLst>
              <a:gd name="adj" fmla="val 28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83" name="Image 2" descr="../mekenet/icons/shield.png"/>
          <p:cNvPicPr/>
          <p:nvPr/>
        </p:nvPicPr>
        <p:blipFill>
          <a:blip r:embed="rId3"/>
          <a:stretch/>
        </p:blipFill>
        <p:spPr>
          <a:xfrm>
            <a:off x="8446680" y="2283840"/>
            <a:ext cx="506880" cy="50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Text 14"/>
          <p:cNvSpPr/>
          <p:nvPr/>
        </p:nvSpPr>
        <p:spPr>
          <a:xfrm>
            <a:off x="9180720" y="219456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Reliability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5" name="Text 15"/>
          <p:cNvSpPr/>
          <p:nvPr/>
        </p:nvSpPr>
        <p:spPr>
          <a:xfrm>
            <a:off x="8357760" y="3017520"/>
            <a:ext cx="3016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8a7565"/>
                </a:solidFill>
                <a:uFillTx/>
                <a:latin typeface="Calibri"/>
                <a:ea typeface="Calibri"/>
              </a:rPr>
              <a:t>Fully usable offline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6" name="Shape 16"/>
          <p:cNvSpPr/>
          <p:nvPr/>
        </p:nvSpPr>
        <p:spPr>
          <a:xfrm>
            <a:off x="548640" y="4114800"/>
            <a:ext cx="3565440" cy="1965240"/>
          </a:xfrm>
          <a:prstGeom prst="roundRect">
            <a:avLst>
              <a:gd name="adj" fmla="val 6512"/>
            </a:avLst>
          </a:prstGeom>
          <a:solidFill>
            <a:srgbClr val="f3e6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7" name="Shape 17"/>
          <p:cNvSpPr/>
          <p:nvPr/>
        </p:nvSpPr>
        <p:spPr>
          <a:xfrm>
            <a:off x="822960" y="4389120"/>
            <a:ext cx="685080" cy="685080"/>
          </a:xfrm>
          <a:prstGeom prst="roundRect">
            <a:avLst>
              <a:gd name="adj" fmla="val 28000"/>
            </a:avLst>
          </a:prstGeom>
          <a:solidFill>
            <a:srgbClr val="7a8b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88" name="Image 3" descr="../mekenet/icons/eye.png"/>
          <p:cNvPicPr/>
          <p:nvPr/>
        </p:nvPicPr>
        <p:blipFill>
          <a:blip r:embed="rId4"/>
          <a:stretch/>
        </p:blipFill>
        <p:spPr>
          <a:xfrm>
            <a:off x="912240" y="4478400"/>
            <a:ext cx="506880" cy="50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9" name="Text 18"/>
          <p:cNvSpPr/>
          <p:nvPr/>
        </p:nvSpPr>
        <p:spPr>
          <a:xfrm>
            <a:off x="1645920" y="438912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Privacy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0" name="Text 19"/>
          <p:cNvSpPr/>
          <p:nvPr/>
        </p:nvSpPr>
        <p:spPr>
          <a:xfrm>
            <a:off x="822960" y="5212080"/>
            <a:ext cx="3016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8a7565"/>
                </a:solidFill>
                <a:uFillTx/>
                <a:latin typeface="Calibri"/>
                <a:ea typeface="Calibri"/>
              </a:rPr>
              <a:t>You control what's shared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1" name="Shape 20"/>
          <p:cNvSpPr/>
          <p:nvPr/>
        </p:nvSpPr>
        <p:spPr>
          <a:xfrm>
            <a:off x="4316040" y="4114800"/>
            <a:ext cx="3565440" cy="1965240"/>
          </a:xfrm>
          <a:prstGeom prst="roundRect">
            <a:avLst>
              <a:gd name="adj" fmla="val 6512"/>
            </a:avLst>
          </a:prstGeom>
          <a:solidFill>
            <a:srgbClr val="f3e6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2" name="Shape 21"/>
          <p:cNvSpPr/>
          <p:nvPr/>
        </p:nvSpPr>
        <p:spPr>
          <a:xfrm>
            <a:off x="4590360" y="4389120"/>
            <a:ext cx="685080" cy="685080"/>
          </a:xfrm>
          <a:prstGeom prst="roundRect">
            <a:avLst>
              <a:gd name="adj" fmla="val 28000"/>
            </a:avLst>
          </a:prstGeom>
          <a:solidFill>
            <a:srgbClr val="7a8b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93" name="Image 4" descr="../mekenet/icons/trust.png"/>
          <p:cNvPicPr/>
          <p:nvPr/>
        </p:nvPicPr>
        <p:blipFill>
          <a:blip r:embed="rId5"/>
          <a:stretch/>
        </p:blipFill>
        <p:spPr>
          <a:xfrm>
            <a:off x="4679280" y="4478400"/>
            <a:ext cx="506880" cy="50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4" name="Text 22"/>
          <p:cNvSpPr/>
          <p:nvPr/>
        </p:nvSpPr>
        <p:spPr>
          <a:xfrm>
            <a:off x="5413320" y="438912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Usability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5" name="Text 23"/>
          <p:cNvSpPr/>
          <p:nvPr/>
        </p:nvSpPr>
        <p:spPr>
          <a:xfrm>
            <a:off x="4590360" y="5212080"/>
            <a:ext cx="3016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8a7565"/>
                </a:solidFill>
                <a:uFillTx/>
                <a:latin typeface="Calibri"/>
                <a:ea typeface="Calibri"/>
              </a:rPr>
              <a:t>No financial jargon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6" name="Shape 24"/>
          <p:cNvSpPr/>
          <p:nvPr/>
        </p:nvSpPr>
        <p:spPr>
          <a:xfrm>
            <a:off x="8083440" y="4114800"/>
            <a:ext cx="3565440" cy="1965240"/>
          </a:xfrm>
          <a:prstGeom prst="roundRect">
            <a:avLst>
              <a:gd name="adj" fmla="val 6512"/>
            </a:avLst>
          </a:prstGeom>
          <a:solidFill>
            <a:srgbClr val="f3e6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7" name="Shape 25"/>
          <p:cNvSpPr/>
          <p:nvPr/>
        </p:nvSpPr>
        <p:spPr>
          <a:xfrm>
            <a:off x="8357760" y="4389120"/>
            <a:ext cx="685080" cy="685080"/>
          </a:xfrm>
          <a:prstGeom prst="roundRect">
            <a:avLst>
              <a:gd name="adj" fmla="val 28000"/>
            </a:avLst>
          </a:prstGeom>
          <a:solidFill>
            <a:srgbClr val="7a8b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98" name="Image 5" descr="../mekenet/icons/layers.png"/>
          <p:cNvPicPr/>
          <p:nvPr/>
        </p:nvPicPr>
        <p:blipFill>
          <a:blip r:embed="rId6"/>
          <a:stretch/>
        </p:blipFill>
        <p:spPr>
          <a:xfrm>
            <a:off x="8446680" y="4478400"/>
            <a:ext cx="506880" cy="50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Text 26"/>
          <p:cNvSpPr/>
          <p:nvPr/>
        </p:nvSpPr>
        <p:spPr>
          <a:xfrm>
            <a:off x="9180720" y="438912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Maintainability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0" name="Text 27"/>
          <p:cNvSpPr/>
          <p:nvPr/>
        </p:nvSpPr>
        <p:spPr>
          <a:xfrm>
            <a:off x="8357760" y="5212080"/>
            <a:ext cx="3016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8a7565"/>
                </a:solidFill>
                <a:uFillTx/>
                <a:latin typeface="Calibri"/>
                <a:ea typeface="Calibri"/>
              </a:rPr>
              <a:t>Modular, easy to extend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a2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ext 0"/>
          <p:cNvSpPr/>
          <p:nvPr/>
        </p:nvSpPr>
        <p:spPr>
          <a:xfrm>
            <a:off x="548640" y="41148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300" strike="noStrike" u="none">
                <a:solidFill>
                  <a:srgbClr val="d4a017"/>
                </a:solidFill>
                <a:uFillTx/>
                <a:latin typeface="Calibri"/>
                <a:ea typeface="Calibri"/>
              </a:rPr>
              <a:t>QUALITY ASSURANCE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2" name="Text 1"/>
          <p:cNvSpPr/>
          <p:nvPr/>
        </p:nvSpPr>
        <p:spPr>
          <a:xfrm>
            <a:off x="548640" y="713160"/>
            <a:ext cx="9600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uFillTx/>
                <a:latin typeface="Bookman Old Style"/>
                <a:ea typeface="Bookman Old Style"/>
              </a:rPr>
              <a:t>Testing &amp; Evaluation</a:t>
            </a:r>
            <a:endParaRPr b="0" lang="en-US" sz="3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3" name="Shape 2"/>
          <p:cNvSpPr/>
          <p:nvPr/>
        </p:nvSpPr>
        <p:spPr>
          <a:xfrm>
            <a:off x="11430000" y="6236280"/>
            <a:ext cx="438120" cy="438120"/>
          </a:xfrm>
          <a:prstGeom prst="roundRect">
            <a:avLst>
              <a:gd name="adj" fmla="val 20833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4" name="Text 3"/>
          <p:cNvSpPr/>
          <p:nvPr/>
        </p:nvSpPr>
        <p:spPr>
          <a:xfrm>
            <a:off x="11430000" y="623628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a2418"/>
                </a:solidFill>
                <a:uFillTx/>
                <a:latin typeface="Calibri"/>
                <a:ea typeface="Calibri"/>
              </a:rPr>
              <a:t>12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5" name="Text 4"/>
          <p:cNvSpPr/>
          <p:nvPr/>
        </p:nvSpPr>
        <p:spPr>
          <a:xfrm>
            <a:off x="548640" y="178308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01" strike="noStrike" u="none">
                <a:solidFill>
                  <a:srgbClr val="d4a017"/>
                </a:solidFill>
                <a:uFillTx/>
                <a:latin typeface="Calibri"/>
                <a:ea typeface="Calibri"/>
              </a:rPr>
              <a:t>TESTING METHODS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6" name="Shape 5"/>
          <p:cNvSpPr/>
          <p:nvPr/>
        </p:nvSpPr>
        <p:spPr>
          <a:xfrm>
            <a:off x="685800" y="2194560"/>
            <a:ext cx="639360" cy="639360"/>
          </a:xfrm>
          <a:prstGeom prst="roundRect">
            <a:avLst>
              <a:gd name="adj" fmla="val 28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07" name="Image 0" descr="../mekenet/icons/check.png"/>
          <p:cNvPicPr/>
          <p:nvPr/>
        </p:nvPicPr>
        <p:blipFill>
          <a:blip r:embed="rId1"/>
          <a:stretch/>
        </p:blipFill>
        <p:spPr>
          <a:xfrm>
            <a:off x="768960" y="2277720"/>
            <a:ext cx="473040" cy="47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" name="Text 6"/>
          <p:cNvSpPr/>
          <p:nvPr/>
        </p:nvSpPr>
        <p:spPr>
          <a:xfrm>
            <a:off x="1508760" y="2194560"/>
            <a:ext cx="4205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Unit Testing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9" name="Text 7"/>
          <p:cNvSpPr/>
          <p:nvPr/>
        </p:nvSpPr>
        <p:spPr>
          <a:xfrm>
            <a:off x="1508760" y="2532960"/>
            <a:ext cx="4205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Real SMS samples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0" name="Shape 8"/>
          <p:cNvSpPr/>
          <p:nvPr/>
        </p:nvSpPr>
        <p:spPr>
          <a:xfrm>
            <a:off x="685800" y="3200400"/>
            <a:ext cx="639360" cy="639360"/>
          </a:xfrm>
          <a:prstGeom prst="roundRect">
            <a:avLst>
              <a:gd name="adj" fmla="val 28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11" name="Image 1" descr="../mekenet/icons/layers.png"/>
          <p:cNvPicPr/>
          <p:nvPr/>
        </p:nvPicPr>
        <p:blipFill>
          <a:blip r:embed="rId2"/>
          <a:stretch/>
        </p:blipFill>
        <p:spPr>
          <a:xfrm>
            <a:off x="768960" y="3283560"/>
            <a:ext cx="473040" cy="47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2" name="Text 9"/>
          <p:cNvSpPr/>
          <p:nvPr/>
        </p:nvSpPr>
        <p:spPr>
          <a:xfrm>
            <a:off x="1508760" y="3200400"/>
            <a:ext cx="4205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Integration Testing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3" name="Text 10"/>
          <p:cNvSpPr/>
          <p:nvPr/>
        </p:nvSpPr>
        <p:spPr>
          <a:xfrm>
            <a:off x="1508760" y="3538800"/>
            <a:ext cx="4205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App + backend together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4" name="Shape 11"/>
          <p:cNvSpPr/>
          <p:nvPr/>
        </p:nvSpPr>
        <p:spPr>
          <a:xfrm>
            <a:off x="685800" y="4206240"/>
            <a:ext cx="639360" cy="639360"/>
          </a:xfrm>
          <a:prstGeom prst="roundRect">
            <a:avLst>
              <a:gd name="adj" fmla="val 28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15" name="Image 2" descr="../mekenet/icons/offline.png"/>
          <p:cNvPicPr/>
          <p:nvPr/>
        </p:nvPicPr>
        <p:blipFill>
          <a:blip r:embed="rId3"/>
          <a:stretch/>
        </p:blipFill>
        <p:spPr>
          <a:xfrm>
            <a:off x="768960" y="4289400"/>
            <a:ext cx="473040" cy="47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6" name="Text 12"/>
          <p:cNvSpPr/>
          <p:nvPr/>
        </p:nvSpPr>
        <p:spPr>
          <a:xfrm>
            <a:off x="1508760" y="4206240"/>
            <a:ext cx="4205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Offline-Mode Testing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7" name="Text 13"/>
          <p:cNvSpPr/>
          <p:nvPr/>
        </p:nvSpPr>
        <p:spPr>
          <a:xfrm>
            <a:off x="1508760" y="4544640"/>
            <a:ext cx="4205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No network required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8" name="Shape 14"/>
          <p:cNvSpPr/>
          <p:nvPr/>
        </p:nvSpPr>
        <p:spPr>
          <a:xfrm>
            <a:off x="685800" y="5212080"/>
            <a:ext cx="639360" cy="639360"/>
          </a:xfrm>
          <a:prstGeom prst="roundRect">
            <a:avLst>
              <a:gd name="adj" fmla="val 28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19" name="Image 3" descr="../mekenet/icons/target.png"/>
          <p:cNvPicPr/>
          <p:nvPr/>
        </p:nvPicPr>
        <p:blipFill>
          <a:blip r:embed="rId4"/>
          <a:stretch/>
        </p:blipFill>
        <p:spPr>
          <a:xfrm>
            <a:off x="768960" y="5295240"/>
            <a:ext cx="473040" cy="47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0" name="Text 15"/>
          <p:cNvSpPr/>
          <p:nvPr/>
        </p:nvSpPr>
        <p:spPr>
          <a:xfrm>
            <a:off x="1508760" y="5212080"/>
            <a:ext cx="4205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Corpus Accuracy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1" name="Text 16"/>
          <p:cNvSpPr/>
          <p:nvPr/>
        </p:nvSpPr>
        <p:spPr>
          <a:xfrm>
            <a:off x="1508760" y="5550480"/>
            <a:ext cx="4205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Measured, not assumed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2" name="Shape 17"/>
          <p:cNvSpPr/>
          <p:nvPr/>
        </p:nvSpPr>
        <p:spPr>
          <a:xfrm>
            <a:off x="6263640" y="1783080"/>
            <a:ext cx="17640" cy="4251240"/>
          </a:xfrm>
          <a:prstGeom prst="rect">
            <a:avLst/>
          </a:prstGeom>
          <a:solidFill>
            <a:srgbClr val="4a32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3" name="Text 18"/>
          <p:cNvSpPr/>
          <p:nvPr/>
        </p:nvSpPr>
        <p:spPr>
          <a:xfrm>
            <a:off x="6537960" y="178308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01" strike="noStrike" u="none">
                <a:solidFill>
                  <a:srgbClr val="d4a017"/>
                </a:solidFill>
                <a:uFillTx/>
                <a:latin typeface="Calibri"/>
                <a:ea typeface="Calibri"/>
              </a:rPr>
              <a:t>EVALUATION CRITERIA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4" name="Shape 19"/>
          <p:cNvSpPr/>
          <p:nvPr/>
        </p:nvSpPr>
        <p:spPr>
          <a:xfrm>
            <a:off x="6675120" y="2194560"/>
            <a:ext cx="639360" cy="639360"/>
          </a:xfrm>
          <a:prstGeom prst="roundRect">
            <a:avLst>
              <a:gd name="adj" fmla="val 28000"/>
            </a:avLst>
          </a:prstGeom>
          <a:solidFill>
            <a:srgbClr val="7a8b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25" name="Image 4" descr="../mekenet/icons/chart.png"/>
          <p:cNvPicPr/>
          <p:nvPr/>
        </p:nvPicPr>
        <p:blipFill>
          <a:blip r:embed="rId5"/>
          <a:stretch/>
        </p:blipFill>
        <p:spPr>
          <a:xfrm>
            <a:off x="6758280" y="2277720"/>
            <a:ext cx="473040" cy="47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6" name="Text 20"/>
          <p:cNvSpPr/>
          <p:nvPr/>
        </p:nvSpPr>
        <p:spPr>
          <a:xfrm>
            <a:off x="7498080" y="2194560"/>
            <a:ext cx="4205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Parsing Accuracy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7" name="Text 21"/>
          <p:cNvSpPr/>
          <p:nvPr/>
        </p:nvSpPr>
        <p:spPr>
          <a:xfrm>
            <a:off x="7498080" y="2532960"/>
            <a:ext cx="4205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Honest % on real data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8" name="Shape 22"/>
          <p:cNvSpPr/>
          <p:nvPr/>
        </p:nvSpPr>
        <p:spPr>
          <a:xfrm>
            <a:off x="6675120" y="3200400"/>
            <a:ext cx="639360" cy="639360"/>
          </a:xfrm>
          <a:prstGeom prst="roundRect">
            <a:avLst>
              <a:gd name="adj" fmla="val 28000"/>
            </a:avLst>
          </a:prstGeom>
          <a:solidFill>
            <a:srgbClr val="7a8b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29" name="Image 5" descr="../mekenet/icons/clock.png"/>
          <p:cNvPicPr/>
          <p:nvPr/>
        </p:nvPicPr>
        <p:blipFill>
          <a:blip r:embed="rId6"/>
          <a:stretch/>
        </p:blipFill>
        <p:spPr>
          <a:xfrm>
            <a:off x="6758280" y="3283560"/>
            <a:ext cx="473040" cy="47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0" name="Text 23"/>
          <p:cNvSpPr/>
          <p:nvPr/>
        </p:nvSpPr>
        <p:spPr>
          <a:xfrm>
            <a:off x="7498080" y="3200400"/>
            <a:ext cx="4205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Offline Reliability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1" name="Text 24"/>
          <p:cNvSpPr/>
          <p:nvPr/>
        </p:nvSpPr>
        <p:spPr>
          <a:xfrm>
            <a:off x="7498080" y="3538800"/>
            <a:ext cx="4205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Proven live on demo day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2" name="Shape 25"/>
          <p:cNvSpPr/>
          <p:nvPr/>
        </p:nvSpPr>
        <p:spPr>
          <a:xfrm>
            <a:off x="6675120" y="4206240"/>
            <a:ext cx="639360" cy="639360"/>
          </a:xfrm>
          <a:prstGeom prst="roundRect">
            <a:avLst>
              <a:gd name="adj" fmla="val 28000"/>
            </a:avLst>
          </a:prstGeom>
          <a:solidFill>
            <a:srgbClr val="7a8b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33" name="Image 6" descr="../mekenet/icons/trust.png"/>
          <p:cNvPicPr/>
          <p:nvPr/>
        </p:nvPicPr>
        <p:blipFill>
          <a:blip r:embed="rId7"/>
          <a:stretch/>
        </p:blipFill>
        <p:spPr>
          <a:xfrm>
            <a:off x="6758280" y="4289400"/>
            <a:ext cx="473040" cy="47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Text 26"/>
          <p:cNvSpPr/>
          <p:nvPr/>
        </p:nvSpPr>
        <p:spPr>
          <a:xfrm>
            <a:off x="7498080" y="4206240"/>
            <a:ext cx="4205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Onboarding Clarity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5" name="Text 27"/>
          <p:cNvSpPr/>
          <p:nvPr/>
        </p:nvSpPr>
        <p:spPr>
          <a:xfrm>
            <a:off x="7498080" y="4544640"/>
            <a:ext cx="4205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Clear permissions &amp; PIN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6" name="Shape 28"/>
          <p:cNvSpPr/>
          <p:nvPr/>
        </p:nvSpPr>
        <p:spPr>
          <a:xfrm>
            <a:off x="6675120" y="5212080"/>
            <a:ext cx="639360" cy="639360"/>
          </a:xfrm>
          <a:prstGeom prst="roundRect">
            <a:avLst>
              <a:gd name="adj" fmla="val 28000"/>
            </a:avLst>
          </a:prstGeom>
          <a:solidFill>
            <a:srgbClr val="7a8b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37" name="Image 7" descr="../mekenet/icons/check.png"/>
          <p:cNvPicPr/>
          <p:nvPr/>
        </p:nvPicPr>
        <p:blipFill>
          <a:blip r:embed="rId8"/>
          <a:stretch/>
        </p:blipFill>
        <p:spPr>
          <a:xfrm>
            <a:off x="6758280" y="5295240"/>
            <a:ext cx="473040" cy="47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Text 29"/>
          <p:cNvSpPr/>
          <p:nvPr/>
        </p:nvSpPr>
        <p:spPr>
          <a:xfrm>
            <a:off x="7498080" y="5212080"/>
            <a:ext cx="4205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Demo Readiness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9" name="Text 30"/>
          <p:cNvSpPr/>
          <p:nvPr/>
        </p:nvSpPr>
        <p:spPr>
          <a:xfrm>
            <a:off x="7498080" y="5550480"/>
            <a:ext cx="4205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Full rehearsal, real device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Text 0"/>
          <p:cNvSpPr/>
          <p:nvPr/>
        </p:nvSpPr>
        <p:spPr>
          <a:xfrm>
            <a:off x="548640" y="41148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300" strike="noStrike" u="none">
                <a:solidFill>
                  <a:srgbClr val="b85042"/>
                </a:solidFill>
                <a:uFillTx/>
                <a:latin typeface="Calibri"/>
                <a:ea typeface="Calibri"/>
              </a:rPr>
              <a:t>USER INTERFACE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1" name="Text 1"/>
          <p:cNvSpPr/>
          <p:nvPr/>
        </p:nvSpPr>
        <p:spPr>
          <a:xfrm>
            <a:off x="548640" y="713160"/>
            <a:ext cx="9600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a1f18"/>
                </a:solidFill>
                <a:uFillTx/>
                <a:latin typeface="Bookman Old Style"/>
                <a:ea typeface="Bookman Old Style"/>
              </a:rPr>
              <a:t>UI Flow</a:t>
            </a:r>
            <a:endParaRPr b="0" lang="en-US" sz="3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2" name="Shape 2"/>
          <p:cNvSpPr/>
          <p:nvPr/>
        </p:nvSpPr>
        <p:spPr>
          <a:xfrm>
            <a:off x="11430000" y="6236280"/>
            <a:ext cx="438120" cy="438120"/>
          </a:xfrm>
          <a:prstGeom prst="roundRect">
            <a:avLst>
              <a:gd name="adj" fmla="val 20833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3" name="Text 3"/>
          <p:cNvSpPr/>
          <p:nvPr/>
        </p:nvSpPr>
        <p:spPr>
          <a:xfrm>
            <a:off x="11430000" y="623628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a2418"/>
                </a:solidFill>
                <a:uFillTx/>
                <a:latin typeface="Calibri"/>
                <a:ea typeface="Calibri"/>
              </a:rPr>
              <a:t>13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44" name="screen1" descr=""/>
          <p:cNvPicPr/>
          <p:nvPr/>
        </p:nvPicPr>
        <p:blipFill>
          <a:blip r:embed="rId1"/>
          <a:stretch/>
        </p:blipFill>
        <p:spPr>
          <a:xfrm>
            <a:off x="2065680" y="1737360"/>
            <a:ext cx="1603800" cy="329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5" name="screen2" descr=""/>
          <p:cNvPicPr/>
          <p:nvPr/>
        </p:nvPicPr>
        <p:blipFill>
          <a:blip r:embed="rId2"/>
          <a:stretch/>
        </p:blipFill>
        <p:spPr>
          <a:xfrm>
            <a:off x="3853080" y="1737360"/>
            <a:ext cx="1430640" cy="329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6" name="screen3" descr=""/>
          <p:cNvPicPr/>
          <p:nvPr/>
        </p:nvPicPr>
        <p:blipFill>
          <a:blip r:embed="rId3"/>
          <a:stretch/>
        </p:blipFill>
        <p:spPr>
          <a:xfrm>
            <a:off x="5467320" y="1737360"/>
            <a:ext cx="1418760" cy="329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7" name="screen4" descr=""/>
          <p:cNvPicPr/>
          <p:nvPr/>
        </p:nvPicPr>
        <p:blipFill>
          <a:blip r:embed="rId4"/>
          <a:stretch/>
        </p:blipFill>
        <p:spPr>
          <a:xfrm>
            <a:off x="7070040" y="1737360"/>
            <a:ext cx="1453320" cy="329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8" name="screen5" descr=""/>
          <p:cNvPicPr/>
          <p:nvPr/>
        </p:nvPicPr>
        <p:blipFill>
          <a:blip r:embed="rId5"/>
          <a:stretch/>
        </p:blipFill>
        <p:spPr>
          <a:xfrm>
            <a:off x="8706600" y="1737360"/>
            <a:ext cx="1418760" cy="329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9" name="Caption screen1"/>
          <p:cNvSpPr/>
          <p:nvPr/>
        </p:nvSpPr>
        <p:spPr>
          <a:xfrm>
            <a:off x="2065680" y="5120640"/>
            <a:ext cx="1603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Home Overview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0" name="Caption screen2"/>
          <p:cNvSpPr/>
          <p:nvPr/>
        </p:nvSpPr>
        <p:spPr>
          <a:xfrm>
            <a:off x="3853080" y="5120640"/>
            <a:ext cx="1430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Who Owes Me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1" name="Caption screen3"/>
          <p:cNvSpPr/>
          <p:nvPr/>
        </p:nvSpPr>
        <p:spPr>
          <a:xfrm>
            <a:off x="5467320" y="5120640"/>
            <a:ext cx="1418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SMS Access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2" name="Caption screen4"/>
          <p:cNvSpPr/>
          <p:nvPr/>
        </p:nvSpPr>
        <p:spPr>
          <a:xfrm>
            <a:off x="7070040" y="5120640"/>
            <a:ext cx="1453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Add Expense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3" name="Caption screen5"/>
          <p:cNvSpPr/>
          <p:nvPr/>
        </p:nvSpPr>
        <p:spPr>
          <a:xfrm>
            <a:off x="8706600" y="5120640"/>
            <a:ext cx="1418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SMS Access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Text 0"/>
          <p:cNvSpPr/>
          <p:nvPr/>
        </p:nvSpPr>
        <p:spPr>
          <a:xfrm>
            <a:off x="548640" y="41148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300" strike="noStrike" u="none">
                <a:solidFill>
                  <a:srgbClr val="b85042"/>
                </a:solidFill>
                <a:uFillTx/>
                <a:latin typeface="Calibri"/>
                <a:ea typeface="Calibri"/>
              </a:rPr>
              <a:t>DATA MODEL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5" name="Text 1"/>
          <p:cNvSpPr/>
          <p:nvPr/>
        </p:nvSpPr>
        <p:spPr>
          <a:xfrm>
            <a:off x="548640" y="713160"/>
            <a:ext cx="9600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a1f18"/>
                </a:solidFill>
                <a:uFillTx/>
                <a:latin typeface="Bookman Old Style"/>
                <a:ea typeface="Bookman Old Style"/>
              </a:rPr>
              <a:t>Class Diagram (Simplified)</a:t>
            </a:r>
            <a:endParaRPr b="0" lang="en-US" sz="3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6" name="Shape 2"/>
          <p:cNvSpPr/>
          <p:nvPr/>
        </p:nvSpPr>
        <p:spPr>
          <a:xfrm>
            <a:off x="11430000" y="6236280"/>
            <a:ext cx="438120" cy="438120"/>
          </a:xfrm>
          <a:prstGeom prst="roundRect">
            <a:avLst>
              <a:gd name="adj" fmla="val 20833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7" name="Text 3"/>
          <p:cNvSpPr/>
          <p:nvPr/>
        </p:nvSpPr>
        <p:spPr>
          <a:xfrm>
            <a:off x="11430000" y="623628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a2418"/>
                </a:solidFill>
                <a:uFillTx/>
                <a:latin typeface="Calibri"/>
                <a:ea typeface="Calibri"/>
              </a:rPr>
              <a:t>14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8" name="Shape 4"/>
          <p:cNvSpPr/>
          <p:nvPr/>
        </p:nvSpPr>
        <p:spPr>
          <a:xfrm>
            <a:off x="640080" y="1874520"/>
            <a:ext cx="2102400" cy="1599480"/>
          </a:xfrm>
          <a:prstGeom prst="roundRect">
            <a:avLst>
              <a:gd name="adj" fmla="val 5714"/>
            </a:avLst>
          </a:prstGeom>
          <a:solidFill>
            <a:srgbClr val="fbf3ec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9" name="Shape 5"/>
          <p:cNvSpPr/>
          <p:nvPr/>
        </p:nvSpPr>
        <p:spPr>
          <a:xfrm>
            <a:off x="640080" y="1874520"/>
            <a:ext cx="2102400" cy="328320"/>
          </a:xfrm>
          <a:prstGeom prst="roundRect">
            <a:avLst>
              <a:gd name="adj" fmla="val 27778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0" name="Shape 6"/>
          <p:cNvSpPr/>
          <p:nvPr/>
        </p:nvSpPr>
        <p:spPr>
          <a:xfrm>
            <a:off x="640080" y="2039040"/>
            <a:ext cx="2102400" cy="163800"/>
          </a:xfrm>
          <a:prstGeom prst="rect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1" name="Text 7"/>
          <p:cNvSpPr/>
          <p:nvPr/>
        </p:nvSpPr>
        <p:spPr>
          <a:xfrm>
            <a:off x="640080" y="1874520"/>
            <a:ext cx="21024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User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2" name="Text 8"/>
          <p:cNvSpPr/>
          <p:nvPr/>
        </p:nvSpPr>
        <p:spPr>
          <a:xfrm>
            <a:off x="749880" y="2258640"/>
            <a:ext cx="1882800" cy="73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a1f18"/>
                </a:solidFill>
                <a:uFillTx/>
                <a:latin typeface="Courier New"/>
                <a:ea typeface="Courier New"/>
              </a:rPr>
              <a:t>userId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a1f18"/>
                </a:solidFill>
                <a:uFillTx/>
                <a:latin typeface="Courier New"/>
                <a:ea typeface="Courier New"/>
              </a:rPr>
              <a:t>nameA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a1f18"/>
                </a:solidFill>
                <a:uFillTx/>
                <a:latin typeface="Courier New"/>
                <a:ea typeface="Courier New"/>
              </a:rPr>
              <a:t>phone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a1f18"/>
                </a:solidFill>
                <a:uFillTx/>
                <a:latin typeface="Courier New"/>
                <a:ea typeface="Courier New"/>
              </a:rPr>
              <a:t>pinHasha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3" name="Shape 9"/>
          <p:cNvSpPr/>
          <p:nvPr/>
        </p:nvSpPr>
        <p:spPr>
          <a:xfrm>
            <a:off x="713160" y="3026520"/>
            <a:ext cx="1956600" cy="360"/>
          </a:xfrm>
          <a:prstGeom prst="line">
            <a:avLst/>
          </a:prstGeom>
          <a:ln w="12700">
            <a:solidFill>
              <a:srgbClr val="f3e6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4" name="Text 10"/>
          <p:cNvSpPr/>
          <p:nvPr/>
        </p:nvSpPr>
        <p:spPr>
          <a:xfrm>
            <a:off x="749880" y="3081600"/>
            <a:ext cx="188280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b85042"/>
                </a:solidFill>
                <a:uFillTx/>
                <a:latin typeface="Courier New"/>
                <a:ea typeface="Courier New"/>
              </a:rPr>
              <a:t>+register()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b85042"/>
                </a:solidFill>
                <a:uFillTx/>
                <a:latin typeface="Courier New"/>
                <a:ea typeface="Courier New"/>
              </a:rPr>
              <a:t>+setupPin()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5" name="Shape 11"/>
          <p:cNvSpPr/>
          <p:nvPr/>
        </p:nvSpPr>
        <p:spPr>
          <a:xfrm>
            <a:off x="3246120" y="1874520"/>
            <a:ext cx="2331000" cy="1919520"/>
          </a:xfrm>
          <a:prstGeom prst="roundRect">
            <a:avLst>
              <a:gd name="adj" fmla="val 4762"/>
            </a:avLst>
          </a:prstGeom>
          <a:solidFill>
            <a:srgbClr val="f3e6dc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6" name="Shape 12"/>
          <p:cNvSpPr/>
          <p:nvPr/>
        </p:nvSpPr>
        <p:spPr>
          <a:xfrm>
            <a:off x="3246120" y="1874520"/>
            <a:ext cx="2331000" cy="328320"/>
          </a:xfrm>
          <a:prstGeom prst="roundRect">
            <a:avLst>
              <a:gd name="adj" fmla="val 27778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7" name="Shape 13"/>
          <p:cNvSpPr/>
          <p:nvPr/>
        </p:nvSpPr>
        <p:spPr>
          <a:xfrm>
            <a:off x="3246120" y="2039040"/>
            <a:ext cx="2331000" cy="163800"/>
          </a:xfrm>
          <a:prstGeom prst="rect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8" name="Text 14"/>
          <p:cNvSpPr/>
          <p:nvPr/>
        </p:nvSpPr>
        <p:spPr>
          <a:xfrm>
            <a:off x="3246120" y="1874520"/>
            <a:ext cx="23310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Transaction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9" name="Text 15"/>
          <p:cNvSpPr/>
          <p:nvPr/>
        </p:nvSpPr>
        <p:spPr>
          <a:xfrm>
            <a:off x="3355920" y="2258640"/>
            <a:ext cx="21114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a1f18"/>
                </a:solidFill>
                <a:uFillTx/>
                <a:latin typeface="Courier New"/>
                <a:ea typeface="Courier New"/>
              </a:rPr>
              <a:t>transactionId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a1f18"/>
                </a:solidFill>
                <a:uFillTx/>
                <a:latin typeface="Courier New"/>
                <a:ea typeface="Courier New"/>
              </a:rPr>
              <a:t>amount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a1f18"/>
                </a:solidFill>
                <a:uFillTx/>
                <a:latin typeface="Courier New"/>
                <a:ea typeface="Courier New"/>
              </a:rPr>
              <a:t>sender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a1f18"/>
                </a:solidFill>
                <a:uFillTx/>
                <a:latin typeface="Courier New"/>
                <a:ea typeface="Courier New"/>
              </a:rPr>
              <a:t>type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a1f18"/>
                </a:solidFill>
                <a:uFillTx/>
                <a:latin typeface="Courier New"/>
                <a:ea typeface="Courier New"/>
              </a:rPr>
              <a:t>timestamp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0" name="Shape 16"/>
          <p:cNvSpPr/>
          <p:nvPr/>
        </p:nvSpPr>
        <p:spPr>
          <a:xfrm>
            <a:off x="3319200" y="3200400"/>
            <a:ext cx="2185200" cy="360"/>
          </a:xfrm>
          <a:prstGeom prst="line">
            <a:avLst/>
          </a:prstGeom>
          <a:ln w="12700">
            <a:solidFill>
              <a:srgbClr val="f3e6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1" name="Text 17"/>
          <p:cNvSpPr/>
          <p:nvPr/>
        </p:nvSpPr>
        <p:spPr>
          <a:xfrm>
            <a:off x="3355920" y="3255120"/>
            <a:ext cx="211140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b85042"/>
                </a:solidFill>
                <a:uFillTx/>
                <a:latin typeface="Courier New"/>
                <a:ea typeface="Courier New"/>
              </a:rPr>
              <a:t>+parseFromSMS()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b85042"/>
                </a:solidFill>
                <a:uFillTx/>
                <a:latin typeface="Courier New"/>
                <a:ea typeface="Courier New"/>
              </a:rPr>
              <a:t>+save()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2" name="Shape 18"/>
          <p:cNvSpPr/>
          <p:nvPr/>
        </p:nvSpPr>
        <p:spPr>
          <a:xfrm>
            <a:off x="3246120" y="4343400"/>
            <a:ext cx="2331000" cy="1736640"/>
          </a:xfrm>
          <a:prstGeom prst="roundRect">
            <a:avLst>
              <a:gd name="adj" fmla="val 5263"/>
            </a:avLst>
          </a:prstGeom>
          <a:solidFill>
            <a:srgbClr val="f3e6dc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3" name="Shape 19"/>
          <p:cNvSpPr/>
          <p:nvPr/>
        </p:nvSpPr>
        <p:spPr>
          <a:xfrm>
            <a:off x="3246120" y="4343400"/>
            <a:ext cx="2331000" cy="328320"/>
          </a:xfrm>
          <a:prstGeom prst="roundRect">
            <a:avLst>
              <a:gd name="adj" fmla="val 27778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74" name="Shape 20"/>
          <p:cNvSpPr/>
          <p:nvPr/>
        </p:nvSpPr>
        <p:spPr>
          <a:xfrm>
            <a:off x="3246120" y="4507920"/>
            <a:ext cx="2331000" cy="163800"/>
          </a:xfrm>
          <a:prstGeom prst="rect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75" name="Text 21"/>
          <p:cNvSpPr/>
          <p:nvPr/>
        </p:nvSpPr>
        <p:spPr>
          <a:xfrm>
            <a:off x="3246120" y="4343400"/>
            <a:ext cx="23310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Debt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6" name="Text 22"/>
          <p:cNvSpPr/>
          <p:nvPr/>
        </p:nvSpPr>
        <p:spPr>
          <a:xfrm>
            <a:off x="3355920" y="4727520"/>
            <a:ext cx="2111400" cy="73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a1f18"/>
                </a:solidFill>
                <a:uFillTx/>
                <a:latin typeface="Courier New"/>
                <a:ea typeface="Courier New"/>
              </a:rPr>
              <a:t>debtId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a1f18"/>
                </a:solidFill>
                <a:uFillTx/>
                <a:latin typeface="Courier New"/>
                <a:ea typeface="Courier New"/>
              </a:rPr>
              <a:t>personName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a1f18"/>
                </a:solidFill>
                <a:uFillTx/>
                <a:latin typeface="Courier New"/>
                <a:ea typeface="Courier New"/>
              </a:rPr>
              <a:t>amount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a1f18"/>
                </a:solidFill>
                <a:uFillTx/>
                <a:latin typeface="Courier New"/>
                <a:ea typeface="Courier New"/>
              </a:rPr>
              <a:t>dateAdded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7" name="Shape 23"/>
          <p:cNvSpPr/>
          <p:nvPr/>
        </p:nvSpPr>
        <p:spPr>
          <a:xfrm>
            <a:off x="3319200" y="5495400"/>
            <a:ext cx="2185200" cy="360"/>
          </a:xfrm>
          <a:prstGeom prst="line">
            <a:avLst/>
          </a:prstGeom>
          <a:ln w="12700">
            <a:solidFill>
              <a:srgbClr val="f3e6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8" name="Text 24"/>
          <p:cNvSpPr/>
          <p:nvPr/>
        </p:nvSpPr>
        <p:spPr>
          <a:xfrm>
            <a:off x="3355920" y="5550480"/>
            <a:ext cx="21114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b85042"/>
                </a:solidFill>
                <a:uFillTx/>
                <a:latin typeface="Courier New"/>
                <a:ea typeface="Courier New"/>
              </a:rPr>
              <a:t>+markSettled()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9" name="Shape 25"/>
          <p:cNvSpPr/>
          <p:nvPr/>
        </p:nvSpPr>
        <p:spPr>
          <a:xfrm>
            <a:off x="6629400" y="1874520"/>
            <a:ext cx="2331000" cy="1736640"/>
          </a:xfrm>
          <a:prstGeom prst="roundRect">
            <a:avLst>
              <a:gd name="adj" fmla="val 5263"/>
            </a:avLst>
          </a:prstGeom>
          <a:solidFill>
            <a:srgbClr val="fbf3ec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0" name="Shape 26"/>
          <p:cNvSpPr/>
          <p:nvPr/>
        </p:nvSpPr>
        <p:spPr>
          <a:xfrm>
            <a:off x="6629400" y="1874520"/>
            <a:ext cx="2331000" cy="328320"/>
          </a:xfrm>
          <a:prstGeom prst="roundRect">
            <a:avLst>
              <a:gd name="adj" fmla="val 27778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81" name="Shape 27"/>
          <p:cNvSpPr/>
          <p:nvPr/>
        </p:nvSpPr>
        <p:spPr>
          <a:xfrm>
            <a:off x="6629400" y="2039040"/>
            <a:ext cx="2331000" cy="163800"/>
          </a:xfrm>
          <a:prstGeom prst="rect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82" name="Text 28"/>
          <p:cNvSpPr/>
          <p:nvPr/>
        </p:nvSpPr>
        <p:spPr>
          <a:xfrm>
            <a:off x="6629400" y="1874520"/>
            <a:ext cx="23310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PriceMatchRule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3" name="Text 29"/>
          <p:cNvSpPr/>
          <p:nvPr/>
        </p:nvSpPr>
        <p:spPr>
          <a:xfrm>
            <a:off x="6739200" y="2258640"/>
            <a:ext cx="2111400" cy="73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a1f18"/>
                </a:solidFill>
                <a:uFillTx/>
                <a:latin typeface="Courier New"/>
                <a:ea typeface="Courier New"/>
              </a:rPr>
              <a:t>ruleId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a1f18"/>
                </a:solidFill>
                <a:uFillTx/>
                <a:latin typeface="Courier New"/>
                <a:ea typeface="Courier New"/>
              </a:rPr>
              <a:t>itemId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a1f18"/>
                </a:solidFill>
                <a:uFillTx/>
                <a:latin typeface="Courier New"/>
                <a:ea typeface="Courier New"/>
              </a:rPr>
              <a:t>priceRange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a1f18"/>
                </a:solidFill>
                <a:uFillTx/>
                <a:latin typeface="Courier New"/>
                <a:ea typeface="Courier New"/>
              </a:rPr>
              <a:t>confidence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4" name="Shape 30"/>
          <p:cNvSpPr/>
          <p:nvPr/>
        </p:nvSpPr>
        <p:spPr>
          <a:xfrm>
            <a:off x="6702480" y="3026520"/>
            <a:ext cx="2185200" cy="360"/>
          </a:xfrm>
          <a:prstGeom prst="line">
            <a:avLst/>
          </a:prstGeom>
          <a:ln w="12700">
            <a:solidFill>
              <a:srgbClr val="f3e6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5" name="Text 31"/>
          <p:cNvSpPr/>
          <p:nvPr/>
        </p:nvSpPr>
        <p:spPr>
          <a:xfrm>
            <a:off x="6739200" y="3081600"/>
            <a:ext cx="21114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b85042"/>
                </a:solidFill>
                <a:uFillTx/>
                <a:latin typeface="Courier New"/>
                <a:ea typeface="Courier New"/>
              </a:rPr>
              <a:t>+matchTransaction()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6" name="Shape 32"/>
          <p:cNvSpPr/>
          <p:nvPr/>
        </p:nvSpPr>
        <p:spPr>
          <a:xfrm>
            <a:off x="9921240" y="1874520"/>
            <a:ext cx="1782360" cy="1599480"/>
          </a:xfrm>
          <a:prstGeom prst="roundRect">
            <a:avLst>
              <a:gd name="adj" fmla="val 5714"/>
            </a:avLst>
          </a:prstGeom>
          <a:solidFill>
            <a:srgbClr val="fbf3ec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7" name="Shape 33"/>
          <p:cNvSpPr/>
          <p:nvPr/>
        </p:nvSpPr>
        <p:spPr>
          <a:xfrm>
            <a:off x="9921240" y="1874520"/>
            <a:ext cx="1782360" cy="328320"/>
          </a:xfrm>
          <a:prstGeom prst="roundRect">
            <a:avLst>
              <a:gd name="adj" fmla="val 27778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88" name="Shape 34"/>
          <p:cNvSpPr/>
          <p:nvPr/>
        </p:nvSpPr>
        <p:spPr>
          <a:xfrm>
            <a:off x="9921240" y="2039040"/>
            <a:ext cx="1782360" cy="163800"/>
          </a:xfrm>
          <a:prstGeom prst="rect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89" name="Text 35"/>
          <p:cNvSpPr/>
          <p:nvPr/>
        </p:nvSpPr>
        <p:spPr>
          <a:xfrm>
            <a:off x="9921240" y="1874520"/>
            <a:ext cx="17823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Item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0" name="Text 36"/>
          <p:cNvSpPr/>
          <p:nvPr/>
        </p:nvSpPr>
        <p:spPr>
          <a:xfrm>
            <a:off x="10031040" y="2258640"/>
            <a:ext cx="15627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a1f18"/>
                </a:solidFill>
                <a:uFillTx/>
                <a:latin typeface="Courier New"/>
                <a:ea typeface="Courier New"/>
              </a:rPr>
              <a:t>itemId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a1f18"/>
                </a:solidFill>
                <a:uFillTx/>
                <a:latin typeface="Courier New"/>
                <a:ea typeface="Courier New"/>
              </a:rPr>
              <a:t>name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a1f18"/>
                </a:solidFill>
                <a:uFillTx/>
                <a:latin typeface="Courier New"/>
                <a:ea typeface="Courier New"/>
              </a:rPr>
              <a:t>avgPrice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1" name="Shape 37"/>
          <p:cNvSpPr/>
          <p:nvPr/>
        </p:nvSpPr>
        <p:spPr>
          <a:xfrm>
            <a:off x="9994320" y="2852640"/>
            <a:ext cx="1636560" cy="360"/>
          </a:xfrm>
          <a:prstGeom prst="line">
            <a:avLst/>
          </a:prstGeom>
          <a:ln w="12700">
            <a:solidFill>
              <a:srgbClr val="f3e6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2" name="Text 38"/>
          <p:cNvSpPr/>
          <p:nvPr/>
        </p:nvSpPr>
        <p:spPr>
          <a:xfrm>
            <a:off x="10031040" y="2907720"/>
            <a:ext cx="15627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b85042"/>
                </a:solidFill>
                <a:uFillTx/>
                <a:latin typeface="Courier New"/>
                <a:ea typeface="Courier New"/>
              </a:rPr>
              <a:t>+updatePrice()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3" name="Shape 39"/>
          <p:cNvSpPr/>
          <p:nvPr/>
        </p:nvSpPr>
        <p:spPr>
          <a:xfrm>
            <a:off x="2743200" y="2377440"/>
            <a:ext cx="502920" cy="360"/>
          </a:xfrm>
          <a:prstGeom prst="line">
            <a:avLst/>
          </a:prstGeom>
          <a:ln w="15875">
            <a:solidFill>
              <a:srgbClr val="8a756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4" name="Text 40"/>
          <p:cNvSpPr/>
          <p:nvPr/>
        </p:nvSpPr>
        <p:spPr>
          <a:xfrm>
            <a:off x="2674800" y="2084760"/>
            <a:ext cx="6393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b85042"/>
                </a:solidFill>
                <a:uFillTx/>
                <a:latin typeface="Calibri"/>
                <a:ea typeface="Calibri"/>
              </a:rPr>
              <a:t>1:n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5" name="Shape 41"/>
          <p:cNvSpPr/>
          <p:nvPr/>
        </p:nvSpPr>
        <p:spPr>
          <a:xfrm>
            <a:off x="2112120" y="3474720"/>
            <a:ext cx="1366920" cy="868680"/>
          </a:xfrm>
          <a:prstGeom prst="line">
            <a:avLst/>
          </a:prstGeom>
          <a:ln w="15875">
            <a:solidFill>
              <a:srgbClr val="8a756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6" name="Text 42"/>
          <p:cNvSpPr/>
          <p:nvPr/>
        </p:nvSpPr>
        <p:spPr>
          <a:xfrm>
            <a:off x="2475720" y="3963960"/>
            <a:ext cx="6393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b85042"/>
                </a:solidFill>
                <a:uFillTx/>
                <a:latin typeface="Calibri"/>
                <a:ea typeface="Calibri"/>
              </a:rPr>
              <a:t>1:n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7" name="Shape 43"/>
          <p:cNvSpPr/>
          <p:nvPr/>
        </p:nvSpPr>
        <p:spPr>
          <a:xfrm>
            <a:off x="5577840" y="2788920"/>
            <a:ext cx="1051560" cy="360"/>
          </a:xfrm>
          <a:prstGeom prst="line">
            <a:avLst/>
          </a:prstGeom>
          <a:ln w="15875">
            <a:solidFill>
              <a:srgbClr val="8a756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8" name="Text 44"/>
          <p:cNvSpPr/>
          <p:nvPr/>
        </p:nvSpPr>
        <p:spPr>
          <a:xfrm>
            <a:off x="5783760" y="2496240"/>
            <a:ext cx="6393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b85042"/>
                </a:solidFill>
                <a:uFillTx/>
                <a:latin typeface="Calibri"/>
                <a:ea typeface="Calibri"/>
              </a:rPr>
              <a:t>m:n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9" name="Shape 45"/>
          <p:cNvSpPr/>
          <p:nvPr/>
        </p:nvSpPr>
        <p:spPr>
          <a:xfrm>
            <a:off x="8961120" y="2377440"/>
            <a:ext cx="960120" cy="360"/>
          </a:xfrm>
          <a:prstGeom prst="line">
            <a:avLst/>
          </a:prstGeom>
          <a:ln w="15875">
            <a:solidFill>
              <a:srgbClr val="8a756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0" name="Text 46"/>
          <p:cNvSpPr/>
          <p:nvPr/>
        </p:nvSpPr>
        <p:spPr>
          <a:xfrm>
            <a:off x="9121320" y="2084760"/>
            <a:ext cx="6393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b85042"/>
                </a:solidFill>
                <a:uFillTx/>
                <a:latin typeface="Calibri"/>
                <a:ea typeface="Calibri"/>
              </a:rPr>
              <a:t>n:1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1" name="Text 47"/>
          <p:cNvSpPr/>
          <p:nvPr/>
        </p:nvSpPr>
        <p:spPr>
          <a:xfrm>
            <a:off x="640080" y="6080760"/>
            <a:ext cx="10880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trike="noStrike" u="none">
                <a:solidFill>
                  <a:srgbClr val="8a7565"/>
                </a:solidFill>
                <a:uFillTx/>
                <a:latin typeface="Calibri"/>
                <a:ea typeface="Calibri"/>
              </a:rPr>
              <a:t>User → Transaction &amp; Debt (1:n). PriceMatchRule links a Transaction to a learned Item (n:1).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a2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Text 0"/>
          <p:cNvSpPr/>
          <p:nvPr/>
        </p:nvSpPr>
        <p:spPr>
          <a:xfrm>
            <a:off x="548640" y="41148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300" strike="noStrike" u="none">
                <a:solidFill>
                  <a:srgbClr val="d4a017"/>
                </a:solidFill>
                <a:uFillTx/>
                <a:latin typeface="Calibri"/>
                <a:ea typeface="Calibri"/>
              </a:rPr>
              <a:t>UNDER THE HOOD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03" name="Text 1"/>
          <p:cNvSpPr/>
          <p:nvPr/>
        </p:nvSpPr>
        <p:spPr>
          <a:xfrm>
            <a:off x="548640" y="713160"/>
            <a:ext cx="9600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uFillTx/>
                <a:latin typeface="Bookman Old Style"/>
                <a:ea typeface="Bookman Old Style"/>
              </a:rPr>
              <a:t>Technologies Used</a:t>
            </a:r>
            <a:endParaRPr b="0" lang="en-US" sz="3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04" name="Shape 2"/>
          <p:cNvSpPr/>
          <p:nvPr/>
        </p:nvSpPr>
        <p:spPr>
          <a:xfrm>
            <a:off x="11430000" y="6236280"/>
            <a:ext cx="438120" cy="438120"/>
          </a:xfrm>
          <a:prstGeom prst="roundRect">
            <a:avLst>
              <a:gd name="adj" fmla="val 20833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5" name="Text 3"/>
          <p:cNvSpPr/>
          <p:nvPr/>
        </p:nvSpPr>
        <p:spPr>
          <a:xfrm>
            <a:off x="11430000" y="623628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a2418"/>
                </a:solidFill>
                <a:uFillTx/>
                <a:latin typeface="Calibri"/>
                <a:ea typeface="Calibri"/>
              </a:rPr>
              <a:t>15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06" name="Shape 4"/>
          <p:cNvSpPr/>
          <p:nvPr/>
        </p:nvSpPr>
        <p:spPr>
          <a:xfrm>
            <a:off x="548640" y="1920240"/>
            <a:ext cx="2084040" cy="3565440"/>
          </a:xfrm>
          <a:prstGeom prst="roundRect">
            <a:avLst>
              <a:gd name="adj" fmla="val 6140"/>
            </a:avLst>
          </a:prstGeom>
          <a:solidFill>
            <a:srgbClr val="4a3222"/>
          </a:solidFill>
          <a:ln w="1905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07" name="Shape 5"/>
          <p:cNvSpPr/>
          <p:nvPr/>
        </p:nvSpPr>
        <p:spPr>
          <a:xfrm>
            <a:off x="1207080" y="2331720"/>
            <a:ext cx="776520" cy="776520"/>
          </a:xfrm>
          <a:prstGeom prst="roundRect">
            <a:avLst>
              <a:gd name="adj" fmla="val 28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08" name="Image 0" descr="../mekenet/icons/phone.png"/>
          <p:cNvPicPr/>
          <p:nvPr/>
        </p:nvPicPr>
        <p:blipFill>
          <a:blip r:embed="rId1"/>
          <a:stretch/>
        </p:blipFill>
        <p:spPr>
          <a:xfrm>
            <a:off x="1307880" y="2432880"/>
            <a:ext cx="574560" cy="57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9" name="Text 6"/>
          <p:cNvSpPr/>
          <p:nvPr/>
        </p:nvSpPr>
        <p:spPr>
          <a:xfrm>
            <a:off x="685800" y="3291840"/>
            <a:ext cx="1809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50" strike="noStrike" u="none">
                <a:solidFill>
                  <a:srgbClr val="d4a017"/>
                </a:solidFill>
                <a:uFillTx/>
                <a:latin typeface="Calibri"/>
                <a:ea typeface="Calibri"/>
              </a:rPr>
              <a:t>APP</a:t>
            </a:r>
            <a:endParaRPr b="0" lang="en-US" sz="11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10" name="Text 7"/>
          <p:cNvSpPr/>
          <p:nvPr/>
        </p:nvSpPr>
        <p:spPr>
          <a:xfrm>
            <a:off x="685800" y="3703320"/>
            <a:ext cx="180972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Flutter (Dart)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Android (pilot)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11" name="Shape 8"/>
          <p:cNvSpPr/>
          <p:nvPr/>
        </p:nvSpPr>
        <p:spPr>
          <a:xfrm>
            <a:off x="2853000" y="1920240"/>
            <a:ext cx="2084040" cy="3565440"/>
          </a:xfrm>
          <a:prstGeom prst="roundRect">
            <a:avLst>
              <a:gd name="adj" fmla="val 6140"/>
            </a:avLst>
          </a:prstGeom>
          <a:solidFill>
            <a:srgbClr val="4a3222"/>
          </a:solidFill>
          <a:ln w="19050">
            <a:solidFill>
              <a:srgbClr val="7a8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12" name="Shape 9"/>
          <p:cNvSpPr/>
          <p:nvPr/>
        </p:nvSpPr>
        <p:spPr>
          <a:xfrm>
            <a:off x="3511440" y="2331720"/>
            <a:ext cx="776520" cy="776520"/>
          </a:xfrm>
          <a:prstGeom prst="roundRect">
            <a:avLst>
              <a:gd name="adj" fmla="val 28000"/>
            </a:avLst>
          </a:prstGeom>
          <a:solidFill>
            <a:srgbClr val="7a8b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13" name="Image 1" descr="../mekenet/icons/server.png"/>
          <p:cNvPicPr/>
          <p:nvPr/>
        </p:nvPicPr>
        <p:blipFill>
          <a:blip r:embed="rId2"/>
          <a:stretch/>
        </p:blipFill>
        <p:spPr>
          <a:xfrm>
            <a:off x="3612240" y="2432880"/>
            <a:ext cx="574560" cy="57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4" name="Text 10"/>
          <p:cNvSpPr/>
          <p:nvPr/>
        </p:nvSpPr>
        <p:spPr>
          <a:xfrm>
            <a:off x="2990160" y="3291840"/>
            <a:ext cx="1809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50" strike="noStrike" u="none">
                <a:solidFill>
                  <a:srgbClr val="d4a017"/>
                </a:solidFill>
                <a:uFillTx/>
                <a:latin typeface="Calibri"/>
                <a:ea typeface="Calibri"/>
              </a:rPr>
              <a:t>BACKEND</a:t>
            </a:r>
            <a:endParaRPr b="0" lang="en-US" sz="11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15" name="Text 11"/>
          <p:cNvSpPr/>
          <p:nvPr/>
        </p:nvSpPr>
        <p:spPr>
          <a:xfrm>
            <a:off x="2990160" y="3703320"/>
            <a:ext cx="180972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Python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FastAPI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16" name="Shape 12"/>
          <p:cNvSpPr/>
          <p:nvPr/>
        </p:nvSpPr>
        <p:spPr>
          <a:xfrm>
            <a:off x="5157360" y="1920240"/>
            <a:ext cx="2084040" cy="3565440"/>
          </a:xfrm>
          <a:prstGeom prst="roundRect">
            <a:avLst>
              <a:gd name="adj" fmla="val 6140"/>
            </a:avLst>
          </a:prstGeom>
          <a:solidFill>
            <a:srgbClr val="4a3222"/>
          </a:solidFill>
          <a:ln w="1905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17" name="Shape 13"/>
          <p:cNvSpPr/>
          <p:nvPr/>
        </p:nvSpPr>
        <p:spPr>
          <a:xfrm>
            <a:off x="5815440" y="2331720"/>
            <a:ext cx="776520" cy="776520"/>
          </a:xfrm>
          <a:prstGeom prst="roundRect">
            <a:avLst>
              <a:gd name="adj" fmla="val 28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18" name="Image 2" descr="../mekenet/icons/database.png"/>
          <p:cNvPicPr/>
          <p:nvPr/>
        </p:nvPicPr>
        <p:blipFill>
          <a:blip r:embed="rId3"/>
          <a:stretch/>
        </p:blipFill>
        <p:spPr>
          <a:xfrm>
            <a:off x="5916600" y="2432880"/>
            <a:ext cx="574560" cy="57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9" name="Text 14"/>
          <p:cNvSpPr/>
          <p:nvPr/>
        </p:nvSpPr>
        <p:spPr>
          <a:xfrm>
            <a:off x="5294520" y="3291840"/>
            <a:ext cx="1809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50" strike="noStrike" u="none">
                <a:solidFill>
                  <a:srgbClr val="d4a017"/>
                </a:solidFill>
                <a:uFillTx/>
                <a:latin typeface="Calibri"/>
                <a:ea typeface="Calibri"/>
              </a:rPr>
              <a:t>DATABASE</a:t>
            </a:r>
            <a:endParaRPr b="0" lang="en-US" sz="11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20" name="Text 15"/>
          <p:cNvSpPr/>
          <p:nvPr/>
        </p:nvSpPr>
        <p:spPr>
          <a:xfrm>
            <a:off x="5294520" y="3703320"/>
            <a:ext cx="180972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PostgreSQL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Encrypted SQLite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21" name="Shape 16"/>
          <p:cNvSpPr/>
          <p:nvPr/>
        </p:nvSpPr>
        <p:spPr>
          <a:xfrm>
            <a:off x="7461360" y="1920240"/>
            <a:ext cx="2084040" cy="3565440"/>
          </a:xfrm>
          <a:prstGeom prst="roundRect">
            <a:avLst>
              <a:gd name="adj" fmla="val 6140"/>
            </a:avLst>
          </a:prstGeom>
          <a:solidFill>
            <a:srgbClr val="4a3222"/>
          </a:solidFill>
          <a:ln w="19050">
            <a:solidFill>
              <a:srgbClr val="7a8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22" name="Shape 17"/>
          <p:cNvSpPr/>
          <p:nvPr/>
        </p:nvSpPr>
        <p:spPr>
          <a:xfrm>
            <a:off x="8119800" y="2331720"/>
            <a:ext cx="776520" cy="776520"/>
          </a:xfrm>
          <a:prstGeom prst="roundRect">
            <a:avLst>
              <a:gd name="adj" fmla="val 28000"/>
            </a:avLst>
          </a:prstGeom>
          <a:solidFill>
            <a:srgbClr val="7a8b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23" name="Image 3" descr="../mekenet/icons/lock.png"/>
          <p:cNvPicPr/>
          <p:nvPr/>
        </p:nvPicPr>
        <p:blipFill>
          <a:blip r:embed="rId4"/>
          <a:stretch/>
        </p:blipFill>
        <p:spPr>
          <a:xfrm>
            <a:off x="8220960" y="2432880"/>
            <a:ext cx="574560" cy="57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4" name="Text 18"/>
          <p:cNvSpPr/>
          <p:nvPr/>
        </p:nvSpPr>
        <p:spPr>
          <a:xfrm>
            <a:off x="7598520" y="3291840"/>
            <a:ext cx="1809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50" strike="noStrike" u="none">
                <a:solidFill>
                  <a:srgbClr val="d4a017"/>
                </a:solidFill>
                <a:uFillTx/>
                <a:latin typeface="Calibri"/>
                <a:ea typeface="Calibri"/>
              </a:rPr>
              <a:t>AUTH &amp; STORAGE</a:t>
            </a:r>
            <a:endParaRPr b="0" lang="en-US" sz="11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25" name="Text 19"/>
          <p:cNvSpPr/>
          <p:nvPr/>
        </p:nvSpPr>
        <p:spPr>
          <a:xfrm>
            <a:off x="7598520" y="3703320"/>
            <a:ext cx="180972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Device PIN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sqflite_sqlcipher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26" name="Shape 20"/>
          <p:cNvSpPr/>
          <p:nvPr/>
        </p:nvSpPr>
        <p:spPr>
          <a:xfrm>
            <a:off x="9765720" y="1920240"/>
            <a:ext cx="2084040" cy="3565440"/>
          </a:xfrm>
          <a:prstGeom prst="roundRect">
            <a:avLst>
              <a:gd name="adj" fmla="val 6140"/>
            </a:avLst>
          </a:prstGeom>
          <a:solidFill>
            <a:srgbClr val="4a3222"/>
          </a:solidFill>
          <a:ln w="1905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27" name="Shape 21"/>
          <p:cNvSpPr/>
          <p:nvPr/>
        </p:nvSpPr>
        <p:spPr>
          <a:xfrm>
            <a:off x="10424160" y="2331720"/>
            <a:ext cx="776520" cy="776520"/>
          </a:xfrm>
          <a:prstGeom prst="roundRect">
            <a:avLst>
              <a:gd name="adj" fmla="val 28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28" name="Image 4" descr="../mekenet/icons/git.png"/>
          <p:cNvPicPr/>
          <p:nvPr/>
        </p:nvPicPr>
        <p:blipFill>
          <a:blip r:embed="rId5"/>
          <a:stretch/>
        </p:blipFill>
        <p:spPr>
          <a:xfrm>
            <a:off x="10525320" y="2432880"/>
            <a:ext cx="574560" cy="57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9" name="Text 22"/>
          <p:cNvSpPr/>
          <p:nvPr/>
        </p:nvSpPr>
        <p:spPr>
          <a:xfrm>
            <a:off x="9902880" y="3291840"/>
            <a:ext cx="1809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50" strike="noStrike" u="none">
                <a:solidFill>
                  <a:srgbClr val="d4a017"/>
                </a:solidFill>
                <a:uFillTx/>
                <a:latin typeface="Calibri"/>
                <a:ea typeface="Calibri"/>
              </a:rPr>
              <a:t>VERSION CONTROL</a:t>
            </a:r>
            <a:endParaRPr b="0" lang="en-US" sz="11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30" name="Text 23"/>
          <p:cNvSpPr/>
          <p:nvPr/>
        </p:nvSpPr>
        <p:spPr>
          <a:xfrm>
            <a:off x="9902880" y="3703320"/>
            <a:ext cx="180972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Git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GitHub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Text 0"/>
          <p:cNvSpPr/>
          <p:nvPr/>
        </p:nvSpPr>
        <p:spPr>
          <a:xfrm>
            <a:off x="548640" y="41148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300" strike="noStrike" u="none">
                <a:solidFill>
                  <a:srgbClr val="b85042"/>
                </a:solidFill>
                <a:uFillTx/>
                <a:latin typeface="Calibri"/>
                <a:ea typeface="Calibri"/>
              </a:rPr>
              <a:t>EXPERIENCE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2" name="Text 1"/>
          <p:cNvSpPr/>
          <p:nvPr/>
        </p:nvSpPr>
        <p:spPr>
          <a:xfrm>
            <a:off x="548640" y="713160"/>
            <a:ext cx="9600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a1f18"/>
                </a:solidFill>
                <a:uFillTx/>
                <a:latin typeface="Bookman Old Style"/>
                <a:ea typeface="Bookman Old Style"/>
              </a:rPr>
              <a:t>User Interface &amp; Unique Features</a:t>
            </a:r>
            <a:endParaRPr b="0" lang="en-US" sz="3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3" name="Shape 2"/>
          <p:cNvSpPr/>
          <p:nvPr/>
        </p:nvSpPr>
        <p:spPr>
          <a:xfrm>
            <a:off x="11430000" y="6236280"/>
            <a:ext cx="438120" cy="438120"/>
          </a:xfrm>
          <a:prstGeom prst="roundRect">
            <a:avLst>
              <a:gd name="adj" fmla="val 20833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4" name="Text 3"/>
          <p:cNvSpPr/>
          <p:nvPr/>
        </p:nvSpPr>
        <p:spPr>
          <a:xfrm>
            <a:off x="11430000" y="623628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a2418"/>
                </a:solidFill>
                <a:uFillTx/>
                <a:latin typeface="Calibri"/>
                <a:ea typeface="Calibri"/>
              </a:rPr>
              <a:t>16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5" name="Text 4"/>
          <p:cNvSpPr/>
          <p:nvPr/>
        </p:nvSpPr>
        <p:spPr>
          <a:xfrm>
            <a:off x="548640" y="178308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01" strike="noStrike" u="none">
                <a:solidFill>
                  <a:srgbClr val="b85042"/>
                </a:solidFill>
                <a:uFillTx/>
                <a:latin typeface="Calibri"/>
                <a:ea typeface="Calibri"/>
              </a:rPr>
              <a:t>INTERFACE PAGES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6" name="Shape 5"/>
          <p:cNvSpPr/>
          <p:nvPr/>
        </p:nvSpPr>
        <p:spPr>
          <a:xfrm>
            <a:off x="548640" y="2194560"/>
            <a:ext cx="5119920" cy="566280"/>
          </a:xfrm>
          <a:prstGeom prst="roundRect">
            <a:avLst>
              <a:gd name="adj" fmla="val 16129"/>
            </a:avLst>
          </a:prstGeom>
          <a:solidFill>
            <a:srgbClr val="fb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7" name="Shape 6"/>
          <p:cNvSpPr/>
          <p:nvPr/>
        </p:nvSpPr>
        <p:spPr>
          <a:xfrm>
            <a:off x="777240" y="2386440"/>
            <a:ext cx="182160" cy="182160"/>
          </a:xfrm>
          <a:prstGeom prst="roundRect">
            <a:avLst>
              <a:gd name="adj" fmla="val 25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38" name="Text 7"/>
          <p:cNvSpPr/>
          <p:nvPr/>
        </p:nvSpPr>
        <p:spPr>
          <a:xfrm>
            <a:off x="1143000" y="2194560"/>
            <a:ext cx="43884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Trust-First Onboarding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9" name="Shape 8"/>
          <p:cNvSpPr/>
          <p:nvPr/>
        </p:nvSpPr>
        <p:spPr>
          <a:xfrm>
            <a:off x="548640" y="2880360"/>
            <a:ext cx="5119920" cy="566280"/>
          </a:xfrm>
          <a:prstGeom prst="roundRect">
            <a:avLst>
              <a:gd name="adj" fmla="val 16129"/>
            </a:avLst>
          </a:prstGeom>
          <a:solidFill>
            <a:srgbClr val="fb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0" name="Shape 9"/>
          <p:cNvSpPr/>
          <p:nvPr/>
        </p:nvSpPr>
        <p:spPr>
          <a:xfrm>
            <a:off x="777240" y="3072240"/>
            <a:ext cx="182160" cy="182160"/>
          </a:xfrm>
          <a:prstGeom prst="roundRect">
            <a:avLst>
              <a:gd name="adj" fmla="val 25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41" name="Text 10"/>
          <p:cNvSpPr/>
          <p:nvPr/>
        </p:nvSpPr>
        <p:spPr>
          <a:xfrm>
            <a:off x="1143000" y="2880360"/>
            <a:ext cx="43884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Home / Profit View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2" name="Shape 11"/>
          <p:cNvSpPr/>
          <p:nvPr/>
        </p:nvSpPr>
        <p:spPr>
          <a:xfrm>
            <a:off x="548640" y="3566160"/>
            <a:ext cx="5119920" cy="566280"/>
          </a:xfrm>
          <a:prstGeom prst="roundRect">
            <a:avLst>
              <a:gd name="adj" fmla="val 16129"/>
            </a:avLst>
          </a:prstGeom>
          <a:solidFill>
            <a:srgbClr val="fb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3" name="Shape 12"/>
          <p:cNvSpPr/>
          <p:nvPr/>
        </p:nvSpPr>
        <p:spPr>
          <a:xfrm>
            <a:off x="777240" y="3758040"/>
            <a:ext cx="182160" cy="182160"/>
          </a:xfrm>
          <a:prstGeom prst="roundRect">
            <a:avLst>
              <a:gd name="adj" fmla="val 25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44" name="Text 13"/>
          <p:cNvSpPr/>
          <p:nvPr/>
        </p:nvSpPr>
        <p:spPr>
          <a:xfrm>
            <a:off x="1143000" y="3566160"/>
            <a:ext cx="43884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Quick-Tap Picker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5" name="Shape 14"/>
          <p:cNvSpPr/>
          <p:nvPr/>
        </p:nvSpPr>
        <p:spPr>
          <a:xfrm>
            <a:off x="548640" y="4251960"/>
            <a:ext cx="5119920" cy="566280"/>
          </a:xfrm>
          <a:prstGeom prst="roundRect">
            <a:avLst>
              <a:gd name="adj" fmla="val 16129"/>
            </a:avLst>
          </a:prstGeom>
          <a:solidFill>
            <a:srgbClr val="fb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6" name="Shape 15"/>
          <p:cNvSpPr/>
          <p:nvPr/>
        </p:nvSpPr>
        <p:spPr>
          <a:xfrm>
            <a:off x="777240" y="4443840"/>
            <a:ext cx="182160" cy="182160"/>
          </a:xfrm>
          <a:prstGeom prst="roundRect">
            <a:avLst>
              <a:gd name="adj" fmla="val 25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47" name="Text 16"/>
          <p:cNvSpPr/>
          <p:nvPr/>
        </p:nvSpPr>
        <p:spPr>
          <a:xfrm>
            <a:off x="1143000" y="4251960"/>
            <a:ext cx="43884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Who-Owes-Me (Debts)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8" name="Shape 17"/>
          <p:cNvSpPr/>
          <p:nvPr/>
        </p:nvSpPr>
        <p:spPr>
          <a:xfrm>
            <a:off x="548640" y="4937760"/>
            <a:ext cx="5119920" cy="566280"/>
          </a:xfrm>
          <a:prstGeom prst="roundRect">
            <a:avLst>
              <a:gd name="adj" fmla="val 16129"/>
            </a:avLst>
          </a:prstGeom>
          <a:solidFill>
            <a:srgbClr val="fb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9" name="Shape 18"/>
          <p:cNvSpPr/>
          <p:nvPr/>
        </p:nvSpPr>
        <p:spPr>
          <a:xfrm>
            <a:off x="777240" y="5129640"/>
            <a:ext cx="182160" cy="182160"/>
          </a:xfrm>
          <a:prstGeom prst="roundRect">
            <a:avLst>
              <a:gd name="adj" fmla="val 25000"/>
            </a:avLst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50" name="Text 19"/>
          <p:cNvSpPr/>
          <p:nvPr/>
        </p:nvSpPr>
        <p:spPr>
          <a:xfrm>
            <a:off x="1143000" y="4937760"/>
            <a:ext cx="43884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Export &amp; Report Screen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1" name="Shape 20"/>
          <p:cNvSpPr/>
          <p:nvPr/>
        </p:nvSpPr>
        <p:spPr>
          <a:xfrm>
            <a:off x="6172200" y="1783080"/>
            <a:ext cx="17640" cy="4205520"/>
          </a:xfrm>
          <a:prstGeom prst="rect">
            <a:avLst/>
          </a:prstGeom>
          <a:solidFill>
            <a:srgbClr val="f3e6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2" name="Text 21"/>
          <p:cNvSpPr/>
          <p:nvPr/>
        </p:nvSpPr>
        <p:spPr>
          <a:xfrm>
            <a:off x="6446520" y="178308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01" strike="noStrike" u="none">
                <a:solidFill>
                  <a:srgbClr val="b85042"/>
                </a:solidFill>
                <a:uFillTx/>
                <a:latin typeface="Calibri"/>
                <a:ea typeface="Calibri"/>
              </a:rPr>
              <a:t>UNIQUE FEATURES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3" name="Shape 22"/>
          <p:cNvSpPr/>
          <p:nvPr/>
        </p:nvSpPr>
        <p:spPr>
          <a:xfrm>
            <a:off x="6675120" y="2194560"/>
            <a:ext cx="502200" cy="502200"/>
          </a:xfrm>
          <a:prstGeom prst="roundRect">
            <a:avLst>
              <a:gd name="adj" fmla="val 28000"/>
            </a:avLst>
          </a:prstGeom>
          <a:solidFill>
            <a:srgbClr val="7a8b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54" name="Image 0" descr="../mekenet/icons/insights.png"/>
          <p:cNvPicPr/>
          <p:nvPr/>
        </p:nvPicPr>
        <p:blipFill>
          <a:blip r:embed="rId1"/>
          <a:stretch/>
        </p:blipFill>
        <p:spPr>
          <a:xfrm>
            <a:off x="6740640" y="2260080"/>
            <a:ext cx="371520" cy="37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5" name="Text 23"/>
          <p:cNvSpPr/>
          <p:nvPr/>
        </p:nvSpPr>
        <p:spPr>
          <a:xfrm>
            <a:off x="7269480" y="2194560"/>
            <a:ext cx="43426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Nothing to type, ever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6" name="Shape 24"/>
          <p:cNvSpPr/>
          <p:nvPr/>
        </p:nvSpPr>
        <p:spPr>
          <a:xfrm>
            <a:off x="6675120" y="2880360"/>
            <a:ext cx="502200" cy="502200"/>
          </a:xfrm>
          <a:prstGeom prst="roundRect">
            <a:avLst>
              <a:gd name="adj" fmla="val 28000"/>
            </a:avLst>
          </a:prstGeom>
          <a:solidFill>
            <a:srgbClr val="7a8b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57" name="Image 1" descr="../mekenet/icons/insights.png"/>
          <p:cNvPicPr/>
          <p:nvPr/>
        </p:nvPicPr>
        <p:blipFill>
          <a:blip r:embed="rId2"/>
          <a:stretch/>
        </p:blipFill>
        <p:spPr>
          <a:xfrm>
            <a:off x="6740640" y="2945880"/>
            <a:ext cx="371520" cy="37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8" name="Text 25"/>
          <p:cNvSpPr/>
          <p:nvPr/>
        </p:nvSpPr>
        <p:spPr>
          <a:xfrm>
            <a:off x="7269480" y="2880360"/>
            <a:ext cx="43426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Manual debts, kept honest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9" name="Shape 26"/>
          <p:cNvSpPr/>
          <p:nvPr/>
        </p:nvSpPr>
        <p:spPr>
          <a:xfrm>
            <a:off x="6675120" y="3566160"/>
            <a:ext cx="502200" cy="502200"/>
          </a:xfrm>
          <a:prstGeom prst="roundRect">
            <a:avLst>
              <a:gd name="adj" fmla="val 28000"/>
            </a:avLst>
          </a:prstGeom>
          <a:solidFill>
            <a:srgbClr val="7a8b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60" name="Image 2" descr="../mekenet/icons/insights.png"/>
          <p:cNvPicPr/>
          <p:nvPr/>
        </p:nvPicPr>
        <p:blipFill>
          <a:blip r:embed="rId3"/>
          <a:stretch/>
        </p:blipFill>
        <p:spPr>
          <a:xfrm>
            <a:off x="6740640" y="3631680"/>
            <a:ext cx="371520" cy="37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1" name="Text 27"/>
          <p:cNvSpPr/>
          <p:nvPr/>
        </p:nvSpPr>
        <p:spPr>
          <a:xfrm>
            <a:off x="7269480" y="3566160"/>
            <a:ext cx="43426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You choose what to share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2" name="Shape 28"/>
          <p:cNvSpPr/>
          <p:nvPr/>
        </p:nvSpPr>
        <p:spPr>
          <a:xfrm>
            <a:off x="6675120" y="4251960"/>
            <a:ext cx="502200" cy="502200"/>
          </a:xfrm>
          <a:prstGeom prst="roundRect">
            <a:avLst>
              <a:gd name="adj" fmla="val 28000"/>
            </a:avLst>
          </a:prstGeom>
          <a:solidFill>
            <a:srgbClr val="7a8b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63" name="Image 3" descr="../mekenet/icons/insights.png"/>
          <p:cNvPicPr/>
          <p:nvPr/>
        </p:nvPicPr>
        <p:blipFill>
          <a:blip r:embed="rId4"/>
          <a:stretch/>
        </p:blipFill>
        <p:spPr>
          <a:xfrm>
            <a:off x="6740640" y="4317480"/>
            <a:ext cx="371520" cy="37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4" name="Text 29"/>
          <p:cNvSpPr/>
          <p:nvPr/>
        </p:nvSpPr>
        <p:spPr>
          <a:xfrm>
            <a:off x="7269480" y="4251960"/>
            <a:ext cx="43426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Insights, not statements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5" name="Shape 30"/>
          <p:cNvSpPr/>
          <p:nvPr/>
        </p:nvSpPr>
        <p:spPr>
          <a:xfrm>
            <a:off x="6675120" y="4937760"/>
            <a:ext cx="502200" cy="502200"/>
          </a:xfrm>
          <a:prstGeom prst="roundRect">
            <a:avLst>
              <a:gd name="adj" fmla="val 28000"/>
            </a:avLst>
          </a:prstGeom>
          <a:solidFill>
            <a:srgbClr val="7a8b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66" name="Image 4" descr="../mekenet/icons/insights.png"/>
          <p:cNvPicPr/>
          <p:nvPr/>
        </p:nvPicPr>
        <p:blipFill>
          <a:blip r:embed="rId5"/>
          <a:stretch/>
        </p:blipFill>
        <p:spPr>
          <a:xfrm>
            <a:off x="6740640" y="5003280"/>
            <a:ext cx="371520" cy="37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7" name="Text 31"/>
          <p:cNvSpPr/>
          <p:nvPr/>
        </p:nvSpPr>
        <p:spPr>
          <a:xfrm>
            <a:off x="7269480" y="4937760"/>
            <a:ext cx="43426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2a1f18"/>
                </a:solidFill>
                <a:uFillTx/>
                <a:latin typeface="Calibri"/>
                <a:ea typeface="Calibri"/>
              </a:rPr>
              <a:t>Built for offline life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a2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Shape 0"/>
          <p:cNvSpPr/>
          <p:nvPr/>
        </p:nvSpPr>
        <p:spPr>
          <a:xfrm>
            <a:off x="-1188720" y="-1463040"/>
            <a:ext cx="3839760" cy="3839760"/>
          </a:xfrm>
          <a:prstGeom prst="roundRect">
            <a:avLst>
              <a:gd name="adj" fmla="val 28000"/>
            </a:avLst>
          </a:prstGeom>
          <a:solidFill>
            <a:srgbClr val="b85042">
              <a:alpha val="3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69" name="Shape 1"/>
          <p:cNvSpPr/>
          <p:nvPr/>
        </p:nvSpPr>
        <p:spPr>
          <a:xfrm>
            <a:off x="10241280" y="4754880"/>
            <a:ext cx="2925360" cy="2925360"/>
          </a:xfrm>
          <a:prstGeom prst="roundRect">
            <a:avLst>
              <a:gd name="adj" fmla="val 28000"/>
            </a:avLst>
          </a:prstGeom>
          <a:solidFill>
            <a:srgbClr val="7a8b6f">
              <a:alpha val="3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70" name="Text 2"/>
          <p:cNvSpPr/>
          <p:nvPr/>
        </p:nvSpPr>
        <p:spPr>
          <a:xfrm>
            <a:off x="0" y="502920"/>
            <a:ext cx="12188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499" strike="noStrike" u="none">
                <a:solidFill>
                  <a:srgbClr val="d4a017"/>
                </a:solidFill>
                <a:uFillTx/>
                <a:latin typeface="Calibri"/>
                <a:ea typeface="Calibri"/>
              </a:rPr>
              <a:t>MEET OUR</a:t>
            </a: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71" name="Text 3"/>
          <p:cNvSpPr/>
          <p:nvPr/>
        </p:nvSpPr>
        <p:spPr>
          <a:xfrm>
            <a:off x="0" y="822960"/>
            <a:ext cx="121881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fffff"/>
                </a:solidFill>
                <a:uFillTx/>
                <a:latin typeface="Bookman Old Style"/>
                <a:ea typeface="Bookman Old Style"/>
              </a:rPr>
              <a:t>team members</a:t>
            </a:r>
            <a:endParaRPr b="0" lang="en-US" sz="3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72" name="Shape 4"/>
          <p:cNvSpPr/>
          <p:nvPr/>
        </p:nvSpPr>
        <p:spPr>
          <a:xfrm>
            <a:off x="900720" y="1943280"/>
            <a:ext cx="1508040" cy="1508040"/>
          </a:xfrm>
          <a:prstGeom prst="ellipse">
            <a:avLst/>
          </a:prstGeom>
          <a:noFill/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73" name="Photo 7"/>
          <p:cNvSpPr/>
          <p:nvPr/>
        </p:nvSpPr>
        <p:spPr>
          <a:xfrm>
            <a:off x="946440" y="1989000"/>
            <a:ext cx="1416600" cy="141660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4" name="Text 7"/>
          <p:cNvSpPr/>
          <p:nvPr/>
        </p:nvSpPr>
        <p:spPr>
          <a:xfrm>
            <a:off x="594360" y="3589200"/>
            <a:ext cx="212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LEWI KIBRU</a:t>
            </a:r>
            <a:endParaRPr b="0" lang="en-US" sz="13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75" name="Text 8"/>
          <p:cNvSpPr/>
          <p:nvPr/>
        </p:nvSpPr>
        <p:spPr>
          <a:xfrm>
            <a:off x="594360" y="4119480"/>
            <a:ext cx="2120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d98884"/>
                </a:solidFill>
                <a:uFillTx/>
                <a:latin typeface="Calibri"/>
                <a:ea typeface="Calibri"/>
              </a:rPr>
              <a:t>CTC-6064-26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76" name="Text 9"/>
          <p:cNvSpPr/>
          <p:nvPr/>
        </p:nvSpPr>
        <p:spPr>
          <a:xfrm>
            <a:off x="640080" y="4457880"/>
            <a:ext cx="20293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Lead · Backend &amp; Database</a:t>
            </a:r>
            <a:endParaRPr b="0" lang="en-US" sz="11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77" name="Shape 10"/>
          <p:cNvSpPr/>
          <p:nvPr/>
        </p:nvSpPr>
        <p:spPr>
          <a:xfrm>
            <a:off x="3113640" y="1943280"/>
            <a:ext cx="1508040" cy="1508040"/>
          </a:xfrm>
          <a:prstGeom prst="ellipse">
            <a:avLst/>
          </a:prstGeom>
          <a:noFill/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78" name="Photo 13"/>
          <p:cNvSpPr/>
          <p:nvPr/>
        </p:nvSpPr>
        <p:spPr>
          <a:xfrm>
            <a:off x="3159360" y="1989000"/>
            <a:ext cx="1416600" cy="141660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9" name="Text 13"/>
          <p:cNvSpPr/>
          <p:nvPr/>
        </p:nvSpPr>
        <p:spPr>
          <a:xfrm>
            <a:off x="2807280" y="3589200"/>
            <a:ext cx="212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LOMBAMME LEMMA</a:t>
            </a:r>
            <a:endParaRPr b="0" lang="en-US" sz="13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80" name="Text 14"/>
          <p:cNvSpPr/>
          <p:nvPr/>
        </p:nvSpPr>
        <p:spPr>
          <a:xfrm>
            <a:off x="2807280" y="4119480"/>
            <a:ext cx="2120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d98884"/>
                </a:solidFill>
                <a:uFillTx/>
                <a:latin typeface="Calibri"/>
                <a:ea typeface="Calibri"/>
              </a:rPr>
              <a:t>CTC-888-26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81" name="Text 15"/>
          <p:cNvSpPr/>
          <p:nvPr/>
        </p:nvSpPr>
        <p:spPr>
          <a:xfrm>
            <a:off x="2853000" y="4457880"/>
            <a:ext cx="20293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Backend &amp; Data Services</a:t>
            </a:r>
            <a:endParaRPr b="0" lang="en-US" sz="11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82" name="Shape 16"/>
          <p:cNvSpPr/>
          <p:nvPr/>
        </p:nvSpPr>
        <p:spPr>
          <a:xfrm>
            <a:off x="5326560" y="1943280"/>
            <a:ext cx="1508040" cy="1508040"/>
          </a:xfrm>
          <a:prstGeom prst="ellipse">
            <a:avLst/>
          </a:prstGeom>
          <a:noFill/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83" name="Photo 19"/>
          <p:cNvSpPr/>
          <p:nvPr/>
        </p:nvSpPr>
        <p:spPr>
          <a:xfrm>
            <a:off x="5372280" y="1989000"/>
            <a:ext cx="1416600" cy="1416600"/>
          </a:xfrm>
          <a:prstGeom prst="ellipse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4" name="Text 19"/>
          <p:cNvSpPr/>
          <p:nvPr/>
        </p:nvSpPr>
        <p:spPr>
          <a:xfrm>
            <a:off x="5020200" y="3589200"/>
            <a:ext cx="212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HELEN TESFAYE</a:t>
            </a:r>
            <a:endParaRPr b="0" lang="en-US" sz="13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85" name="Text 20"/>
          <p:cNvSpPr/>
          <p:nvPr/>
        </p:nvSpPr>
        <p:spPr>
          <a:xfrm>
            <a:off x="5020200" y="4119480"/>
            <a:ext cx="2120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d98884"/>
                </a:solidFill>
                <a:uFillTx/>
                <a:latin typeface="Calibri"/>
                <a:ea typeface="Calibri"/>
              </a:rPr>
              <a:t>CTC-1586-26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86" name="Text 21"/>
          <p:cNvSpPr/>
          <p:nvPr/>
        </p:nvSpPr>
        <p:spPr>
          <a:xfrm>
            <a:off x="5065920" y="4457880"/>
            <a:ext cx="20293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SMS Integration &amp; Storage</a:t>
            </a:r>
            <a:endParaRPr b="0" lang="en-US" sz="11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87" name="Shape 22"/>
          <p:cNvSpPr/>
          <p:nvPr/>
        </p:nvSpPr>
        <p:spPr>
          <a:xfrm>
            <a:off x="7539120" y="1943280"/>
            <a:ext cx="1508040" cy="1508040"/>
          </a:xfrm>
          <a:prstGeom prst="ellipse">
            <a:avLst/>
          </a:prstGeom>
          <a:noFill/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88" name="Photo 25"/>
          <p:cNvSpPr/>
          <p:nvPr/>
        </p:nvSpPr>
        <p:spPr>
          <a:xfrm>
            <a:off x="7584840" y="1989000"/>
            <a:ext cx="1416600" cy="1416600"/>
          </a:xfrm>
          <a:prstGeom prst="ellipse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9" name="Text 25"/>
          <p:cNvSpPr/>
          <p:nvPr/>
        </p:nvSpPr>
        <p:spPr>
          <a:xfrm>
            <a:off x="7232760" y="3589200"/>
            <a:ext cx="212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KENAWAK BERHANU</a:t>
            </a:r>
            <a:endParaRPr b="0" lang="en-US" sz="13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90" name="Text 26"/>
          <p:cNvSpPr/>
          <p:nvPr/>
        </p:nvSpPr>
        <p:spPr>
          <a:xfrm>
            <a:off x="7232760" y="4119480"/>
            <a:ext cx="2120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d98884"/>
                </a:solidFill>
                <a:uFillTx/>
                <a:latin typeface="Calibri"/>
                <a:ea typeface="Calibri"/>
              </a:rPr>
              <a:t>CTC-6591-26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91" name="Text 27"/>
          <p:cNvSpPr/>
          <p:nvPr/>
        </p:nvSpPr>
        <p:spPr>
          <a:xfrm>
            <a:off x="7278480" y="4457880"/>
            <a:ext cx="20293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Transaction Parsing &amp; Matching</a:t>
            </a:r>
            <a:endParaRPr b="0" lang="en-US" sz="11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92" name="Shape 28"/>
          <p:cNvSpPr/>
          <p:nvPr/>
        </p:nvSpPr>
        <p:spPr>
          <a:xfrm>
            <a:off x="9752040" y="1943280"/>
            <a:ext cx="1508040" cy="1508040"/>
          </a:xfrm>
          <a:prstGeom prst="ellipse">
            <a:avLst/>
          </a:prstGeom>
          <a:noFill/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93" name="Photo 31"/>
          <p:cNvSpPr/>
          <p:nvPr/>
        </p:nvSpPr>
        <p:spPr>
          <a:xfrm>
            <a:off x="9797760" y="1989000"/>
            <a:ext cx="1416600" cy="1416600"/>
          </a:xfrm>
          <a:prstGeom prst="ellipse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4" name="Text 31"/>
          <p:cNvSpPr/>
          <p:nvPr/>
        </p:nvSpPr>
        <p:spPr>
          <a:xfrm>
            <a:off x="9445680" y="3589200"/>
            <a:ext cx="212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MEKDES TESFAYE</a:t>
            </a:r>
            <a:endParaRPr b="0" lang="en-US" sz="13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95" name="Text 32"/>
          <p:cNvSpPr/>
          <p:nvPr/>
        </p:nvSpPr>
        <p:spPr>
          <a:xfrm>
            <a:off x="9445680" y="4119480"/>
            <a:ext cx="2120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d98884"/>
                </a:solidFill>
                <a:uFillTx/>
                <a:latin typeface="Calibri"/>
                <a:ea typeface="Calibri"/>
              </a:rPr>
              <a:t>CTC-1711-26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96" name="Text 33"/>
          <p:cNvSpPr/>
          <p:nvPr/>
        </p:nvSpPr>
        <p:spPr>
          <a:xfrm>
            <a:off x="9491400" y="4457880"/>
            <a:ext cx="20293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Frontend UI/UX</a:t>
            </a:r>
            <a:endParaRPr b="0" lang="en-US" sz="11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97" name="Shape 34"/>
          <p:cNvSpPr/>
          <p:nvPr/>
        </p:nvSpPr>
        <p:spPr>
          <a:xfrm>
            <a:off x="11430000" y="6236280"/>
            <a:ext cx="438120" cy="438120"/>
          </a:xfrm>
          <a:prstGeom prst="roundRect">
            <a:avLst>
              <a:gd name="adj" fmla="val 20833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8" name="Text 35"/>
          <p:cNvSpPr/>
          <p:nvPr/>
        </p:nvSpPr>
        <p:spPr>
          <a:xfrm>
            <a:off x="11430000" y="623628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a2418"/>
                </a:solidFill>
                <a:uFillTx/>
                <a:latin typeface="Calibri"/>
                <a:ea typeface="Calibri"/>
              </a:rPr>
              <a:t>17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a2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Shape 0"/>
          <p:cNvSpPr/>
          <p:nvPr/>
        </p:nvSpPr>
        <p:spPr>
          <a:xfrm>
            <a:off x="-1463040" y="-1737360"/>
            <a:ext cx="4479840" cy="4479840"/>
          </a:xfrm>
          <a:prstGeom prst="roundRect">
            <a:avLst>
              <a:gd name="adj" fmla="val 28000"/>
            </a:avLst>
          </a:prstGeom>
          <a:solidFill>
            <a:srgbClr val="b85042">
              <a:alpha val="4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00" name="Shape 1"/>
          <p:cNvSpPr/>
          <p:nvPr/>
        </p:nvSpPr>
        <p:spPr>
          <a:xfrm>
            <a:off x="9692640" y="4206240"/>
            <a:ext cx="3474000" cy="3474000"/>
          </a:xfrm>
          <a:prstGeom prst="roundRect">
            <a:avLst>
              <a:gd name="adj" fmla="val 28000"/>
            </a:avLst>
          </a:prstGeom>
          <a:solidFill>
            <a:srgbClr val="d4a017">
              <a:alpha val="4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1" name="Shape 2"/>
          <p:cNvSpPr/>
          <p:nvPr/>
        </p:nvSpPr>
        <p:spPr>
          <a:xfrm>
            <a:off x="868680" y="1051560"/>
            <a:ext cx="1005120" cy="1005120"/>
          </a:xfrm>
          <a:prstGeom prst="roundRect">
            <a:avLst>
              <a:gd name="adj" fmla="val 28000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02" name="Image 0" descr="../mekenet/icons/trust.png"/>
          <p:cNvPicPr/>
          <p:nvPr/>
        </p:nvPicPr>
        <p:blipFill>
          <a:blip r:embed="rId1"/>
          <a:stretch/>
        </p:blipFill>
        <p:spPr>
          <a:xfrm>
            <a:off x="999360" y="1182240"/>
            <a:ext cx="743760" cy="74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3" name="Text 3"/>
          <p:cNvSpPr/>
          <p:nvPr/>
        </p:nvSpPr>
        <p:spPr>
          <a:xfrm>
            <a:off x="2148840" y="105156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300" strike="noStrike" u="none">
                <a:solidFill>
                  <a:srgbClr val="d4a017"/>
                </a:solidFill>
                <a:uFillTx/>
                <a:latin typeface="Calibri"/>
                <a:ea typeface="Calibri"/>
              </a:rPr>
              <a:t>CONCLUSION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04" name="Text 4"/>
          <p:cNvSpPr/>
          <p:nvPr/>
        </p:nvSpPr>
        <p:spPr>
          <a:xfrm>
            <a:off x="2148840" y="1371600"/>
            <a:ext cx="86860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uFillTx/>
                <a:latin typeface="Bookman Old Style"/>
                <a:ea typeface="Bookman Old Style"/>
              </a:rPr>
              <a:t>Money records shop owners can trust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05" name="Text 5"/>
          <p:cNvSpPr/>
          <p:nvPr/>
        </p:nvSpPr>
        <p:spPr>
          <a:xfrm>
            <a:off x="548640" y="2880360"/>
            <a:ext cx="10972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599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A daily money record shop owners can trust — automatic, offline-first, and always in their control.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06" name="Text 6"/>
          <p:cNvSpPr/>
          <p:nvPr/>
        </p:nvSpPr>
        <p:spPr>
          <a:xfrm>
            <a:off x="548640" y="374904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c9ae93"/>
                </a:solidFill>
                <a:uFillTx/>
                <a:latin typeface="Calibri"/>
                <a:ea typeface="Calibri"/>
              </a:rPr>
              <a:t>Clean bookkeeping today. A bank-ready report tomorrow.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07" name="Shape 7"/>
          <p:cNvSpPr/>
          <p:nvPr/>
        </p:nvSpPr>
        <p:spPr>
          <a:xfrm>
            <a:off x="548640" y="5166360"/>
            <a:ext cx="11063520" cy="1005120"/>
          </a:xfrm>
          <a:prstGeom prst="roundRect">
            <a:avLst>
              <a:gd name="adj" fmla="val 10909"/>
            </a:avLst>
          </a:prstGeom>
          <a:solidFill>
            <a:srgbClr val="4a32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08" name="Text 8"/>
          <p:cNvSpPr/>
          <p:nvPr/>
        </p:nvSpPr>
        <p:spPr>
          <a:xfrm>
            <a:off x="914400" y="5166360"/>
            <a:ext cx="103320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Practical and buildable in eight days — trust-first mobile development.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a2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hape 0"/>
          <p:cNvSpPr/>
          <p:nvPr/>
        </p:nvSpPr>
        <p:spPr>
          <a:xfrm>
            <a:off x="-1463040" y="-1737360"/>
            <a:ext cx="4479840" cy="4479840"/>
          </a:xfrm>
          <a:prstGeom prst="roundRect">
            <a:avLst>
              <a:gd name="adj" fmla="val 28000"/>
            </a:avLst>
          </a:prstGeom>
          <a:solidFill>
            <a:srgbClr val="b85042">
              <a:alpha val="4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01" name="Shape 1"/>
          <p:cNvSpPr/>
          <p:nvPr/>
        </p:nvSpPr>
        <p:spPr>
          <a:xfrm>
            <a:off x="9692640" y="4206240"/>
            <a:ext cx="3474000" cy="3474000"/>
          </a:xfrm>
          <a:prstGeom prst="roundRect">
            <a:avLst>
              <a:gd name="adj" fmla="val 28000"/>
            </a:avLst>
          </a:prstGeom>
          <a:solidFill>
            <a:srgbClr val="d4a017">
              <a:alpha val="4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2" name="Shape 2"/>
          <p:cNvSpPr/>
          <p:nvPr/>
        </p:nvSpPr>
        <p:spPr>
          <a:xfrm>
            <a:off x="5593440" y="990600"/>
            <a:ext cx="1005120" cy="1005120"/>
          </a:xfrm>
          <a:prstGeom prst="roundRect">
            <a:avLst>
              <a:gd name="adj" fmla="val 28000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03" name="Image 0" descr="../mekenet/icons/trust.png"/>
          <p:cNvPicPr/>
          <p:nvPr/>
        </p:nvPicPr>
        <p:blipFill>
          <a:blip r:embed="rId2"/>
          <a:stretch/>
        </p:blipFill>
        <p:spPr>
          <a:xfrm>
            <a:off x="5724120" y="1121280"/>
            <a:ext cx="743760" cy="74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4" name="Text 3"/>
          <p:cNvSpPr/>
          <p:nvPr/>
        </p:nvSpPr>
        <p:spPr>
          <a:xfrm>
            <a:off x="1096000" y="2160000"/>
            <a:ext cx="10000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00" spc="300" strike="noStrike" u="none">
                <a:solidFill>
                  <a:srgbClr val="d4a017"/>
                </a:solidFill>
                <a:uFillTx/>
                <a:latin typeface="Calibri"/>
                <a:ea typeface="Calibri"/>
              </a:rPr>
              <a:t>WITH GRATITUDE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05" name="Text 4"/>
          <p:cNvSpPr/>
          <p:nvPr/>
        </p:nvSpPr>
        <p:spPr>
          <a:xfrm>
            <a:off x="1096000" y="2520000"/>
            <a:ext cx="1000000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4400" strike="noStrike" u="none">
                <a:solidFill>
                  <a:srgbClr val="ffffff"/>
                </a:solidFill>
                <a:uFillTx/>
                <a:latin typeface="Bookman Old Style"/>
                <a:ea typeface="Bookman Old Style"/>
              </a:rPr>
              <a:t>Thank You</a:t>
            </a:r>
            <a:endParaRPr b="0" lang="en-US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06" name="Text 5"/>
          <p:cNvSpPr/>
          <p:nvPr/>
        </p:nvSpPr>
        <p:spPr>
          <a:xfrm>
            <a:off x="1096000" y="3564000"/>
            <a:ext cx="10000000" cy="5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2200"/>
              </a:lnSpc>
            </a:pPr>
            <a:r>
              <a:rPr b="0" lang="en-US" sz="1800" strike="noStrike" u="none">
                <a:solidFill>
                  <a:srgbClr val="ede0d4"/>
                </a:solidFill>
                <a:uFillTx/>
                <a:latin typeface="Calibri"/>
                <a:ea typeface="Calibri"/>
              </a:rPr>
              <a:t>For your time, attention, and trust in this project.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07" name="Shape 6"/>
          <p:cNvSpPr/>
          <p:nvPr/>
        </p:nvSpPr>
        <p:spPr>
          <a:xfrm>
            <a:off x="1596000" y="4536000"/>
            <a:ext cx="9000000" cy="900000"/>
          </a:xfrm>
          <a:prstGeom prst="roundRect">
            <a:avLst>
              <a:gd name="adj" fmla="val 10909"/>
            </a:avLst>
          </a:prstGeom>
          <a:solidFill>
            <a:srgbClr val="4a32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08" name="Text 7"/>
          <p:cNvSpPr/>
          <p:nvPr/>
        </p:nvSpPr>
        <p:spPr>
          <a:xfrm>
            <a:off x="1596000" y="4536000"/>
            <a:ext cx="900000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i="1" lang="en-US" sz="1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Mekenet — hold your money together.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09" name="Text 8"/>
          <p:cNvSpPr/>
          <p:nvPr/>
        </p:nvSpPr>
        <p:spPr>
          <a:xfrm>
            <a:off x="548640" y="6400800"/>
            <a:ext cx="11063520" cy="32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100" spc="200" strike="noStrike" u="none">
                <a:solidFill>
                  <a:srgbClr val="c9ae93"/>
                </a:solidFill>
                <a:uFillTx/>
                <a:latin typeface="Calibri"/>
                <a:ea typeface="Calibri"/>
              </a:rPr>
              <a:t>TEAM CTC-2026  ·  Lewi Kibru  |  Lombame Lemma  |  Helen Tesfaye  |  Mekdes Tesfaye  |  Kenawak Berhanu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EasyOffice/24.8.6.2.0$Windows_X86_64 LibreOffice_project/7a56c86fe16d3da20aace94597c088e77843a2f5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2026-08-22T18:18:58Z</dcterms:created>
  <dc:creator>PptxGenJS</dc:creator>
  <dc:description/>
  <dc:language>en-US</dc:language>
  <cp:lastModifiedBy/>
  <dcterms:modified xsi:type="dcterms:W3CDTF">2026-08-23T03:32:20Z</dcterms:modified>
  <cp:revision>16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